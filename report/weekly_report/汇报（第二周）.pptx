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70" r:id="rId2"/>
    <p:sldId id="371" r:id="rId3"/>
    <p:sldId id="369" r:id="rId4"/>
    <p:sldId id="399" r:id="rId5"/>
    <p:sldId id="391" r:id="rId6"/>
    <p:sldId id="396" r:id="rId7"/>
    <p:sldId id="398" r:id="rId8"/>
    <p:sldId id="387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6" userDrawn="1">
          <p15:clr>
            <a:srgbClr val="A4A3A4"/>
          </p15:clr>
        </p15:guide>
        <p15:guide id="2" pos="4181" userDrawn="1">
          <p15:clr>
            <a:srgbClr val="A4A3A4"/>
          </p15:clr>
        </p15:guide>
        <p15:guide id="3" orient="horz" pos="562" userDrawn="1">
          <p15:clr>
            <a:srgbClr val="A4A3A4"/>
          </p15:clr>
        </p15:guide>
        <p15:guide id="4" pos="14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7A42"/>
    <a:srgbClr val="5EB779"/>
    <a:srgbClr val="74A2C3"/>
    <a:srgbClr val="FFFFFF"/>
    <a:srgbClr val="595959"/>
    <a:srgbClr val="0F6FC6"/>
    <a:srgbClr val="C3DFAF"/>
    <a:srgbClr val="C3C3C3"/>
    <a:srgbClr val="C1C1C1"/>
    <a:srgbClr val="C1C3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5664" autoAdjust="0"/>
  </p:normalViewPr>
  <p:slideViewPr>
    <p:cSldViewPr snapToGrid="0" showGuides="1">
      <p:cViewPr varScale="1">
        <p:scale>
          <a:sx n="96" d="100"/>
          <a:sy n="96" d="100"/>
        </p:scale>
        <p:origin x="436" y="52"/>
      </p:cViewPr>
      <p:guideLst>
        <p:guide orient="horz" pos="1996"/>
        <p:guide pos="4181"/>
        <p:guide orient="horz" pos="562"/>
        <p:guide pos="14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47" name="直接连接符 46"/>
          <p:cNvCxnSpPr/>
          <p:nvPr userDrawn="1"/>
        </p:nvCxnSpPr>
        <p:spPr>
          <a:xfrm>
            <a:off x="2419350" y="628491"/>
            <a:ext cx="9481914" cy="0"/>
          </a:xfrm>
          <a:prstGeom prst="line">
            <a:avLst/>
          </a:prstGeom>
          <a:ln w="15875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 userDrawn="1"/>
        </p:nvSpPr>
        <p:spPr>
          <a:xfrm>
            <a:off x="0" y="0"/>
            <a:ext cx="163140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4" name="组合 83"/>
          <p:cNvGrpSpPr/>
          <p:nvPr userDrawn="1"/>
        </p:nvGrpSpPr>
        <p:grpSpPr>
          <a:xfrm>
            <a:off x="561435" y="5953785"/>
            <a:ext cx="508537" cy="351105"/>
            <a:chOff x="1494889" y="5953785"/>
            <a:chExt cx="508537" cy="351105"/>
          </a:xfrm>
          <a:solidFill>
            <a:schemeClr val="accent1"/>
          </a:solidFill>
        </p:grpSpPr>
        <p:sp>
          <p:nvSpPr>
            <p:cNvPr id="85" name="矩形: 圆角 84"/>
            <p:cNvSpPr/>
            <p:nvPr/>
          </p:nvSpPr>
          <p:spPr>
            <a:xfrm>
              <a:off x="1494889" y="6230601"/>
              <a:ext cx="508537" cy="7428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矩形: 圆角 85"/>
            <p:cNvSpPr/>
            <p:nvPr/>
          </p:nvSpPr>
          <p:spPr>
            <a:xfrm>
              <a:off x="1581555" y="6092193"/>
              <a:ext cx="335203" cy="7428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: 圆角 86"/>
            <p:cNvSpPr/>
            <p:nvPr/>
          </p:nvSpPr>
          <p:spPr>
            <a:xfrm>
              <a:off x="1659665" y="5953785"/>
              <a:ext cx="178984" cy="7428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C550A-ECD8-4A0F-9C2E-825EDB27FDD0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Layout" Target="../slideLayouts/slideLayout8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6.png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image" Target="../media/image5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image" Target="../media/image4.png"/><Relationship Id="rId5" Type="http://schemas.openxmlformats.org/officeDocument/2006/relationships/tags" Target="../tags/tag11.xml"/><Relationship Id="rId15" Type="http://schemas.openxmlformats.org/officeDocument/2006/relationships/image" Target="../media/image8.png"/><Relationship Id="rId10" Type="http://schemas.openxmlformats.org/officeDocument/2006/relationships/image" Target="../media/image3.png"/><Relationship Id="rId4" Type="http://schemas.openxmlformats.org/officeDocument/2006/relationships/tags" Target="../tags/tag10.xml"/><Relationship Id="rId9" Type="http://schemas.openxmlformats.org/officeDocument/2006/relationships/image" Target="../media/image2.png"/><Relationship Id="rId1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 84"/>
          <p:cNvSpPr/>
          <p:nvPr/>
        </p:nvSpPr>
        <p:spPr>
          <a:xfrm>
            <a:off x="228600" y="220132"/>
            <a:ext cx="11734800" cy="6417735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 160"/>
          <p:cNvSpPr/>
          <p:nvPr/>
        </p:nvSpPr>
        <p:spPr>
          <a:xfrm>
            <a:off x="0" y="2100283"/>
            <a:ext cx="12192000" cy="2766950"/>
          </a:xfrm>
          <a:prstGeom prst="rect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文本框 161"/>
          <p:cNvSpPr txBox="1"/>
          <p:nvPr/>
        </p:nvSpPr>
        <p:spPr>
          <a:xfrm>
            <a:off x="5087870" y="3862187"/>
            <a:ext cx="21355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spc="200" dirty="0">
                <a:solidFill>
                  <a:schemeClr val="bg1"/>
                </a:solidFill>
                <a:latin typeface="+mj-ea"/>
                <a:ea typeface="+mj-ea"/>
              </a:rPr>
              <a:t>第二周进展</a:t>
            </a:r>
          </a:p>
        </p:txBody>
      </p:sp>
      <p:sp>
        <p:nvSpPr>
          <p:cNvPr id="170" name="图形 103"/>
          <p:cNvSpPr/>
          <p:nvPr/>
        </p:nvSpPr>
        <p:spPr>
          <a:xfrm>
            <a:off x="5217941" y="5093828"/>
            <a:ext cx="187958" cy="220553"/>
          </a:xfrm>
          <a:custGeom>
            <a:avLst/>
            <a:gdLst>
              <a:gd name="connsiteX0" fmla="*/ 57047 w 187958"/>
              <a:gd name="connsiteY0" fmla="*/ 123640 h 220553"/>
              <a:gd name="connsiteX1" fmla="*/ 26647 w 187958"/>
              <a:gd name="connsiteY1" fmla="*/ 67332 h 220553"/>
              <a:gd name="connsiteX2" fmla="*/ 93979 w 187958"/>
              <a:gd name="connsiteY2" fmla="*/ 0 h 220553"/>
              <a:gd name="connsiteX3" fmla="*/ 161311 w 187958"/>
              <a:gd name="connsiteY3" fmla="*/ 67332 h 220553"/>
              <a:gd name="connsiteX4" fmla="*/ 130911 w 187958"/>
              <a:gd name="connsiteY4" fmla="*/ 123640 h 220553"/>
              <a:gd name="connsiteX5" fmla="*/ 187958 w 187958"/>
              <a:gd name="connsiteY5" fmla="*/ 210085 h 220553"/>
              <a:gd name="connsiteX6" fmla="*/ 177490 w 187958"/>
              <a:gd name="connsiteY6" fmla="*/ 220554 h 220553"/>
              <a:gd name="connsiteX7" fmla="*/ 167021 w 187958"/>
              <a:gd name="connsiteY7" fmla="*/ 210085 h 220553"/>
              <a:gd name="connsiteX8" fmla="*/ 93979 w 187958"/>
              <a:gd name="connsiteY8" fmla="*/ 137043 h 220553"/>
              <a:gd name="connsiteX9" fmla="*/ 20937 w 187958"/>
              <a:gd name="connsiteY9" fmla="*/ 210085 h 220553"/>
              <a:gd name="connsiteX10" fmla="*/ 10469 w 187958"/>
              <a:gd name="connsiteY10" fmla="*/ 220554 h 220553"/>
              <a:gd name="connsiteX11" fmla="*/ 0 w 187958"/>
              <a:gd name="connsiteY11" fmla="*/ 210085 h 220553"/>
              <a:gd name="connsiteX12" fmla="*/ 57047 w 187958"/>
              <a:gd name="connsiteY12" fmla="*/ 123640 h 220553"/>
              <a:gd name="connsiteX13" fmla="*/ 93979 w 187958"/>
              <a:gd name="connsiteY13" fmla="*/ 113727 h 220553"/>
              <a:gd name="connsiteX14" fmla="*/ 140374 w 187958"/>
              <a:gd name="connsiteY14" fmla="*/ 67332 h 220553"/>
              <a:gd name="connsiteX15" fmla="*/ 93979 w 187958"/>
              <a:gd name="connsiteY15" fmla="*/ 20937 h 220553"/>
              <a:gd name="connsiteX16" fmla="*/ 47584 w 187958"/>
              <a:gd name="connsiteY16" fmla="*/ 67332 h 220553"/>
              <a:gd name="connsiteX17" fmla="*/ 93979 w 187958"/>
              <a:gd name="connsiteY17" fmla="*/ 113727 h 220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7958" h="220553">
                <a:moveTo>
                  <a:pt x="57047" y="123640"/>
                </a:moveTo>
                <a:cubicBezTo>
                  <a:pt x="38737" y="111606"/>
                  <a:pt x="26647" y="90881"/>
                  <a:pt x="26647" y="67332"/>
                </a:cubicBezTo>
                <a:cubicBezTo>
                  <a:pt x="26647" y="30145"/>
                  <a:pt x="56793" y="0"/>
                  <a:pt x="93979" y="0"/>
                </a:cubicBezTo>
                <a:cubicBezTo>
                  <a:pt x="131166" y="0"/>
                  <a:pt x="161311" y="30145"/>
                  <a:pt x="161311" y="67332"/>
                </a:cubicBezTo>
                <a:cubicBezTo>
                  <a:pt x="161311" y="90881"/>
                  <a:pt x="149222" y="111606"/>
                  <a:pt x="130911" y="123640"/>
                </a:cubicBezTo>
                <a:cubicBezTo>
                  <a:pt x="164455" y="137990"/>
                  <a:pt x="187958" y="171293"/>
                  <a:pt x="187958" y="210085"/>
                </a:cubicBezTo>
                <a:cubicBezTo>
                  <a:pt x="187958" y="215867"/>
                  <a:pt x="183271" y="220554"/>
                  <a:pt x="177490" y="220554"/>
                </a:cubicBezTo>
                <a:cubicBezTo>
                  <a:pt x="171708" y="220554"/>
                  <a:pt x="167021" y="215867"/>
                  <a:pt x="167021" y="210085"/>
                </a:cubicBezTo>
                <a:cubicBezTo>
                  <a:pt x="167021" y="169745"/>
                  <a:pt x="134319" y="137043"/>
                  <a:pt x="93979" y="137043"/>
                </a:cubicBezTo>
                <a:cubicBezTo>
                  <a:pt x="53639" y="137043"/>
                  <a:pt x="20937" y="169745"/>
                  <a:pt x="20937" y="210085"/>
                </a:cubicBezTo>
                <a:cubicBezTo>
                  <a:pt x="20937" y="215867"/>
                  <a:pt x="16250" y="220554"/>
                  <a:pt x="10469" y="220554"/>
                </a:cubicBezTo>
                <a:cubicBezTo>
                  <a:pt x="4687" y="220554"/>
                  <a:pt x="0" y="215867"/>
                  <a:pt x="0" y="210085"/>
                </a:cubicBezTo>
                <a:cubicBezTo>
                  <a:pt x="0" y="171293"/>
                  <a:pt x="23504" y="137990"/>
                  <a:pt x="57047" y="123640"/>
                </a:cubicBezTo>
                <a:close/>
                <a:moveTo>
                  <a:pt x="93979" y="113727"/>
                </a:moveTo>
                <a:cubicBezTo>
                  <a:pt x="119602" y="113727"/>
                  <a:pt x="140374" y="92955"/>
                  <a:pt x="140374" y="67332"/>
                </a:cubicBezTo>
                <a:cubicBezTo>
                  <a:pt x="140374" y="41709"/>
                  <a:pt x="119602" y="20937"/>
                  <a:pt x="93979" y="20937"/>
                </a:cubicBezTo>
                <a:cubicBezTo>
                  <a:pt x="68356" y="20937"/>
                  <a:pt x="47584" y="41709"/>
                  <a:pt x="47584" y="67332"/>
                </a:cubicBezTo>
                <a:cubicBezTo>
                  <a:pt x="47584" y="92955"/>
                  <a:pt x="68356" y="113727"/>
                  <a:pt x="93979" y="113727"/>
                </a:cubicBezTo>
                <a:close/>
              </a:path>
            </a:pathLst>
          </a:custGeom>
          <a:solidFill>
            <a:schemeClr val="accent1"/>
          </a:solidFill>
          <a:ln w="23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1" name="文本框 170"/>
          <p:cNvSpPr txBox="1"/>
          <p:nvPr/>
        </p:nvSpPr>
        <p:spPr>
          <a:xfrm>
            <a:off x="5426685" y="5035571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汇报人：董泰伦</a:t>
            </a:r>
            <a:endParaRPr lang="en-US" altLang="zh-CN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4193" y="2730330"/>
            <a:ext cx="113236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800" b="1" spc="200" dirty="0">
                <a:solidFill>
                  <a:schemeClr val="bg1"/>
                </a:solidFill>
                <a:latin typeface="+mj-ea"/>
                <a:ea typeface="+mj-ea"/>
              </a:rPr>
              <a:t>低空无人机通感一体化波形与</a:t>
            </a:r>
            <a:r>
              <a:rPr lang="en-US" altLang="zh-CN" sz="4800" b="1" spc="200" dirty="0">
                <a:solidFill>
                  <a:schemeClr val="bg1"/>
                </a:solidFill>
                <a:latin typeface="+mj-ea"/>
                <a:ea typeface="+mj-ea"/>
              </a:rPr>
              <a:t>DOA</a:t>
            </a:r>
            <a:r>
              <a:rPr lang="zh-CN" altLang="en-US" sz="4800" b="1" spc="200" dirty="0">
                <a:solidFill>
                  <a:schemeClr val="bg1"/>
                </a:solidFill>
                <a:latin typeface="+mj-ea"/>
                <a:ea typeface="+mj-ea"/>
              </a:rPr>
              <a:t>估计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0" y="2127250"/>
            <a:ext cx="4775200" cy="2603500"/>
          </a:xfrm>
          <a:custGeom>
            <a:avLst/>
            <a:gdLst>
              <a:gd name="connsiteX0" fmla="*/ 0 w 4775200"/>
              <a:gd name="connsiteY0" fmla="*/ 0 h 2603500"/>
              <a:gd name="connsiteX1" fmla="*/ 3473450 w 4775200"/>
              <a:gd name="connsiteY1" fmla="*/ 0 h 2603500"/>
              <a:gd name="connsiteX2" fmla="*/ 4775200 w 4775200"/>
              <a:gd name="connsiteY2" fmla="*/ 1301750 h 2603500"/>
              <a:gd name="connsiteX3" fmla="*/ 3473450 w 4775200"/>
              <a:gd name="connsiteY3" fmla="*/ 2603500 h 2603500"/>
              <a:gd name="connsiteX4" fmla="*/ 0 w 4775200"/>
              <a:gd name="connsiteY4" fmla="*/ 2603500 h 260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5200" h="2603500">
                <a:moveTo>
                  <a:pt x="0" y="0"/>
                </a:moveTo>
                <a:lnTo>
                  <a:pt x="3473450" y="0"/>
                </a:lnTo>
                <a:cubicBezTo>
                  <a:pt x="4192387" y="0"/>
                  <a:pt x="4775200" y="582813"/>
                  <a:pt x="4775200" y="1301750"/>
                </a:cubicBezTo>
                <a:cubicBezTo>
                  <a:pt x="4775200" y="2020687"/>
                  <a:pt x="4192387" y="2603500"/>
                  <a:pt x="3473450" y="2603500"/>
                </a:cubicBezTo>
                <a:lnTo>
                  <a:pt x="0" y="26035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402336" y="2672804"/>
            <a:ext cx="190308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b="1" spc="100" dirty="0">
                <a:solidFill>
                  <a:schemeClr val="bg1"/>
                </a:solidFill>
                <a:latin typeface="+mj-ea"/>
                <a:ea typeface="+mj-ea"/>
              </a:rPr>
              <a:t>目录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415161" y="3668828"/>
            <a:ext cx="18774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b="1" spc="300" dirty="0">
                <a:solidFill>
                  <a:schemeClr val="bg1">
                    <a:alpha val="8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contents</a:t>
            </a:r>
            <a:endParaRPr lang="zh-CN" altLang="en-US" sz="2800" b="1" spc="300" dirty="0">
              <a:solidFill>
                <a:schemeClr val="bg1">
                  <a:alpha val="8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485137" y="1964779"/>
            <a:ext cx="9316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spc="200" dirty="0">
                <a:solidFill>
                  <a:schemeClr val="accent1"/>
                </a:solidFill>
                <a:latin typeface="+mj-ea"/>
                <a:ea typeface="+mj-ea"/>
              </a:rPr>
              <a:t>01</a:t>
            </a:r>
            <a:endParaRPr lang="zh-CN" altLang="en-US" sz="4400" b="1" spc="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7462057" y="1959065"/>
            <a:ext cx="2236510" cy="707886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latin typeface="+mj-ea"/>
                <a:ea typeface="+mj-ea"/>
              </a:rPr>
              <a:t>通感一体</a:t>
            </a: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485137" y="3044279"/>
            <a:ext cx="9316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spc="200" dirty="0">
                <a:solidFill>
                  <a:schemeClr val="accent1"/>
                </a:solidFill>
                <a:latin typeface="+mj-ea"/>
                <a:ea typeface="+mj-ea"/>
              </a:rPr>
              <a:t>02</a:t>
            </a:r>
            <a:endParaRPr lang="zh-CN" altLang="en-US" sz="4400" b="1" spc="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7462057" y="3038565"/>
            <a:ext cx="2749471" cy="707886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latin typeface="+mj-ea"/>
                <a:ea typeface="+mj-ea"/>
              </a:rPr>
              <a:t>多天线建模</a:t>
            </a: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6485137" y="4123779"/>
            <a:ext cx="9316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spc="200" dirty="0">
                <a:solidFill>
                  <a:schemeClr val="accent1"/>
                </a:solidFill>
                <a:latin typeface="+mj-ea"/>
                <a:ea typeface="+mj-ea"/>
              </a:rPr>
              <a:t>03</a:t>
            </a:r>
            <a:endParaRPr lang="zh-CN" altLang="en-US" sz="4400" b="1" spc="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7462057" y="4118065"/>
            <a:ext cx="1210588" cy="707886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latin typeface="+mj-ea"/>
                <a:ea typeface="+mj-ea"/>
              </a:rPr>
              <a:t>总结</a:t>
            </a:r>
          </a:p>
        </p:txBody>
      </p:sp>
      <p:grpSp>
        <p:nvGrpSpPr>
          <p:cNvPr id="14" name="组合 13"/>
          <p:cNvGrpSpPr/>
          <p:nvPr/>
        </p:nvGrpSpPr>
        <p:grpSpPr>
          <a:xfrm flipH="1">
            <a:off x="11088622" y="389631"/>
            <a:ext cx="596597" cy="262959"/>
            <a:chOff x="352728" y="249931"/>
            <a:chExt cx="723900" cy="319070"/>
          </a:xfrm>
        </p:grpSpPr>
        <p:sp>
          <p:nvSpPr>
            <p:cNvPr id="15" name="矩形: 圆角 14"/>
            <p:cNvSpPr/>
            <p:nvPr/>
          </p:nvSpPr>
          <p:spPr>
            <a:xfrm>
              <a:off x="352728" y="249931"/>
              <a:ext cx="72390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352728" y="372506"/>
              <a:ext cx="52516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352728" y="495081"/>
              <a:ext cx="35371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 flipV="1">
            <a:off x="518832" y="6208607"/>
            <a:ext cx="596597" cy="262959"/>
            <a:chOff x="352728" y="249931"/>
            <a:chExt cx="723900" cy="319070"/>
          </a:xfrm>
        </p:grpSpPr>
        <p:sp>
          <p:nvSpPr>
            <p:cNvPr id="19" name="矩形: 圆角 18"/>
            <p:cNvSpPr/>
            <p:nvPr/>
          </p:nvSpPr>
          <p:spPr>
            <a:xfrm>
              <a:off x="352728" y="249931"/>
              <a:ext cx="72390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: 圆角 19"/>
            <p:cNvSpPr/>
            <p:nvPr/>
          </p:nvSpPr>
          <p:spPr>
            <a:xfrm>
              <a:off x="352728" y="372506"/>
              <a:ext cx="52516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: 圆角 20"/>
            <p:cNvSpPr/>
            <p:nvPr/>
          </p:nvSpPr>
          <p:spPr>
            <a:xfrm>
              <a:off x="352728" y="495081"/>
              <a:ext cx="35371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11043763" y="5932117"/>
            <a:ext cx="630808" cy="552979"/>
            <a:chOff x="1143409" y="5756683"/>
            <a:chExt cx="226164" cy="198260"/>
          </a:xfrm>
          <a:solidFill>
            <a:schemeClr val="accent1"/>
          </a:solidFill>
        </p:grpSpPr>
        <p:sp>
          <p:nvSpPr>
            <p:cNvPr id="98" name="任意多边形: 形状 97"/>
            <p:cNvSpPr/>
            <p:nvPr/>
          </p:nvSpPr>
          <p:spPr>
            <a:xfrm>
              <a:off x="1143409" y="5756683"/>
              <a:ext cx="226164" cy="130990"/>
            </a:xfrm>
            <a:custGeom>
              <a:avLst/>
              <a:gdLst>
                <a:gd name="connsiteX0" fmla="*/ 109937 w 226164"/>
                <a:gd name="connsiteY0" fmla="*/ 130990 h 130990"/>
                <a:gd name="connsiteX1" fmla="*/ 105971 w 226164"/>
                <a:gd name="connsiteY1" fmla="*/ 129954 h 130990"/>
                <a:gd name="connsiteX2" fmla="*/ 4118 w 226164"/>
                <a:gd name="connsiteY2" fmla="*/ 72586 h 130990"/>
                <a:gd name="connsiteX3" fmla="*/ 0 w 226164"/>
                <a:gd name="connsiteY3" fmla="*/ 65538 h 130990"/>
                <a:gd name="connsiteX4" fmla="*/ 4118 w 226164"/>
                <a:gd name="connsiteY4" fmla="*/ 58490 h 130990"/>
                <a:gd name="connsiteX5" fmla="*/ 105971 w 226164"/>
                <a:gd name="connsiteY5" fmla="*/ 1046 h 130990"/>
                <a:gd name="connsiteX6" fmla="*/ 113727 w 226164"/>
                <a:gd name="connsiteY6" fmla="*/ 945 h 130990"/>
                <a:gd name="connsiteX7" fmla="*/ 221870 w 226164"/>
                <a:gd name="connsiteY7" fmla="*/ 58439 h 130990"/>
                <a:gd name="connsiteX8" fmla="*/ 226165 w 226164"/>
                <a:gd name="connsiteY8" fmla="*/ 65588 h 130990"/>
                <a:gd name="connsiteX9" fmla="*/ 221870 w 226164"/>
                <a:gd name="connsiteY9" fmla="*/ 72737 h 130990"/>
                <a:gd name="connsiteX10" fmla="*/ 113701 w 226164"/>
                <a:gd name="connsiteY10" fmla="*/ 130081 h 130990"/>
                <a:gd name="connsiteX11" fmla="*/ 109937 w 226164"/>
                <a:gd name="connsiteY11" fmla="*/ 130990 h 130990"/>
                <a:gd name="connsiteX12" fmla="*/ 24529 w 226164"/>
                <a:gd name="connsiteY12" fmla="*/ 65538 h 130990"/>
                <a:gd name="connsiteX13" fmla="*/ 110038 w 226164"/>
                <a:gd name="connsiteY13" fmla="*/ 113711 h 130990"/>
                <a:gd name="connsiteX14" fmla="*/ 200828 w 226164"/>
                <a:gd name="connsiteY14" fmla="*/ 65563 h 130990"/>
                <a:gd name="connsiteX15" fmla="*/ 110038 w 226164"/>
                <a:gd name="connsiteY15" fmla="*/ 17339 h 130990"/>
                <a:gd name="connsiteX16" fmla="*/ 24529 w 226164"/>
                <a:gd name="connsiteY16" fmla="*/ 65538 h 130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6164" h="130990">
                  <a:moveTo>
                    <a:pt x="109937" y="130990"/>
                  </a:moveTo>
                  <a:cubicBezTo>
                    <a:pt x="108573" y="130990"/>
                    <a:pt x="107209" y="130636"/>
                    <a:pt x="105971" y="129954"/>
                  </a:cubicBezTo>
                  <a:lnTo>
                    <a:pt x="4118" y="72586"/>
                  </a:lnTo>
                  <a:cubicBezTo>
                    <a:pt x="1566" y="71146"/>
                    <a:pt x="0" y="68468"/>
                    <a:pt x="0" y="65538"/>
                  </a:cubicBezTo>
                  <a:cubicBezTo>
                    <a:pt x="0" y="62608"/>
                    <a:pt x="1566" y="59930"/>
                    <a:pt x="4118" y="58490"/>
                  </a:cubicBezTo>
                  <a:lnTo>
                    <a:pt x="105971" y="1046"/>
                  </a:lnTo>
                  <a:cubicBezTo>
                    <a:pt x="108371" y="-318"/>
                    <a:pt x="111301" y="-344"/>
                    <a:pt x="113727" y="945"/>
                  </a:cubicBezTo>
                  <a:lnTo>
                    <a:pt x="221870" y="58439"/>
                  </a:lnTo>
                  <a:cubicBezTo>
                    <a:pt x="224523" y="59854"/>
                    <a:pt x="226165" y="62582"/>
                    <a:pt x="226165" y="65588"/>
                  </a:cubicBezTo>
                  <a:cubicBezTo>
                    <a:pt x="226165" y="68595"/>
                    <a:pt x="224523" y="71323"/>
                    <a:pt x="221870" y="72737"/>
                  </a:cubicBezTo>
                  <a:lnTo>
                    <a:pt x="113701" y="130081"/>
                  </a:lnTo>
                  <a:cubicBezTo>
                    <a:pt x="112539" y="130687"/>
                    <a:pt x="111226" y="130990"/>
                    <a:pt x="109937" y="130990"/>
                  </a:cubicBezTo>
                  <a:close/>
                  <a:moveTo>
                    <a:pt x="24529" y="65538"/>
                  </a:moveTo>
                  <a:lnTo>
                    <a:pt x="110038" y="113711"/>
                  </a:lnTo>
                  <a:lnTo>
                    <a:pt x="200828" y="65563"/>
                  </a:lnTo>
                  <a:lnTo>
                    <a:pt x="110038" y="17339"/>
                  </a:lnTo>
                  <a:lnTo>
                    <a:pt x="24529" y="65538"/>
                  </a:lnTo>
                  <a:close/>
                </a:path>
              </a:pathLst>
            </a:custGeom>
            <a:grpFill/>
            <a:ln w="2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" name="任意多边形: 形状 98"/>
            <p:cNvSpPr/>
            <p:nvPr/>
          </p:nvSpPr>
          <p:spPr>
            <a:xfrm>
              <a:off x="1177840" y="5839828"/>
              <a:ext cx="157302" cy="87858"/>
            </a:xfrm>
            <a:custGeom>
              <a:avLst/>
              <a:gdLst>
                <a:gd name="connsiteX0" fmla="*/ 8084 w 157302"/>
                <a:gd name="connsiteY0" fmla="*/ 87859 h 87858"/>
                <a:gd name="connsiteX1" fmla="*/ 0 w 157302"/>
                <a:gd name="connsiteY1" fmla="*/ 79775 h 87858"/>
                <a:gd name="connsiteX2" fmla="*/ 0 w 157302"/>
                <a:gd name="connsiteY2" fmla="*/ 8084 h 87858"/>
                <a:gd name="connsiteX3" fmla="*/ 8084 w 157302"/>
                <a:gd name="connsiteY3" fmla="*/ 0 h 87858"/>
                <a:gd name="connsiteX4" fmla="*/ 16167 w 157302"/>
                <a:gd name="connsiteY4" fmla="*/ 8084 h 87858"/>
                <a:gd name="connsiteX5" fmla="*/ 16167 w 157302"/>
                <a:gd name="connsiteY5" fmla="*/ 79775 h 87858"/>
                <a:gd name="connsiteX6" fmla="*/ 8084 w 157302"/>
                <a:gd name="connsiteY6" fmla="*/ 87859 h 87858"/>
                <a:gd name="connsiteX7" fmla="*/ 149219 w 157302"/>
                <a:gd name="connsiteY7" fmla="*/ 87859 h 87858"/>
                <a:gd name="connsiteX8" fmla="*/ 141135 w 157302"/>
                <a:gd name="connsiteY8" fmla="*/ 79775 h 87858"/>
                <a:gd name="connsiteX9" fmla="*/ 141135 w 157302"/>
                <a:gd name="connsiteY9" fmla="*/ 8084 h 87858"/>
                <a:gd name="connsiteX10" fmla="*/ 149219 w 157302"/>
                <a:gd name="connsiteY10" fmla="*/ 0 h 87858"/>
                <a:gd name="connsiteX11" fmla="*/ 157302 w 157302"/>
                <a:gd name="connsiteY11" fmla="*/ 8084 h 87858"/>
                <a:gd name="connsiteX12" fmla="*/ 157302 w 157302"/>
                <a:gd name="connsiteY12" fmla="*/ 79775 h 87858"/>
                <a:gd name="connsiteX13" fmla="*/ 149219 w 157302"/>
                <a:gd name="connsiteY13" fmla="*/ 87859 h 87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7302" h="87858">
                  <a:moveTo>
                    <a:pt x="8084" y="87859"/>
                  </a:moveTo>
                  <a:cubicBezTo>
                    <a:pt x="3612" y="87859"/>
                    <a:pt x="0" y="84247"/>
                    <a:pt x="0" y="79775"/>
                  </a:cubicBezTo>
                  <a:lnTo>
                    <a:pt x="0" y="8084"/>
                  </a:lnTo>
                  <a:cubicBezTo>
                    <a:pt x="0" y="3612"/>
                    <a:pt x="3612" y="0"/>
                    <a:pt x="8084" y="0"/>
                  </a:cubicBezTo>
                  <a:cubicBezTo>
                    <a:pt x="12555" y="0"/>
                    <a:pt x="16167" y="3612"/>
                    <a:pt x="16167" y="8084"/>
                  </a:cubicBezTo>
                  <a:lnTo>
                    <a:pt x="16167" y="79775"/>
                  </a:lnTo>
                  <a:cubicBezTo>
                    <a:pt x="16167" y="84247"/>
                    <a:pt x="12555" y="87859"/>
                    <a:pt x="8084" y="87859"/>
                  </a:cubicBezTo>
                  <a:close/>
                  <a:moveTo>
                    <a:pt x="149219" y="87859"/>
                  </a:moveTo>
                  <a:cubicBezTo>
                    <a:pt x="144747" y="87859"/>
                    <a:pt x="141135" y="84247"/>
                    <a:pt x="141135" y="79775"/>
                  </a:cubicBezTo>
                  <a:lnTo>
                    <a:pt x="141135" y="8084"/>
                  </a:lnTo>
                  <a:cubicBezTo>
                    <a:pt x="141135" y="3612"/>
                    <a:pt x="144747" y="0"/>
                    <a:pt x="149219" y="0"/>
                  </a:cubicBezTo>
                  <a:cubicBezTo>
                    <a:pt x="153690" y="0"/>
                    <a:pt x="157302" y="3612"/>
                    <a:pt x="157302" y="8084"/>
                  </a:cubicBezTo>
                  <a:lnTo>
                    <a:pt x="157302" y="79775"/>
                  </a:lnTo>
                  <a:cubicBezTo>
                    <a:pt x="157302" y="84247"/>
                    <a:pt x="153665" y="87859"/>
                    <a:pt x="149219" y="87859"/>
                  </a:cubicBezTo>
                  <a:close/>
                </a:path>
              </a:pathLst>
            </a:custGeom>
            <a:grpFill/>
            <a:ln w="2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" name="任意多边形: 形状 99"/>
            <p:cNvSpPr/>
            <p:nvPr/>
          </p:nvSpPr>
          <p:spPr>
            <a:xfrm>
              <a:off x="1177840" y="5848391"/>
              <a:ext cx="189459" cy="106552"/>
            </a:xfrm>
            <a:custGeom>
              <a:avLst/>
              <a:gdLst>
                <a:gd name="connsiteX0" fmla="*/ 78639 w 189459"/>
                <a:gd name="connsiteY0" fmla="*/ 106552 h 106552"/>
                <a:gd name="connsiteX1" fmla="*/ 26044 w 189459"/>
                <a:gd name="connsiteY1" fmla="*/ 98747 h 106552"/>
                <a:gd name="connsiteX2" fmla="*/ 8437 w 189459"/>
                <a:gd name="connsiteY2" fmla="*/ 89349 h 106552"/>
                <a:gd name="connsiteX3" fmla="*/ 0 w 189459"/>
                <a:gd name="connsiteY3" fmla="*/ 73409 h 106552"/>
                <a:gd name="connsiteX4" fmla="*/ 8084 w 189459"/>
                <a:gd name="connsiteY4" fmla="*/ 65326 h 106552"/>
                <a:gd name="connsiteX5" fmla="*/ 16167 w 189459"/>
                <a:gd name="connsiteY5" fmla="*/ 73409 h 106552"/>
                <a:gd name="connsiteX6" fmla="*/ 31450 w 189459"/>
                <a:gd name="connsiteY6" fmla="*/ 83539 h 106552"/>
                <a:gd name="connsiteX7" fmla="*/ 78639 w 189459"/>
                <a:gd name="connsiteY7" fmla="*/ 90410 h 106552"/>
                <a:gd name="connsiteX8" fmla="*/ 125827 w 189459"/>
                <a:gd name="connsiteY8" fmla="*/ 83539 h 106552"/>
                <a:gd name="connsiteX9" fmla="*/ 141110 w 189459"/>
                <a:gd name="connsiteY9" fmla="*/ 73409 h 106552"/>
                <a:gd name="connsiteX10" fmla="*/ 149193 w 189459"/>
                <a:gd name="connsiteY10" fmla="*/ 65326 h 106552"/>
                <a:gd name="connsiteX11" fmla="*/ 157277 w 189459"/>
                <a:gd name="connsiteY11" fmla="*/ 73409 h 106552"/>
                <a:gd name="connsiteX12" fmla="*/ 148840 w 189459"/>
                <a:gd name="connsiteY12" fmla="*/ 89349 h 106552"/>
                <a:gd name="connsiteX13" fmla="*/ 131233 w 189459"/>
                <a:gd name="connsiteY13" fmla="*/ 98747 h 106552"/>
                <a:gd name="connsiteX14" fmla="*/ 78639 w 189459"/>
                <a:gd name="connsiteY14" fmla="*/ 106552 h 106552"/>
                <a:gd name="connsiteX15" fmla="*/ 181376 w 189459"/>
                <a:gd name="connsiteY15" fmla="*/ 90183 h 106552"/>
                <a:gd name="connsiteX16" fmla="*/ 173293 w 189459"/>
                <a:gd name="connsiteY16" fmla="*/ 82099 h 106552"/>
                <a:gd name="connsiteX17" fmla="*/ 173293 w 189459"/>
                <a:gd name="connsiteY17" fmla="*/ 8084 h 106552"/>
                <a:gd name="connsiteX18" fmla="*/ 181376 w 189459"/>
                <a:gd name="connsiteY18" fmla="*/ 0 h 106552"/>
                <a:gd name="connsiteX19" fmla="*/ 189460 w 189459"/>
                <a:gd name="connsiteY19" fmla="*/ 8084 h 106552"/>
                <a:gd name="connsiteX20" fmla="*/ 189460 w 189459"/>
                <a:gd name="connsiteY20" fmla="*/ 82099 h 106552"/>
                <a:gd name="connsiteX21" fmla="*/ 181376 w 189459"/>
                <a:gd name="connsiteY21" fmla="*/ 90183 h 106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459" h="106552">
                  <a:moveTo>
                    <a:pt x="78639" y="106552"/>
                  </a:moveTo>
                  <a:cubicBezTo>
                    <a:pt x="58884" y="106552"/>
                    <a:pt x="40216" y="103774"/>
                    <a:pt x="26044" y="98747"/>
                  </a:cubicBezTo>
                  <a:cubicBezTo>
                    <a:pt x="18643" y="96119"/>
                    <a:pt x="12732" y="92962"/>
                    <a:pt x="8437" y="89349"/>
                  </a:cubicBezTo>
                  <a:cubicBezTo>
                    <a:pt x="1465" y="83489"/>
                    <a:pt x="0" y="77451"/>
                    <a:pt x="0" y="73409"/>
                  </a:cubicBezTo>
                  <a:cubicBezTo>
                    <a:pt x="0" y="68938"/>
                    <a:pt x="3612" y="65326"/>
                    <a:pt x="8084" y="65326"/>
                  </a:cubicBezTo>
                  <a:cubicBezTo>
                    <a:pt x="12555" y="65326"/>
                    <a:pt x="16167" y="68938"/>
                    <a:pt x="16167" y="73409"/>
                  </a:cubicBezTo>
                  <a:cubicBezTo>
                    <a:pt x="16167" y="74925"/>
                    <a:pt x="19906" y="79422"/>
                    <a:pt x="31450" y="83539"/>
                  </a:cubicBezTo>
                  <a:cubicBezTo>
                    <a:pt x="43929" y="87985"/>
                    <a:pt x="60678" y="90410"/>
                    <a:pt x="78639" y="90410"/>
                  </a:cubicBezTo>
                  <a:cubicBezTo>
                    <a:pt x="96599" y="90410"/>
                    <a:pt x="113348" y="87960"/>
                    <a:pt x="125827" y="83539"/>
                  </a:cubicBezTo>
                  <a:cubicBezTo>
                    <a:pt x="137371" y="79422"/>
                    <a:pt x="141110" y="74950"/>
                    <a:pt x="141110" y="73409"/>
                  </a:cubicBezTo>
                  <a:cubicBezTo>
                    <a:pt x="141110" y="68938"/>
                    <a:pt x="144722" y="65326"/>
                    <a:pt x="149193" y="65326"/>
                  </a:cubicBezTo>
                  <a:cubicBezTo>
                    <a:pt x="153665" y="65326"/>
                    <a:pt x="157277" y="68938"/>
                    <a:pt x="157277" y="73409"/>
                  </a:cubicBezTo>
                  <a:cubicBezTo>
                    <a:pt x="157277" y="77451"/>
                    <a:pt x="155812" y="83514"/>
                    <a:pt x="148840" y="89349"/>
                  </a:cubicBezTo>
                  <a:cubicBezTo>
                    <a:pt x="144545" y="92962"/>
                    <a:pt x="138609" y="96119"/>
                    <a:pt x="131233" y="98747"/>
                  </a:cubicBezTo>
                  <a:cubicBezTo>
                    <a:pt x="117086" y="103774"/>
                    <a:pt x="98393" y="106552"/>
                    <a:pt x="78639" y="106552"/>
                  </a:cubicBezTo>
                  <a:close/>
                  <a:moveTo>
                    <a:pt x="181376" y="90183"/>
                  </a:moveTo>
                  <a:cubicBezTo>
                    <a:pt x="176905" y="90183"/>
                    <a:pt x="173293" y="86571"/>
                    <a:pt x="173293" y="82099"/>
                  </a:cubicBezTo>
                  <a:lnTo>
                    <a:pt x="173293" y="8084"/>
                  </a:lnTo>
                  <a:cubicBezTo>
                    <a:pt x="173293" y="3612"/>
                    <a:pt x="176905" y="0"/>
                    <a:pt x="181376" y="0"/>
                  </a:cubicBezTo>
                  <a:cubicBezTo>
                    <a:pt x="185848" y="0"/>
                    <a:pt x="189460" y="3612"/>
                    <a:pt x="189460" y="8084"/>
                  </a:cubicBezTo>
                  <a:lnTo>
                    <a:pt x="189460" y="82099"/>
                  </a:lnTo>
                  <a:cubicBezTo>
                    <a:pt x="189460" y="86545"/>
                    <a:pt x="185848" y="90183"/>
                    <a:pt x="181376" y="90183"/>
                  </a:cubicBezTo>
                  <a:close/>
                </a:path>
              </a:pathLst>
            </a:custGeom>
            <a:grpFill/>
            <a:ln w="2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307393" y="166826"/>
            <a:ext cx="33826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1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通感一体 </a:t>
            </a:r>
            <a:r>
              <a:rPr lang="en-US" altLang="zh-CN" sz="2400" b="1" spc="100" dirty="0">
                <a:solidFill>
                  <a:schemeClr val="accent1"/>
                </a:solidFill>
                <a:latin typeface="+mj-ea"/>
              </a:rPr>
              <a:t>|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</a:rPr>
              <a:t>配置介绍</a:t>
            </a:r>
            <a:endParaRPr lang="zh-CN" altLang="en-US" sz="2400" b="1" spc="1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957299" y="229525"/>
            <a:ext cx="355042" cy="353395"/>
            <a:chOff x="1957299" y="229525"/>
            <a:chExt cx="355042" cy="353395"/>
          </a:xfrm>
        </p:grpSpPr>
        <p:sp>
          <p:nvSpPr>
            <p:cNvPr id="9" name="矩形: 圆角 8"/>
            <p:cNvSpPr/>
            <p:nvPr/>
          </p:nvSpPr>
          <p:spPr>
            <a:xfrm>
              <a:off x="1959416" y="229995"/>
              <a:ext cx="352925" cy="352925"/>
            </a:xfrm>
            <a:prstGeom prst="round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/>
            <p:cNvSpPr/>
            <p:nvPr/>
          </p:nvSpPr>
          <p:spPr>
            <a:xfrm>
              <a:off x="1957299" y="229525"/>
              <a:ext cx="322351" cy="3223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3" name="直接连接符 12"/>
          <p:cNvCxnSpPr/>
          <p:nvPr/>
        </p:nvCxnSpPr>
        <p:spPr>
          <a:xfrm>
            <a:off x="2419350" y="628491"/>
            <a:ext cx="9481914" cy="0"/>
          </a:xfrm>
          <a:prstGeom prst="line">
            <a:avLst/>
          </a:prstGeom>
          <a:ln w="15875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0" y="2401808"/>
            <a:ext cx="1631406" cy="5307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159114" y="2449166"/>
            <a:ext cx="131318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bg1"/>
                </a:solidFill>
                <a:latin typeface="+mj-ea"/>
                <a:ea typeface="+mj-ea"/>
              </a:rPr>
              <a:t>通感一体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18049" y="3168630"/>
            <a:ext cx="159531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多天线建模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441242" y="3888094"/>
            <a:ext cx="74892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总结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409908" y="3964838"/>
            <a:ext cx="8602649" cy="12763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400" spc="100" dirty="0">
                <a:latin typeface="+mn-ea"/>
              </a:rPr>
              <a:t>使用</a:t>
            </a:r>
            <a:r>
              <a:rPr lang="en-US" altLang="zh-CN" sz="1400" spc="100" dirty="0">
                <a:latin typeface="+mn-ea"/>
              </a:rPr>
              <a:t>Sionna</a:t>
            </a:r>
            <a:r>
              <a:rPr lang="zh-CN" altLang="en-US" sz="1400" spc="100" dirty="0">
                <a:latin typeface="+mn-ea"/>
              </a:rPr>
              <a:t>提供的接口</a:t>
            </a:r>
            <a:r>
              <a:rPr lang="en-US" altLang="zh-CN" sz="1400" spc="100" dirty="0" err="1">
                <a:latin typeface="+mn-ea"/>
              </a:rPr>
              <a:t>PUSCHTransmitter</a:t>
            </a:r>
            <a:r>
              <a:rPr lang="en-US" altLang="zh-CN" sz="1400" spc="100" dirty="0">
                <a:latin typeface="+mn-ea"/>
              </a:rPr>
              <a:t> </a:t>
            </a:r>
            <a:r>
              <a:rPr lang="zh-CN" altLang="en-US" sz="1400" spc="100" dirty="0">
                <a:latin typeface="+mn-ea"/>
              </a:rPr>
              <a:t>生成</a:t>
            </a:r>
            <a:r>
              <a:rPr lang="en-US" altLang="zh-CN" sz="1400" spc="100" dirty="0">
                <a:latin typeface="+mn-ea"/>
              </a:rPr>
              <a:t>5G NR OFDM</a:t>
            </a:r>
            <a:r>
              <a:rPr lang="zh-CN" altLang="en-US" sz="1400" spc="100" dirty="0">
                <a:latin typeface="+mn-ea"/>
              </a:rPr>
              <a:t>波形：</a:t>
            </a:r>
            <a:br>
              <a:rPr lang="en-US" altLang="zh-CN" sz="1400" spc="100" dirty="0">
                <a:latin typeface="+mn-ea"/>
              </a:rPr>
            </a:br>
            <a:r>
              <a:rPr lang="en-US" altLang="zh-CN" sz="1400" spc="100" dirty="0">
                <a:latin typeface="+mn-ea"/>
              </a:rPr>
              <a:t>bits → </a:t>
            </a:r>
            <a:r>
              <a:rPr lang="zh-CN" altLang="en-US" sz="1400" spc="100" dirty="0">
                <a:latin typeface="+mn-ea"/>
              </a:rPr>
              <a:t>信道编码（</a:t>
            </a:r>
            <a:r>
              <a:rPr lang="en-US" altLang="zh-CN" sz="1400" spc="100" dirty="0">
                <a:latin typeface="+mn-ea"/>
              </a:rPr>
              <a:t>CRC→LDPC</a:t>
            </a:r>
            <a:r>
              <a:rPr lang="zh-CN" altLang="en-US" sz="1400" spc="100" dirty="0">
                <a:latin typeface="+mn-ea"/>
              </a:rPr>
              <a:t>）→ </a:t>
            </a:r>
            <a:r>
              <a:rPr lang="en-US" altLang="zh-CN" sz="1400" spc="100" dirty="0">
                <a:latin typeface="+mn-ea"/>
              </a:rPr>
              <a:t>QAM</a:t>
            </a:r>
            <a:r>
              <a:rPr lang="zh-CN" altLang="en-US" sz="1400" spc="100" dirty="0">
                <a:latin typeface="+mn-ea"/>
              </a:rPr>
              <a:t>调制 → 层映射 → 预编码 → 映射到</a:t>
            </a:r>
            <a:r>
              <a:rPr lang="en-US" altLang="zh-CN" sz="1400" spc="100" dirty="0">
                <a:latin typeface="+mn-ea"/>
              </a:rPr>
              <a:t>OFDM</a:t>
            </a:r>
            <a:r>
              <a:rPr lang="zh-CN" altLang="en-US" sz="1400" spc="100" dirty="0">
                <a:latin typeface="+mn-ea"/>
              </a:rPr>
              <a:t>资源网格</a:t>
            </a:r>
            <a:endParaRPr lang="en-US" altLang="zh-CN" sz="1400" spc="100" dirty="0">
              <a:latin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400" spc="100" dirty="0">
                <a:latin typeface="+mn-ea"/>
              </a:rPr>
              <a:t>								    ↓</a:t>
            </a:r>
          </a:p>
          <a:p>
            <a:pPr lvl="1">
              <a:lnSpc>
                <a:spcPct val="130000"/>
              </a:lnSpc>
            </a:pPr>
            <a:r>
              <a:rPr lang="en-US" altLang="zh-CN" sz="1400" spc="100" dirty="0">
                <a:latin typeface="+mn-ea"/>
              </a:rPr>
              <a:t>				                </a:t>
            </a:r>
            <a:r>
              <a:rPr lang="zh-CN" altLang="en-US" sz="1400" spc="100" dirty="0">
                <a:latin typeface="+mn-ea"/>
              </a:rPr>
              <a:t>匹配滤波做距离估计 </a:t>
            </a:r>
            <a:r>
              <a:rPr lang="en-US" altLang="zh-CN" sz="1400" spc="100" dirty="0">
                <a:latin typeface="+mn-ea"/>
              </a:rPr>
              <a:t>← </a:t>
            </a:r>
            <a:r>
              <a:rPr lang="zh-CN" altLang="en-US" sz="1400" spc="100" dirty="0">
                <a:latin typeface="+mn-ea"/>
              </a:rPr>
              <a:t>仿真目标回波</a:t>
            </a:r>
            <a:r>
              <a:rPr lang="en-US" altLang="zh-CN" sz="1400" spc="100" dirty="0">
                <a:latin typeface="+mn-ea"/>
              </a:rPr>
              <a:t>			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409908" y="2100684"/>
            <a:ext cx="5712279" cy="141092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400" spc="100" dirty="0">
                <a:latin typeface="+mn-ea"/>
              </a:rPr>
              <a:t>子载波间隔：</a:t>
            </a:r>
            <a:r>
              <a:rPr lang="en-US" altLang="zh-CN" sz="1400" spc="100" dirty="0">
                <a:latin typeface="+mn-ea"/>
              </a:rPr>
              <a:t>15 / 30 / 60 kHz  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400" spc="100" dirty="0">
                <a:latin typeface="+mn-ea"/>
              </a:rPr>
              <a:t>导频</a:t>
            </a:r>
            <a:r>
              <a:rPr lang="en-US" altLang="zh-CN" sz="1400" spc="100" dirty="0">
                <a:latin typeface="+mn-ea"/>
              </a:rPr>
              <a:t>position</a:t>
            </a:r>
            <a:r>
              <a:rPr lang="zh-CN" altLang="en-US" sz="1400" spc="100" dirty="0">
                <a:latin typeface="+mn-ea"/>
              </a:rPr>
              <a:t>：</a:t>
            </a:r>
            <a:r>
              <a:rPr lang="en-US" altLang="zh-CN" sz="1400" spc="100" dirty="0">
                <a:latin typeface="+mn-ea"/>
              </a:rPr>
              <a:t>0 / 1 / 2</a:t>
            </a:r>
            <a:r>
              <a:rPr lang="zh-CN" altLang="en-US" sz="1400" spc="100" dirty="0">
                <a:latin typeface="+mn-ea"/>
              </a:rPr>
              <a:t>（对应一个时隙有</a:t>
            </a:r>
            <a:r>
              <a:rPr lang="en-US" altLang="zh-CN" sz="1400" spc="100" dirty="0">
                <a:latin typeface="+mn-ea"/>
              </a:rPr>
              <a:t>1 / 2 / 4</a:t>
            </a:r>
            <a:r>
              <a:rPr lang="zh-CN" altLang="en-US" sz="1400" spc="100" dirty="0">
                <a:latin typeface="+mn-ea"/>
              </a:rPr>
              <a:t>个导频）</a:t>
            </a:r>
            <a:endParaRPr lang="en-US" altLang="zh-CN" sz="1400" spc="100" dirty="0"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400" spc="100" dirty="0">
                <a:latin typeface="+mn-ea"/>
              </a:rPr>
              <a:t>OFDM</a:t>
            </a:r>
            <a:r>
              <a:rPr lang="zh-CN" altLang="en-US" sz="1400" spc="100" dirty="0">
                <a:latin typeface="+mn-ea"/>
              </a:rPr>
              <a:t>符号数：</a:t>
            </a:r>
            <a:r>
              <a:rPr lang="en-US" altLang="zh-CN" sz="1400" spc="100" dirty="0">
                <a:latin typeface="+mn-ea"/>
              </a:rPr>
              <a:t>14 / 10  </a:t>
            </a:r>
          </a:p>
          <a:p>
            <a:pPr>
              <a:lnSpc>
                <a:spcPct val="130000"/>
              </a:lnSpc>
            </a:pPr>
            <a:r>
              <a:rPr lang="zh-CN" altLang="en-US" sz="1400" spc="100" dirty="0">
                <a:latin typeface="+mn-ea"/>
              </a:rPr>
              <a:t>（共</a:t>
            </a:r>
            <a:r>
              <a:rPr lang="en-US" altLang="zh-CN" sz="1400" spc="100" dirty="0">
                <a:latin typeface="+mn-ea"/>
              </a:rPr>
              <a:t>18</a:t>
            </a:r>
            <a:r>
              <a:rPr lang="zh-CN" altLang="en-US" sz="1400" spc="100" dirty="0">
                <a:latin typeface="+mn-ea"/>
              </a:rPr>
              <a:t>种组合）</a:t>
            </a:r>
            <a:endParaRPr lang="en-US" altLang="zh-CN" sz="1400" spc="100" dirty="0"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endParaRPr lang="zh-CN" altLang="en-US" sz="1400" spc="100" dirty="0">
              <a:latin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409908" y="3577087"/>
            <a:ext cx="1387981" cy="347651"/>
            <a:chOff x="2324976" y="3384883"/>
            <a:chExt cx="1387981" cy="347651"/>
          </a:xfrm>
        </p:grpSpPr>
        <p:sp>
          <p:nvSpPr>
            <p:cNvPr id="14" name="矩形: 圆角 13"/>
            <p:cNvSpPr/>
            <p:nvPr/>
          </p:nvSpPr>
          <p:spPr>
            <a:xfrm>
              <a:off x="2324976" y="3387090"/>
              <a:ext cx="1387981" cy="34544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490617" y="3384883"/>
              <a:ext cx="10567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仿真过程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409909" y="1718844"/>
            <a:ext cx="1387981" cy="347651"/>
            <a:chOff x="2324976" y="3384883"/>
            <a:chExt cx="1387981" cy="347651"/>
          </a:xfrm>
        </p:grpSpPr>
        <p:sp>
          <p:nvSpPr>
            <p:cNvPr id="20" name="矩形: 圆角 19"/>
            <p:cNvSpPr/>
            <p:nvPr/>
          </p:nvSpPr>
          <p:spPr>
            <a:xfrm>
              <a:off x="2324976" y="3387090"/>
              <a:ext cx="1387981" cy="34544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2490616" y="3384883"/>
              <a:ext cx="10567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波形配置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374151" y="812730"/>
            <a:ext cx="8691336" cy="649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spc="100" dirty="0">
                <a:latin typeface="+mn-ea"/>
              </a:rPr>
              <a:t>这一部分我主要是基于</a:t>
            </a:r>
            <a:r>
              <a:rPr lang="en-US" altLang="zh-CN" sz="1400" spc="100" dirty="0" err="1">
                <a:latin typeface="+mn-ea"/>
              </a:rPr>
              <a:t>sionna</a:t>
            </a:r>
            <a:r>
              <a:rPr lang="zh-CN" altLang="en-US" sz="1400" spc="100" dirty="0">
                <a:latin typeface="+mn-ea"/>
              </a:rPr>
              <a:t>生成</a:t>
            </a:r>
            <a:r>
              <a:rPr lang="en-US" altLang="zh-CN" sz="1400" spc="100" dirty="0">
                <a:latin typeface="+mn-ea"/>
              </a:rPr>
              <a:t>5g nr </a:t>
            </a:r>
            <a:r>
              <a:rPr lang="en-US" altLang="zh-CN" sz="1400" spc="100" dirty="0" err="1">
                <a:latin typeface="+mn-ea"/>
              </a:rPr>
              <a:t>ofdm</a:t>
            </a:r>
            <a:r>
              <a:rPr lang="zh-CN" altLang="en-US" sz="1400" spc="100" dirty="0">
                <a:latin typeface="+mn-ea"/>
              </a:rPr>
              <a:t>波形，利用导频来进行探测。通过设置不同的子载波间隔、导频密度和符号数，观察对通信速率与感知精度的影响。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918A0C7-8D4C-44B7-2CBE-1299529C7ED2}"/>
              </a:ext>
            </a:extLst>
          </p:cNvPr>
          <p:cNvGrpSpPr/>
          <p:nvPr/>
        </p:nvGrpSpPr>
        <p:grpSpPr>
          <a:xfrm>
            <a:off x="2419350" y="5167348"/>
            <a:ext cx="1387981" cy="347651"/>
            <a:chOff x="2324976" y="3384883"/>
            <a:chExt cx="1387981" cy="347651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C59FB94A-ADDA-B98A-7A92-5E5B7A4F4778}"/>
                </a:ext>
              </a:extLst>
            </p:cNvPr>
            <p:cNvSpPr/>
            <p:nvPr/>
          </p:nvSpPr>
          <p:spPr>
            <a:xfrm>
              <a:off x="2324976" y="3387090"/>
              <a:ext cx="1387981" cy="34544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729B0EC4-7F3A-D8D2-E4DE-FABF84D8BC89}"/>
                </a:ext>
              </a:extLst>
            </p:cNvPr>
            <p:cNvSpPr txBox="1"/>
            <p:nvPr/>
          </p:nvSpPr>
          <p:spPr>
            <a:xfrm>
              <a:off x="2490618" y="3384883"/>
              <a:ext cx="10567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回波场景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5BE0769E-7F57-68A6-B9C7-D97FA05D111A}"/>
              </a:ext>
            </a:extLst>
          </p:cNvPr>
          <p:cNvSpPr txBox="1"/>
          <p:nvPr/>
        </p:nvSpPr>
        <p:spPr>
          <a:xfrm>
            <a:off x="2374151" y="5522546"/>
            <a:ext cx="9095606" cy="12763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400" spc="100" dirty="0">
                <a:latin typeface="+mn-ea"/>
              </a:rPr>
              <a:t>场景设置：</a:t>
            </a:r>
            <a:r>
              <a:rPr lang="zh-CN" altLang="en-US" sz="1400" dirty="0"/>
              <a:t>基站位置为</a:t>
            </a:r>
            <a:r>
              <a:rPr lang="en-US" altLang="zh-CN" sz="1400" dirty="0"/>
              <a:t>[0,0,25]m</a:t>
            </a:r>
            <a:r>
              <a:rPr lang="zh-CN" altLang="en-US" sz="1400" dirty="0"/>
              <a:t>，无人机目标位置为</a:t>
            </a:r>
            <a:r>
              <a:rPr lang="en-US" altLang="zh-CN" sz="1400" dirty="0"/>
              <a:t>[120,45,35]m</a:t>
            </a:r>
            <a:r>
              <a:rPr lang="zh-CN" altLang="en-US" sz="1400" dirty="0"/>
              <a:t>，载频为</a:t>
            </a:r>
            <a:r>
              <a:rPr lang="en-US" altLang="zh-CN" sz="1400" dirty="0"/>
              <a:t>3.5GHz</a:t>
            </a:r>
            <a:r>
              <a:rPr lang="zh-CN" altLang="en-US" sz="1400" dirty="0"/>
              <a:t>。传播过程由</a:t>
            </a:r>
            <a:r>
              <a:rPr lang="en-US" altLang="zh-CN" sz="1400" dirty="0"/>
              <a:t>Sionna RT</a:t>
            </a:r>
            <a:r>
              <a:rPr lang="zh-CN" altLang="en-US" sz="1400" dirty="0"/>
              <a:t>（只保留直射路径）完成建模；在回波生成后，叠加复高斯白噪声模拟接收端噪声环境：</a:t>
            </a:r>
            <a:br>
              <a:rPr lang="en-US" altLang="zh-CN" sz="1400" dirty="0"/>
            </a:br>
            <a:r>
              <a:rPr lang="zh-CN" altLang="en-US" sz="1400" dirty="0"/>
              <a:t>发射阵列（</a:t>
            </a:r>
            <a:r>
              <a:rPr lang="en-US" altLang="zh-CN" sz="1400" dirty="0"/>
              <a:t>4</a:t>
            </a:r>
            <a:r>
              <a:rPr lang="zh-CN" altLang="en-US" sz="1400" dirty="0"/>
              <a:t>天线） → </a:t>
            </a:r>
            <a:r>
              <a:rPr lang="en-US" altLang="zh-CN" sz="1400" dirty="0"/>
              <a:t>Sionna RT</a:t>
            </a:r>
            <a:r>
              <a:rPr lang="zh-CN" altLang="en-US" sz="1400" dirty="0"/>
              <a:t>传播信道（传播时延 </a:t>
            </a:r>
            <a:r>
              <a:rPr lang="en-US" altLang="zh-CN" sz="1400" dirty="0"/>
              <a:t>+ </a:t>
            </a:r>
            <a:r>
              <a:rPr lang="zh-CN" altLang="en-US" sz="1400" dirty="0"/>
              <a:t>路径损耗）→ </a:t>
            </a:r>
            <a:r>
              <a:rPr lang="en-US" altLang="zh-CN" sz="1400" dirty="0"/>
              <a:t>UAV</a:t>
            </a:r>
            <a:r>
              <a:rPr lang="zh-CN" altLang="en-US" sz="1400" dirty="0"/>
              <a:t>目标反射 → </a:t>
            </a:r>
            <a:r>
              <a:rPr lang="en-US" altLang="zh-CN" sz="1400" dirty="0"/>
              <a:t>Sionna RT</a:t>
            </a:r>
            <a:r>
              <a:rPr lang="zh-CN" altLang="en-US" sz="1400" dirty="0"/>
              <a:t>返回信道（目标 → 基站） → 接收阵列（</a:t>
            </a:r>
            <a:r>
              <a:rPr lang="en-US" altLang="zh-CN" sz="1400" dirty="0"/>
              <a:t>8</a:t>
            </a:r>
            <a:r>
              <a:rPr lang="zh-CN" altLang="en-US" sz="1400" dirty="0"/>
              <a:t>天线）</a:t>
            </a:r>
            <a:endParaRPr lang="en-US" altLang="zh-CN" sz="1400" spc="100" dirty="0"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307393" y="166826"/>
            <a:ext cx="2805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1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通感一体 </a:t>
            </a:r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|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结果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957299" y="229525"/>
            <a:ext cx="355042" cy="353395"/>
            <a:chOff x="1957299" y="229525"/>
            <a:chExt cx="355042" cy="353395"/>
          </a:xfrm>
        </p:grpSpPr>
        <p:sp>
          <p:nvSpPr>
            <p:cNvPr id="9" name="矩形: 圆角 8"/>
            <p:cNvSpPr/>
            <p:nvPr/>
          </p:nvSpPr>
          <p:spPr>
            <a:xfrm>
              <a:off x="1959416" y="229995"/>
              <a:ext cx="352925" cy="352925"/>
            </a:xfrm>
            <a:prstGeom prst="round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/>
            <p:cNvSpPr/>
            <p:nvPr/>
          </p:nvSpPr>
          <p:spPr>
            <a:xfrm>
              <a:off x="1957299" y="229525"/>
              <a:ext cx="322351" cy="3223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3" name="直接连接符 12"/>
          <p:cNvCxnSpPr/>
          <p:nvPr/>
        </p:nvCxnSpPr>
        <p:spPr>
          <a:xfrm>
            <a:off x="2419350" y="628491"/>
            <a:ext cx="9481914" cy="0"/>
          </a:xfrm>
          <a:prstGeom prst="line">
            <a:avLst/>
          </a:prstGeom>
          <a:ln w="15875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0" y="2401808"/>
            <a:ext cx="1631406" cy="5307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159114" y="2449166"/>
            <a:ext cx="131318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bg1"/>
                </a:solidFill>
                <a:latin typeface="+mj-ea"/>
                <a:ea typeface="+mj-ea"/>
              </a:rPr>
              <a:t>通感一体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18049" y="3168630"/>
            <a:ext cx="159531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多天线建模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441242" y="3888094"/>
            <a:ext cx="74892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总结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495550" y="1090156"/>
            <a:ext cx="1387981" cy="347651"/>
            <a:chOff x="2324976" y="3384883"/>
            <a:chExt cx="1387981" cy="347651"/>
          </a:xfrm>
        </p:grpSpPr>
        <p:sp>
          <p:nvSpPr>
            <p:cNvPr id="14" name="矩形: 圆角 13"/>
            <p:cNvSpPr/>
            <p:nvPr/>
          </p:nvSpPr>
          <p:spPr>
            <a:xfrm>
              <a:off x="2324976" y="3387090"/>
              <a:ext cx="1387981" cy="34544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490618" y="3384883"/>
              <a:ext cx="10567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仿真结果</a:t>
              </a:r>
            </a:p>
          </p:txBody>
        </p:sp>
      </p:grpSp>
      <p:pic>
        <p:nvPicPr>
          <p:cNvPr id="4" name="图片 3" descr="图表, 散点图&#10;&#10;AI 生成的内容可能不正确。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018" y="1609842"/>
            <a:ext cx="6034048" cy="382906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633623" y="1793505"/>
            <a:ext cx="2822492" cy="31631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400" spc="100" dirty="0">
                <a:latin typeface="+mn-ea"/>
              </a:rPr>
              <a:t>【</a:t>
            </a:r>
            <a:r>
              <a:rPr lang="zh-CN" altLang="en-US" sz="1400" spc="100" dirty="0">
                <a:latin typeface="+mn-ea"/>
              </a:rPr>
              <a:t>横轴</a:t>
            </a:r>
            <a:r>
              <a:rPr lang="en-US" altLang="zh-CN" sz="1400" spc="100" dirty="0">
                <a:latin typeface="+mn-ea"/>
              </a:rPr>
              <a:t>】</a:t>
            </a:r>
            <a:r>
              <a:rPr lang="zh-CN" altLang="en-US" sz="1400" spc="100" dirty="0">
                <a:latin typeface="+mn-ea"/>
              </a:rPr>
              <a:t>通信速率（理论值）</a:t>
            </a:r>
            <a:endParaRPr lang="en-US" altLang="zh-CN" sz="1400" spc="100" dirty="0"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400" spc="100" dirty="0">
                <a:latin typeface="+mn-ea"/>
              </a:rPr>
              <a:t>【</a:t>
            </a:r>
            <a:r>
              <a:rPr lang="zh-CN" altLang="en-US" sz="1400" spc="100" dirty="0">
                <a:latin typeface="+mn-ea"/>
              </a:rPr>
              <a:t>纵轴</a:t>
            </a:r>
            <a:r>
              <a:rPr lang="en-US" altLang="zh-CN" sz="1400" spc="100" dirty="0">
                <a:latin typeface="+mn-ea"/>
              </a:rPr>
              <a:t>】</a:t>
            </a:r>
            <a:r>
              <a:rPr lang="zh-CN" altLang="en-US" sz="1400" spc="100" dirty="0">
                <a:latin typeface="+mn-ea"/>
              </a:rPr>
              <a:t>距离 </a:t>
            </a:r>
            <a:r>
              <a:rPr lang="en-US" altLang="zh-CN" sz="1400" spc="100" dirty="0">
                <a:latin typeface="+mn-ea"/>
              </a:rPr>
              <a:t>RMSE</a:t>
            </a:r>
            <a:r>
              <a:rPr lang="zh-CN" altLang="en-US" sz="1400" spc="100" dirty="0">
                <a:latin typeface="+mn-ea"/>
              </a:rPr>
              <a:t>（越低越好）</a:t>
            </a:r>
            <a:endParaRPr lang="en-US" altLang="zh-CN" sz="1400" spc="100" dirty="0"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400" spc="100" dirty="0">
                <a:latin typeface="+mn-ea"/>
              </a:rPr>
              <a:t>【</a:t>
            </a:r>
            <a:r>
              <a:rPr lang="zh-CN" altLang="en-US" sz="1400" spc="100" dirty="0">
                <a:latin typeface="+mn-ea"/>
              </a:rPr>
              <a:t>气泡大小</a:t>
            </a:r>
            <a:r>
              <a:rPr lang="en-US" altLang="zh-CN" sz="1400" spc="100" dirty="0">
                <a:latin typeface="+mn-ea"/>
              </a:rPr>
              <a:t>】</a:t>
            </a:r>
            <a:r>
              <a:rPr lang="zh-CN" altLang="en-US" sz="1400" spc="100" dirty="0">
                <a:latin typeface="+mn-ea"/>
              </a:rPr>
              <a:t>导频资源占比 </a:t>
            </a:r>
            <a:r>
              <a:rPr lang="en-US" altLang="zh-CN" sz="1400" spc="100" dirty="0">
                <a:latin typeface="+mn-ea"/>
              </a:rPr>
              <a:t>— </a:t>
            </a:r>
            <a:r>
              <a:rPr lang="zh-CN" altLang="en-US" sz="1400" spc="100" dirty="0">
                <a:latin typeface="+mn-ea"/>
              </a:rPr>
              <a:t>气泡越大 </a:t>
            </a:r>
            <a:r>
              <a:rPr lang="en-US" altLang="zh-CN" sz="1400" spc="100" dirty="0">
                <a:latin typeface="+mn-ea"/>
              </a:rPr>
              <a:t>=</a:t>
            </a:r>
            <a:r>
              <a:rPr lang="zh-CN" altLang="en-US" sz="1400" spc="100" dirty="0">
                <a:latin typeface="+mn-ea"/>
              </a:rPr>
              <a:t>导频越多</a:t>
            </a:r>
            <a:endParaRPr lang="en-US" altLang="zh-CN" sz="1400" spc="100" dirty="0"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400" spc="100" dirty="0">
                <a:latin typeface="+mn-ea"/>
              </a:rPr>
              <a:t>【</a:t>
            </a:r>
            <a:r>
              <a:rPr lang="zh-CN" altLang="en-US" sz="1400" spc="100" dirty="0">
                <a:latin typeface="+mn-ea"/>
              </a:rPr>
              <a:t>颜色</a:t>
            </a:r>
            <a:r>
              <a:rPr lang="en-US" altLang="zh-CN" sz="1400" spc="100" dirty="0">
                <a:latin typeface="+mn-ea"/>
              </a:rPr>
              <a:t>】</a:t>
            </a:r>
            <a:r>
              <a:rPr lang="zh-CN" altLang="en-US" sz="1400" spc="100" dirty="0">
                <a:latin typeface="+mn-ea"/>
              </a:rPr>
              <a:t>子载波间隔：蓝色</a:t>
            </a:r>
            <a:r>
              <a:rPr lang="en-US" altLang="zh-CN" sz="1400" spc="100" dirty="0">
                <a:latin typeface="+mn-ea"/>
              </a:rPr>
              <a:t>=</a:t>
            </a:r>
            <a:r>
              <a:rPr lang="en-US" altLang="zh-CN" sz="1400" b="1" spc="100" dirty="0">
                <a:solidFill>
                  <a:srgbClr val="74A2C3"/>
                </a:solidFill>
                <a:latin typeface="+mn-ea"/>
              </a:rPr>
              <a:t>15kHz</a:t>
            </a:r>
            <a:r>
              <a:rPr lang="en-US" altLang="zh-CN" sz="1400" spc="100" dirty="0">
                <a:latin typeface="+mn-ea"/>
              </a:rPr>
              <a:t>, </a:t>
            </a:r>
            <a:r>
              <a:rPr lang="zh-CN" altLang="en-US" sz="1400" spc="100" dirty="0">
                <a:latin typeface="+mn-ea"/>
              </a:rPr>
              <a:t>绿色</a:t>
            </a:r>
            <a:r>
              <a:rPr lang="en-US" altLang="zh-CN" sz="1400" spc="100" dirty="0">
                <a:latin typeface="+mn-ea"/>
              </a:rPr>
              <a:t>=</a:t>
            </a:r>
            <a:r>
              <a:rPr lang="en-US" altLang="zh-CN" sz="1400" b="1" spc="100" dirty="0">
                <a:solidFill>
                  <a:srgbClr val="5EB779"/>
                </a:solidFill>
                <a:latin typeface="+mn-ea"/>
              </a:rPr>
              <a:t>30kHz</a:t>
            </a:r>
            <a:r>
              <a:rPr lang="en-US" altLang="zh-CN" sz="1400" spc="100" dirty="0">
                <a:latin typeface="+mn-ea"/>
              </a:rPr>
              <a:t>, </a:t>
            </a:r>
            <a:r>
              <a:rPr lang="zh-CN" altLang="en-US" sz="1400" spc="100" dirty="0">
                <a:latin typeface="+mn-ea"/>
              </a:rPr>
              <a:t>橙色</a:t>
            </a:r>
            <a:r>
              <a:rPr lang="en-US" altLang="zh-CN" sz="1400" spc="100" dirty="0">
                <a:latin typeface="+mn-ea"/>
              </a:rPr>
              <a:t>=</a:t>
            </a:r>
            <a:r>
              <a:rPr lang="en-US" altLang="zh-CN" sz="1400" b="1" spc="100" dirty="0">
                <a:solidFill>
                  <a:srgbClr val="EB7A42"/>
                </a:solidFill>
                <a:latin typeface="+mn-ea"/>
              </a:rPr>
              <a:t>60kHz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400" spc="100" dirty="0">
                <a:latin typeface="+mn-ea"/>
              </a:rPr>
              <a:t>【</a:t>
            </a:r>
            <a:r>
              <a:rPr lang="zh-CN" altLang="en-US" sz="1400" spc="100" dirty="0">
                <a:latin typeface="+mn-ea"/>
              </a:rPr>
              <a:t>标记形状</a:t>
            </a:r>
            <a:r>
              <a:rPr lang="en-US" altLang="zh-CN" sz="1400" spc="100" dirty="0">
                <a:latin typeface="+mn-ea"/>
              </a:rPr>
              <a:t>】</a:t>
            </a:r>
            <a:r>
              <a:rPr lang="zh-CN" altLang="en-US" sz="1400" spc="100" dirty="0">
                <a:latin typeface="+mn-ea"/>
              </a:rPr>
              <a:t>圆圈 </a:t>
            </a:r>
            <a:r>
              <a:rPr lang="en-US" altLang="zh-CN" sz="1400" spc="100" dirty="0">
                <a:latin typeface="+mn-ea"/>
              </a:rPr>
              <a:t>o = </a:t>
            </a:r>
            <a:r>
              <a:rPr lang="zh-CN" altLang="en-US" sz="1400" spc="100" dirty="0">
                <a:latin typeface="+mn-ea"/>
              </a:rPr>
              <a:t>符号数 </a:t>
            </a:r>
            <a:r>
              <a:rPr lang="en-US" altLang="zh-CN" sz="1400" spc="100" dirty="0">
                <a:latin typeface="+mn-ea"/>
              </a:rPr>
              <a:t>14</a:t>
            </a:r>
            <a:r>
              <a:rPr lang="zh-CN" altLang="en-US" sz="1400" spc="100" dirty="0">
                <a:latin typeface="+mn-ea"/>
              </a:rPr>
              <a:t>；方块 </a:t>
            </a:r>
            <a:r>
              <a:rPr lang="zh-CN" altLang="en-US" sz="1400" b="1" spc="100" dirty="0">
                <a:latin typeface="+mn-ea"/>
              </a:rPr>
              <a:t>□</a:t>
            </a:r>
            <a:r>
              <a:rPr lang="en-US" altLang="zh-CN" sz="1400" spc="100" dirty="0">
                <a:latin typeface="+mn-ea"/>
              </a:rPr>
              <a:t> = </a:t>
            </a:r>
            <a:r>
              <a:rPr lang="zh-CN" altLang="en-US" sz="1400" spc="100" dirty="0">
                <a:latin typeface="+mn-ea"/>
              </a:rPr>
              <a:t>符号数 </a:t>
            </a:r>
            <a:r>
              <a:rPr lang="en-US" altLang="zh-CN" sz="1400" spc="100" dirty="0">
                <a:latin typeface="+mn-ea"/>
              </a:rPr>
              <a:t>10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661192" y="5579518"/>
            <a:ext cx="8691336" cy="9815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spc="100" dirty="0">
                <a:latin typeface="+mn-ea"/>
              </a:rPr>
              <a:t>在相同的子载波间隔下，导频密度越</a:t>
            </a:r>
            <a:r>
              <a:rPr lang="zh-CN" altLang="en-US" sz="1400" spc="100" dirty="0">
                <a:highlight>
                  <a:srgbClr val="FFFF00"/>
                </a:highlight>
                <a:latin typeface="+mn-ea"/>
              </a:rPr>
              <a:t>大</a:t>
            </a:r>
            <a:r>
              <a:rPr lang="zh-CN" altLang="en-US" sz="1400" spc="100" dirty="0">
                <a:latin typeface="+mn-ea"/>
              </a:rPr>
              <a:t>（气泡越大），距离</a:t>
            </a:r>
            <a:r>
              <a:rPr lang="en-US" altLang="zh-CN" sz="1400" spc="100" dirty="0">
                <a:highlight>
                  <a:srgbClr val="FFFF00"/>
                </a:highlight>
                <a:latin typeface="+mn-ea"/>
              </a:rPr>
              <a:t>RMSE</a:t>
            </a:r>
            <a:r>
              <a:rPr lang="zh-CN" altLang="en-US" sz="1400" spc="100" dirty="0">
                <a:highlight>
                  <a:srgbClr val="FFFF00"/>
                </a:highlight>
                <a:latin typeface="+mn-ea"/>
              </a:rPr>
              <a:t>越低</a:t>
            </a:r>
            <a:r>
              <a:rPr lang="zh-CN" altLang="en-US" sz="1400" spc="100" dirty="0">
                <a:latin typeface="+mn-ea"/>
              </a:rPr>
              <a:t>，但</a:t>
            </a:r>
            <a:r>
              <a:rPr lang="zh-CN" altLang="en-US" sz="1400" spc="100" dirty="0">
                <a:highlight>
                  <a:srgbClr val="FFFF00"/>
                </a:highlight>
                <a:latin typeface="+mn-ea"/>
              </a:rPr>
              <a:t>通信速率下降</a:t>
            </a:r>
            <a:r>
              <a:rPr lang="zh-CN" altLang="en-US" sz="1400" spc="100" dirty="0">
                <a:latin typeface="+mn-ea"/>
              </a:rPr>
              <a:t>（如黑色箭头所指示）；在相同导频密度下，子载波间隔下越</a:t>
            </a:r>
            <a:r>
              <a:rPr lang="zh-CN" altLang="en-US" sz="1400" spc="100" dirty="0">
                <a:highlight>
                  <a:srgbClr val="FFFF00"/>
                </a:highlight>
                <a:latin typeface="+mn-ea"/>
              </a:rPr>
              <a:t>大</a:t>
            </a:r>
            <a:r>
              <a:rPr lang="zh-CN" altLang="en-US" sz="1400" spc="100" dirty="0">
                <a:latin typeface="+mn-ea"/>
              </a:rPr>
              <a:t>，距离</a:t>
            </a:r>
            <a:r>
              <a:rPr lang="en-US" altLang="zh-CN" sz="1400" spc="100" dirty="0">
                <a:highlight>
                  <a:srgbClr val="FFFF00"/>
                </a:highlight>
                <a:latin typeface="+mn-ea"/>
              </a:rPr>
              <a:t>RMSE</a:t>
            </a:r>
            <a:r>
              <a:rPr lang="zh-CN" altLang="en-US" sz="1400" spc="100" dirty="0">
                <a:highlight>
                  <a:srgbClr val="FFFF00"/>
                </a:highlight>
                <a:latin typeface="+mn-ea"/>
              </a:rPr>
              <a:t>越低</a:t>
            </a:r>
            <a:r>
              <a:rPr lang="zh-CN" altLang="en-US" sz="1400" spc="100" dirty="0">
                <a:latin typeface="+mn-ea"/>
              </a:rPr>
              <a:t>。</a:t>
            </a:r>
            <a:endParaRPr lang="en-US" altLang="zh-CN" sz="1400" spc="100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400" spc="100" dirty="0">
                <a:latin typeface="+mn-ea"/>
              </a:rPr>
              <a:t>同时符号数</a:t>
            </a:r>
            <a:r>
              <a:rPr lang="zh-CN" altLang="en-US" sz="1400" spc="100" dirty="0">
                <a:highlight>
                  <a:srgbClr val="FFFF00"/>
                </a:highlight>
                <a:latin typeface="+mn-ea"/>
              </a:rPr>
              <a:t>主要影响通信速率</a:t>
            </a:r>
            <a:r>
              <a:rPr lang="zh-CN" altLang="en-US" sz="1400" spc="100" dirty="0">
                <a:latin typeface="+mn-ea"/>
              </a:rPr>
              <a:t>：如图相同颜色（子载波间隔）圆圈总是在方块右侧</a:t>
            </a:r>
          </a:p>
        </p:txBody>
      </p:sp>
      <p:cxnSp>
        <p:nvCxnSpPr>
          <p:cNvPr id="18" name="直接箭头连接符 17"/>
          <p:cNvCxnSpPr/>
          <p:nvPr/>
        </p:nvCxnSpPr>
        <p:spPr>
          <a:xfrm flipH="1">
            <a:off x="7220857" y="4368800"/>
            <a:ext cx="791029" cy="4354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>
            <a:off x="5494489" y="4303592"/>
            <a:ext cx="877024" cy="2177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H="1">
            <a:off x="4746171" y="3475271"/>
            <a:ext cx="420656" cy="11112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H="1">
            <a:off x="3773465" y="3856827"/>
            <a:ext cx="246723" cy="555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H="1">
            <a:off x="3548743" y="2731970"/>
            <a:ext cx="183394" cy="7433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H="1">
            <a:off x="2962259" y="1893544"/>
            <a:ext cx="352006" cy="19091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307393" y="166826"/>
            <a:ext cx="47566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2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多天线建模 </a:t>
            </a:r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| ULA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、</a:t>
            </a:r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UPA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学习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957299" y="229525"/>
            <a:ext cx="355042" cy="353395"/>
            <a:chOff x="1957299" y="229525"/>
            <a:chExt cx="355042" cy="353395"/>
          </a:xfrm>
        </p:grpSpPr>
        <p:sp>
          <p:nvSpPr>
            <p:cNvPr id="9" name="矩形: 圆角 8"/>
            <p:cNvSpPr/>
            <p:nvPr/>
          </p:nvSpPr>
          <p:spPr>
            <a:xfrm>
              <a:off x="1959416" y="229995"/>
              <a:ext cx="352925" cy="352925"/>
            </a:xfrm>
            <a:prstGeom prst="round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/>
            <p:cNvSpPr/>
            <p:nvPr/>
          </p:nvSpPr>
          <p:spPr>
            <a:xfrm>
              <a:off x="1957299" y="229525"/>
              <a:ext cx="322351" cy="3223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59114" y="2449166"/>
            <a:ext cx="131318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通感一体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41242" y="3888094"/>
            <a:ext cx="74892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总结</a:t>
            </a:r>
          </a:p>
        </p:txBody>
      </p:sp>
      <p:sp>
        <p:nvSpPr>
          <p:cNvPr id="25" name="矩形 24"/>
          <p:cNvSpPr/>
          <p:nvPr/>
        </p:nvSpPr>
        <p:spPr>
          <a:xfrm>
            <a:off x="0" y="3118696"/>
            <a:ext cx="1631406" cy="5307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8049" y="3168630"/>
            <a:ext cx="159531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bg1"/>
                </a:solidFill>
                <a:latin typeface="+mj-ea"/>
                <a:ea typeface="+mj-ea"/>
              </a:rPr>
              <a:t>多天线建模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658761" y="1042531"/>
            <a:ext cx="1387981" cy="347651"/>
            <a:chOff x="2324976" y="3384883"/>
            <a:chExt cx="1387981" cy="347651"/>
          </a:xfrm>
        </p:grpSpPr>
        <p:sp>
          <p:nvSpPr>
            <p:cNvPr id="6" name="矩形: 圆角 5"/>
            <p:cNvSpPr/>
            <p:nvPr/>
          </p:nvSpPr>
          <p:spPr>
            <a:xfrm>
              <a:off x="2324976" y="3387090"/>
              <a:ext cx="1387981" cy="34544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2692433" y="3384883"/>
              <a:ext cx="65306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ULA</a:t>
              </a:r>
              <a:endParaRPr lang="zh-CN" altLang="en-US" sz="1600" b="1" spc="1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658761" y="2592403"/>
            <a:ext cx="1387981" cy="347651"/>
            <a:chOff x="2324976" y="3384883"/>
            <a:chExt cx="1387981" cy="347651"/>
          </a:xfrm>
        </p:grpSpPr>
        <p:sp>
          <p:nvSpPr>
            <p:cNvPr id="37" name="矩形: 圆角 36"/>
            <p:cNvSpPr/>
            <p:nvPr/>
          </p:nvSpPr>
          <p:spPr>
            <a:xfrm>
              <a:off x="2324976" y="3387090"/>
              <a:ext cx="1387981" cy="34544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2690541" y="3384883"/>
              <a:ext cx="65684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UPA</a:t>
              </a:r>
              <a:endParaRPr lang="zh-CN" altLang="en-US" sz="1600" b="1" spc="1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31" name="图片 30" descr="\documentclass{article}&#10;\usepackage{amsmath}&#10;\pagestyle{empty}&#10;\begin{document}&#10;&#10;\[&#10;\mathbf{a}(\theta) = \begin{bmatrix} 1 &amp; e^{-j\phi} &amp; \cdots &amp; e^{-j(M-1)\phi} \end{bmatrix}^T,&#10;\quad \phi = \frac{2\pi d}{\lambda}\sin\theta&#10;\]&#10;&#10;&#10;\end{document}" title="IguanaTex Picture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676" y="1830712"/>
            <a:ext cx="5897509" cy="523337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2665091" y="1496619"/>
            <a:ext cx="2370109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spc="100" dirty="0">
                <a:latin typeface="+mn-ea"/>
              </a:rPr>
              <a:t>具体导向矢量公式：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2690731" y="3038507"/>
            <a:ext cx="308469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spc="100" dirty="0">
                <a:latin typeface="+mn-ea"/>
              </a:rPr>
              <a:t>具体导向矢量公式</a:t>
            </a:r>
            <a:r>
              <a:rPr lang="en-US" altLang="zh-CN" sz="1400" spc="100" dirty="0">
                <a:latin typeface="+mn-ea"/>
              </a:rPr>
              <a:t>(</a:t>
            </a:r>
            <a:r>
              <a:rPr lang="zh-CN" altLang="en-US" sz="1400" spc="100" dirty="0">
                <a:latin typeface="+mn-ea"/>
              </a:rPr>
              <a:t>按列展开</a:t>
            </a:r>
            <a:r>
              <a:rPr lang="en-US" altLang="zh-CN" sz="1400" spc="100" dirty="0">
                <a:latin typeface="+mn-ea"/>
              </a:rPr>
              <a:t>)</a:t>
            </a:r>
            <a:r>
              <a:rPr lang="zh-CN" altLang="en-US" sz="1400" spc="100" dirty="0">
                <a:latin typeface="+mn-ea"/>
              </a:rPr>
              <a:t>：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2690731" y="4891131"/>
            <a:ext cx="9065840" cy="167658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spc="100" dirty="0">
                <a:latin typeface="+mn-ea"/>
              </a:rPr>
              <a:t>其中             个阵元的均匀平面阵列</a:t>
            </a:r>
            <a:r>
              <a:rPr lang="en-US" altLang="zh-CN" sz="1400" spc="100" dirty="0">
                <a:latin typeface="+mn-ea"/>
              </a:rPr>
              <a:t>,       </a:t>
            </a:r>
            <a:r>
              <a:rPr lang="zh-CN" altLang="en-US" sz="1400" spc="100" dirty="0">
                <a:latin typeface="+mn-ea"/>
              </a:rPr>
              <a:t>和      是阵元沿</a:t>
            </a:r>
            <a:r>
              <a:rPr lang="en-US" altLang="zh-CN" sz="1400" spc="100" dirty="0">
                <a:latin typeface="+mn-ea"/>
              </a:rPr>
              <a:t>x</a:t>
            </a:r>
            <a:r>
              <a:rPr lang="zh-CN" altLang="en-US" sz="1400" spc="100" dirty="0">
                <a:latin typeface="+mn-ea"/>
              </a:rPr>
              <a:t>轴和</a:t>
            </a:r>
            <a:r>
              <a:rPr lang="en-US" altLang="zh-CN" sz="1400" spc="100" dirty="0">
                <a:latin typeface="+mn-ea"/>
              </a:rPr>
              <a:t>y</a:t>
            </a:r>
            <a:r>
              <a:rPr lang="zh-CN" altLang="en-US" sz="1400" spc="100" dirty="0">
                <a:latin typeface="+mn-ea"/>
              </a:rPr>
              <a:t>轴的间距。其元素对应位置为（</a:t>
            </a:r>
            <a:r>
              <a:rPr lang="en-US" altLang="zh-CN" sz="1400" spc="100" dirty="0">
                <a:latin typeface="+mn-ea"/>
              </a:rPr>
              <a:t>m</a:t>
            </a:r>
            <a:r>
              <a:rPr lang="zh-CN" altLang="en-US" sz="1400" spc="100" dirty="0">
                <a:latin typeface="+mn-ea"/>
              </a:rPr>
              <a:t>，</a:t>
            </a:r>
            <a:r>
              <a:rPr lang="en-US" altLang="zh-CN" sz="1400" spc="100" dirty="0">
                <a:latin typeface="+mn-ea"/>
              </a:rPr>
              <a:t>n</a:t>
            </a:r>
            <a:r>
              <a:rPr lang="zh-CN" altLang="en-US" sz="1400" spc="100" dirty="0">
                <a:latin typeface="+mn-ea"/>
              </a:rPr>
              <a:t>）的阵元。</a:t>
            </a:r>
            <a:br>
              <a:rPr lang="en-US" altLang="zh-CN" sz="1400" spc="100" dirty="0">
                <a:latin typeface="+mn-ea"/>
              </a:rPr>
            </a:br>
            <a:endParaRPr lang="en-US" altLang="zh-CN" sz="1400" spc="100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400" spc="100" dirty="0">
                <a:latin typeface="+mn-ea"/>
              </a:rPr>
              <a:t>值得关注的是                                             这个公式本质是阵元坐标点</a:t>
            </a:r>
            <a:r>
              <a:rPr lang="en-US" altLang="zh-CN" sz="1400" spc="100" dirty="0">
                <a:latin typeface="+mn-ea"/>
              </a:rPr>
              <a:t>(m*dx</a:t>
            </a:r>
            <a:r>
              <a:rPr lang="zh-CN" altLang="en-US" sz="1400" spc="100" dirty="0">
                <a:latin typeface="+mn-ea"/>
              </a:rPr>
              <a:t>，</a:t>
            </a:r>
            <a:r>
              <a:rPr lang="en-US" altLang="zh-CN" sz="1400" spc="100" dirty="0">
                <a:latin typeface="+mn-ea"/>
              </a:rPr>
              <a:t>n*</a:t>
            </a:r>
            <a:r>
              <a:rPr lang="en-US" altLang="zh-CN" sz="1400" spc="100" dirty="0" err="1">
                <a:latin typeface="+mn-ea"/>
              </a:rPr>
              <a:t>dy</a:t>
            </a:r>
            <a:r>
              <a:rPr lang="zh-CN" altLang="en-US" sz="1400" spc="100" dirty="0">
                <a:latin typeface="+mn-ea"/>
              </a:rPr>
              <a:t>，</a:t>
            </a:r>
            <a:r>
              <a:rPr lang="en-US" altLang="zh-CN" sz="1400" spc="100" dirty="0">
                <a:latin typeface="+mn-ea"/>
              </a:rPr>
              <a:t>0)</a:t>
            </a:r>
            <a:r>
              <a:rPr lang="zh-CN" altLang="en-US" sz="1400" spc="100" dirty="0">
                <a:latin typeface="+mn-ea"/>
              </a:rPr>
              <a:t>乘来波方向单位向量                                                               得到的，即相位差 </a:t>
            </a:r>
            <a:r>
              <a:rPr lang="en-US" altLang="zh-CN" sz="1400" spc="100" dirty="0">
                <a:latin typeface="+mn-ea"/>
              </a:rPr>
              <a:t>= </a:t>
            </a:r>
            <a:r>
              <a:rPr lang="zh-CN" altLang="en-US" sz="1400" spc="100" dirty="0">
                <a:latin typeface="+mn-ea"/>
              </a:rPr>
              <a:t>路程差 </a:t>
            </a:r>
            <a:r>
              <a:rPr lang="en-US" altLang="zh-CN" sz="1400" spc="100" dirty="0">
                <a:latin typeface="+mn-ea"/>
              </a:rPr>
              <a:t>÷ </a:t>
            </a:r>
            <a:r>
              <a:rPr lang="zh-CN" altLang="en-US" sz="1400" spc="100" dirty="0">
                <a:latin typeface="+mn-ea"/>
              </a:rPr>
              <a:t>波长 </a:t>
            </a:r>
            <a:r>
              <a:rPr lang="en-US" altLang="zh-CN" sz="1400" spc="100" dirty="0">
                <a:latin typeface="+mn-ea"/>
              </a:rPr>
              <a:t>× 2π</a:t>
            </a:r>
            <a:endParaRPr lang="zh-CN" altLang="en-US" sz="1400" spc="100" dirty="0">
              <a:latin typeface="+mn-ea"/>
            </a:endParaRPr>
          </a:p>
        </p:txBody>
      </p:sp>
      <p:pic>
        <p:nvPicPr>
          <p:cNvPr id="43" name="图片 42" descr="\documentclass{article}&#10;\usepackage{amsmath}&#10;\pagestyle{empty}&#10;\begin{document}&#10;&#10;&#10;\(M \times N\) &#10;&#10;\end{document}" title="IguanaTex Picture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4954" y="4960927"/>
            <a:ext cx="740703" cy="161037"/>
          </a:xfrm>
          <a:prstGeom prst="rect">
            <a:avLst/>
          </a:prstGeom>
        </p:spPr>
      </p:pic>
      <p:pic>
        <p:nvPicPr>
          <p:cNvPr id="46" name="图片 45" descr="\documentclass{article}&#10;\usepackage{amsmath}&#10;\pagestyle{empty}&#10;\begin{document}&#10;&#10; \(d_x\)&#10;&#10;&#10;\end{document}" title="IguanaTex Picture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671" y="4960927"/>
            <a:ext cx="286354" cy="273800"/>
          </a:xfrm>
          <a:prstGeom prst="rect">
            <a:avLst/>
          </a:prstGeom>
        </p:spPr>
      </p:pic>
      <p:pic>
        <p:nvPicPr>
          <p:cNvPr id="48" name="图片 47" descr="\documentclass{article}&#10;\usepackage{amsmath}&#10;\pagestyle{empty}&#10;\begin{document}&#10;&#10;  \(d_y\)&#10;&#10;&#10;\end{document}" title="IguanaTex Picture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216" y="4960927"/>
            <a:ext cx="278070" cy="314440"/>
          </a:xfrm>
          <a:prstGeom prst="rect">
            <a:avLst/>
          </a:prstGeom>
        </p:spPr>
      </p:pic>
      <p:pic>
        <p:nvPicPr>
          <p:cNvPr id="54" name="图片 53" descr="\documentclass{article}&#10;\usepackage{amsmath}&#10;\pagestyle{empty}&#10;\begin{document}&#10;&#10;\[&#10;\mathbf{u}(\phi,\theta) = \left( \cos\theta \cos\phi,\ \cos\theta \sin\phi,\ \sin\theta \right)&#10;\]&#10;&#10;&#10;\end{document}" title="IguanaTex Picture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657" y="6100641"/>
            <a:ext cx="3725034" cy="221648"/>
          </a:xfrm>
          <a:prstGeom prst="rect">
            <a:avLst/>
          </a:prstGeom>
        </p:spPr>
      </p:pic>
      <p:pic>
        <p:nvPicPr>
          <p:cNvPr id="61" name="图片 60" descr="\documentclass{article}&#10;\usepackage{amsmath}&#10;\pagestyle{empty}&#10;\begin{document}&#10;&#10;\[&#10;\mathbf{a}(\phi,\theta) = \frac{1}{\sqrt{MN}} &#10;\begin{bmatrix}&#10;1 \\&#10;e^{j\frac{2\pi}{\lambda}(d_x \cos\theta \cos\phi)} \\&#10;\vdots \\&#10;e^{j\frac{2\pi}{\lambda}((M-1)d_x \cos\theta \cos\phi + (N-1)d_y \cos\theta \sin\phi)}&#10;\end{bmatrix}&#10;\quad (MN \times 1)&#10;\]&#10;&#10;&#10;\end{document}" title="IguanaTex Picture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039" y="3448249"/>
            <a:ext cx="7850423" cy="1364480"/>
          </a:xfrm>
          <a:prstGeom prst="rect">
            <a:avLst/>
          </a:prstGeom>
        </p:spPr>
      </p:pic>
      <p:pic>
        <p:nvPicPr>
          <p:cNvPr id="65" name="图片 64" descr="\documentclass{article}&#10;\usepackage{amsmath}&#10;\pagestyle{empty}&#10;\begin{document}&#10;&#10;&#10;\[&#10;\frac{2\pi}{\lambda} \big( m d_x \cos\theta \cos\phi + n d_y \cos\theta \sin\phi \big)&#10;\]&#10;&#10;&#10;\end{document}" title="IguanaTex Picture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657" y="5678643"/>
            <a:ext cx="2811943" cy="3707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307393" y="166826"/>
            <a:ext cx="4408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</a:rPr>
              <a:t>2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</a:rPr>
              <a:t>多天线建模 </a:t>
            </a:r>
            <a:r>
              <a:rPr lang="en-US" altLang="zh-CN" sz="2400" b="1" spc="100" dirty="0">
                <a:solidFill>
                  <a:schemeClr val="accent1"/>
                </a:solidFill>
                <a:latin typeface="+mj-ea"/>
              </a:rPr>
              <a:t>|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</a:rPr>
              <a:t>阵列响应结果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957299" y="229525"/>
            <a:ext cx="355042" cy="353395"/>
            <a:chOff x="1957299" y="229525"/>
            <a:chExt cx="355042" cy="353395"/>
          </a:xfrm>
        </p:grpSpPr>
        <p:sp>
          <p:nvSpPr>
            <p:cNvPr id="9" name="矩形: 圆角 8"/>
            <p:cNvSpPr/>
            <p:nvPr/>
          </p:nvSpPr>
          <p:spPr>
            <a:xfrm>
              <a:off x="1959416" y="229995"/>
              <a:ext cx="352925" cy="352925"/>
            </a:xfrm>
            <a:prstGeom prst="round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/>
            <p:cNvSpPr/>
            <p:nvPr/>
          </p:nvSpPr>
          <p:spPr>
            <a:xfrm>
              <a:off x="1957299" y="229525"/>
              <a:ext cx="322351" cy="3223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59114" y="2449166"/>
            <a:ext cx="131318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通感一体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41242" y="3888094"/>
            <a:ext cx="74892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总结</a:t>
            </a:r>
          </a:p>
        </p:txBody>
      </p:sp>
      <p:sp>
        <p:nvSpPr>
          <p:cNvPr id="25" name="矩形 24"/>
          <p:cNvSpPr/>
          <p:nvPr/>
        </p:nvSpPr>
        <p:spPr>
          <a:xfrm>
            <a:off x="0" y="3118696"/>
            <a:ext cx="1631406" cy="5307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8049" y="3168630"/>
            <a:ext cx="159531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bg1"/>
                </a:solidFill>
                <a:latin typeface="+mj-ea"/>
                <a:ea typeface="+mj-ea"/>
              </a:rPr>
              <a:t>多天线建模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466975" y="1600835"/>
            <a:ext cx="2357755" cy="347345"/>
            <a:chOff x="2324976" y="3384883"/>
            <a:chExt cx="1387981" cy="347651"/>
          </a:xfrm>
        </p:grpSpPr>
        <p:sp>
          <p:nvSpPr>
            <p:cNvPr id="6" name="矩形: 圆角 5"/>
            <p:cNvSpPr/>
            <p:nvPr/>
          </p:nvSpPr>
          <p:spPr>
            <a:xfrm>
              <a:off x="2324976" y="3387090"/>
              <a:ext cx="1387981" cy="34544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2401041" y="3384883"/>
              <a:ext cx="1235851" cy="337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ULA/UPA</a:t>
              </a:r>
              <a:r>
                <a:rPr lang="zh-CN" altLang="en-US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建模图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6444441" y="1589193"/>
            <a:ext cx="2605216" cy="347651"/>
            <a:chOff x="2169583" y="3384883"/>
            <a:chExt cx="1698768" cy="347651"/>
          </a:xfrm>
        </p:grpSpPr>
        <p:sp>
          <p:nvSpPr>
            <p:cNvPr id="12" name="矩形: 圆角 11"/>
            <p:cNvSpPr/>
            <p:nvPr/>
          </p:nvSpPr>
          <p:spPr>
            <a:xfrm>
              <a:off x="2324976" y="3387090"/>
              <a:ext cx="1387981" cy="34544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169583" y="3384883"/>
              <a:ext cx="16987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响应结果（</a:t>
              </a:r>
              <a:r>
                <a:rPr lang="en-US" altLang="zh-CN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UPA</a:t>
              </a:r>
              <a:r>
                <a:rPr lang="zh-CN" altLang="en-US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）</a:t>
              </a: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7318168" y="4805850"/>
            <a:ext cx="4714718" cy="951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/>
              <a:t>8</a:t>
            </a:r>
            <a:r>
              <a:rPr lang="zh-CN" altLang="en-US" sz="1400" dirty="0"/>
              <a:t>阵元</a:t>
            </a:r>
            <a:r>
              <a:rPr lang="en-US" altLang="zh-CN" sz="1400" dirty="0"/>
              <a:t>ULA</a:t>
            </a:r>
            <a:r>
              <a:rPr lang="zh-CN" altLang="en-US" sz="1400" dirty="0"/>
              <a:t>，半波长间距（</a:t>
            </a:r>
            <a:r>
              <a:rPr lang="en-US" altLang="zh-CN" sz="1400" dirty="0"/>
              <a:t>d = </a:t>
            </a:r>
            <a:r>
              <a:rPr lang="el-GR" altLang="zh-CN" sz="1400" dirty="0"/>
              <a:t>λ/2</a:t>
            </a:r>
            <a:r>
              <a:rPr lang="zh-CN" altLang="en-US" sz="1400" dirty="0"/>
              <a:t>）；</a:t>
            </a:r>
            <a:r>
              <a:rPr lang="en-US" altLang="zh-CN" sz="1400" dirty="0"/>
              <a:t>512</a:t>
            </a:r>
            <a:r>
              <a:rPr lang="zh-CN" altLang="en-US" sz="1400" dirty="0"/>
              <a:t>快拍数；</a:t>
            </a:r>
            <a:r>
              <a:rPr lang="en-US" altLang="zh-CN" sz="1400" dirty="0"/>
              <a:t>SNR=8dB</a:t>
            </a:r>
            <a:endParaRPr lang="zh-CN" altLang="en-US" sz="140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859" y="2030519"/>
            <a:ext cx="3532128" cy="336139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015" y="1936844"/>
            <a:ext cx="5637136" cy="354874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6201084" y="5497277"/>
            <a:ext cx="5796998" cy="649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spc="100" dirty="0">
                <a:latin typeface="+mn-ea"/>
              </a:rPr>
              <a:t>对每个</a:t>
            </a:r>
            <a:r>
              <a:rPr lang="en-US" altLang="zh-CN" sz="1400" spc="100" dirty="0">
                <a:latin typeface="+mn-ea"/>
              </a:rPr>
              <a:t>(</a:t>
            </a:r>
            <a:r>
              <a:rPr lang="zh-CN" altLang="en-US" sz="1400" spc="100" dirty="0">
                <a:latin typeface="+mn-ea"/>
              </a:rPr>
              <a:t>方位角</a:t>
            </a:r>
            <a:r>
              <a:rPr lang="en-US" altLang="zh-CN" sz="1400" spc="100" dirty="0">
                <a:latin typeface="+mn-ea"/>
              </a:rPr>
              <a:t>, </a:t>
            </a:r>
            <a:r>
              <a:rPr lang="zh-CN" altLang="en-US" sz="1400" spc="100" dirty="0">
                <a:latin typeface="+mn-ea"/>
              </a:rPr>
              <a:t>仰角</a:t>
            </a:r>
            <a:r>
              <a:rPr lang="en-US" altLang="zh-CN" sz="1400" spc="100" dirty="0">
                <a:latin typeface="+mn-ea"/>
              </a:rPr>
              <a:t>)</a:t>
            </a:r>
            <a:r>
              <a:rPr lang="zh-CN" altLang="en-US" sz="1400" spc="100" dirty="0">
                <a:latin typeface="+mn-ea"/>
              </a:rPr>
              <a:t>方向</a:t>
            </a:r>
            <a:r>
              <a:rPr lang="en-US" altLang="zh-CN" sz="1400" spc="100" dirty="0">
                <a:latin typeface="+mn-ea"/>
              </a:rPr>
              <a:t>,</a:t>
            </a:r>
            <a:r>
              <a:rPr lang="zh-CN" altLang="en-US" sz="1400" spc="100" dirty="0">
                <a:latin typeface="+mn-ea"/>
              </a:rPr>
              <a:t>计算该方向的导向矢量</a:t>
            </a:r>
            <a:r>
              <a:rPr lang="en-US" altLang="zh-CN" sz="1400" spc="100" dirty="0">
                <a:latin typeface="+mn-ea"/>
              </a:rPr>
              <a:t>a’</a:t>
            </a:r>
            <a:r>
              <a:rPr lang="zh-CN" altLang="en-US" sz="1400" spc="100" dirty="0">
                <a:latin typeface="+mn-ea"/>
              </a:rPr>
              <a:t>并计算和目标方向的导向矢量</a:t>
            </a:r>
            <a:r>
              <a:rPr lang="en-US" altLang="zh-CN" sz="1400" spc="100" dirty="0">
                <a:latin typeface="+mn-ea"/>
              </a:rPr>
              <a:t>a</a:t>
            </a:r>
            <a:r>
              <a:rPr lang="zh-CN" altLang="en-US" sz="1400" spc="100" dirty="0">
                <a:latin typeface="+mn-ea"/>
              </a:rPr>
              <a:t>的内积</a:t>
            </a:r>
            <a:r>
              <a:rPr lang="en-US" altLang="zh-CN" sz="1400" spc="100" dirty="0">
                <a:latin typeface="+mn-ea"/>
              </a:rPr>
              <a:t>|a · a‘|²</a:t>
            </a:r>
            <a:r>
              <a:rPr lang="zh-CN" altLang="en-US" sz="1400" spc="100" dirty="0">
                <a:latin typeface="+mn-ea"/>
              </a:rPr>
              <a:t>（内积越大越亮）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307393" y="166826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</a:rPr>
              <a:t>3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</a:rPr>
              <a:t>总结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957299" y="229525"/>
            <a:ext cx="355042" cy="353395"/>
            <a:chOff x="1957299" y="229525"/>
            <a:chExt cx="355042" cy="353395"/>
          </a:xfrm>
        </p:grpSpPr>
        <p:sp>
          <p:nvSpPr>
            <p:cNvPr id="9" name="矩形: 圆角 8"/>
            <p:cNvSpPr/>
            <p:nvPr/>
          </p:nvSpPr>
          <p:spPr>
            <a:xfrm>
              <a:off x="1959416" y="229995"/>
              <a:ext cx="352925" cy="352925"/>
            </a:xfrm>
            <a:prstGeom prst="round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/>
            <p:cNvSpPr/>
            <p:nvPr/>
          </p:nvSpPr>
          <p:spPr>
            <a:xfrm>
              <a:off x="1957299" y="229525"/>
              <a:ext cx="322351" cy="3223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159113" y="2449166"/>
            <a:ext cx="131318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通感一体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18049" y="3168630"/>
            <a:ext cx="159531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多天线建模</a:t>
            </a:r>
          </a:p>
        </p:txBody>
      </p:sp>
      <p:sp>
        <p:nvSpPr>
          <p:cNvPr id="34" name="矩形 33"/>
          <p:cNvSpPr/>
          <p:nvPr/>
        </p:nvSpPr>
        <p:spPr>
          <a:xfrm>
            <a:off x="0" y="3838160"/>
            <a:ext cx="1631406" cy="5307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441241" y="3888094"/>
            <a:ext cx="74892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rgbClr val="595959"/>
                </a:solidFill>
                <a:latin typeface="+mj-ea"/>
                <a:ea typeface="+mj-ea"/>
              </a:rPr>
              <a:t>总结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751512" y="1385189"/>
            <a:ext cx="7326766" cy="4763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本周一共做了两件事件事：通感一体仿真学习（体会</a:t>
            </a:r>
            <a:r>
              <a:rPr lang="en-US" altLang="zh-CN" dirty="0"/>
              <a:t>ISAC </a:t>
            </a:r>
            <a:r>
              <a:rPr lang="zh-CN" altLang="en-US" dirty="0"/>
              <a:t>的核心矛盾：导频同时服务于通信和感知）、复习</a:t>
            </a:r>
            <a:r>
              <a:rPr lang="en-US" altLang="zh-CN" dirty="0"/>
              <a:t>ULA</a:t>
            </a:r>
            <a:r>
              <a:rPr lang="zh-CN" altLang="en-US" dirty="0"/>
              <a:t>与</a:t>
            </a:r>
            <a:r>
              <a:rPr lang="en-US" altLang="zh-CN" dirty="0"/>
              <a:t>UPA</a:t>
            </a:r>
            <a:r>
              <a:rPr lang="zh-CN" altLang="en-US" dirty="0"/>
              <a:t>的结构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对我来说学到最重要的是</a:t>
            </a:r>
            <a:r>
              <a:rPr lang="zh-CN" altLang="en-US" b="1" dirty="0"/>
              <a:t>学会了利用</a:t>
            </a:r>
            <a:r>
              <a:rPr lang="en-US" altLang="zh-CN" b="1" dirty="0"/>
              <a:t>OFDM</a:t>
            </a:r>
            <a:r>
              <a:rPr lang="zh-CN" altLang="en-US" b="1" dirty="0"/>
              <a:t>和导频实现通信与感知</a:t>
            </a:r>
            <a:r>
              <a:rPr lang="zh-CN" altLang="en-US" b="1"/>
              <a:t>的联合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不足与后续规划：不过我只实现了距离的估计而且仅仅是构建了发射端（没有进行完成的仿真链路），后续将在当前基线场景基础上，进一步加入多径传播、运动目标以及 </a:t>
            </a:r>
            <a:r>
              <a:rPr lang="en-US" altLang="zh-CN" dirty="0"/>
              <a:t>DOA </a:t>
            </a:r>
            <a:r>
              <a:rPr lang="zh-CN" altLang="en-US" dirty="0"/>
              <a:t>角度估计，并逐步完善接收端阵列信号处理与完整通感一体化链路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441246" y="4538183"/>
            <a:ext cx="74892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rgbClr val="FFFFFF"/>
                </a:solidFill>
                <a:latin typeface="+mj-ea"/>
                <a:ea typeface="+mj-ea"/>
              </a:rPr>
              <a:t>总结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 84"/>
          <p:cNvSpPr/>
          <p:nvPr/>
        </p:nvSpPr>
        <p:spPr>
          <a:xfrm>
            <a:off x="228600" y="220132"/>
            <a:ext cx="11734800" cy="6417735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 160"/>
          <p:cNvSpPr/>
          <p:nvPr/>
        </p:nvSpPr>
        <p:spPr>
          <a:xfrm>
            <a:off x="0" y="2100283"/>
            <a:ext cx="12192000" cy="2766950"/>
          </a:xfrm>
          <a:prstGeom prst="rect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文本框 161"/>
          <p:cNvSpPr txBox="1"/>
          <p:nvPr/>
        </p:nvSpPr>
        <p:spPr>
          <a:xfrm>
            <a:off x="4721266" y="3068260"/>
            <a:ext cx="27494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800" b="1" spc="200" dirty="0">
                <a:solidFill>
                  <a:schemeClr val="bg1"/>
                </a:solidFill>
                <a:latin typeface="+mj-ea"/>
                <a:ea typeface="+mj-ea"/>
              </a:rPr>
              <a:t>汇报结束</a:t>
            </a:r>
          </a:p>
        </p:txBody>
      </p:sp>
      <p:sp>
        <p:nvSpPr>
          <p:cNvPr id="170" name="图形 103"/>
          <p:cNvSpPr/>
          <p:nvPr/>
        </p:nvSpPr>
        <p:spPr>
          <a:xfrm>
            <a:off x="5217941" y="5093828"/>
            <a:ext cx="187958" cy="220553"/>
          </a:xfrm>
          <a:custGeom>
            <a:avLst/>
            <a:gdLst>
              <a:gd name="connsiteX0" fmla="*/ 57047 w 187958"/>
              <a:gd name="connsiteY0" fmla="*/ 123640 h 220553"/>
              <a:gd name="connsiteX1" fmla="*/ 26647 w 187958"/>
              <a:gd name="connsiteY1" fmla="*/ 67332 h 220553"/>
              <a:gd name="connsiteX2" fmla="*/ 93979 w 187958"/>
              <a:gd name="connsiteY2" fmla="*/ 0 h 220553"/>
              <a:gd name="connsiteX3" fmla="*/ 161311 w 187958"/>
              <a:gd name="connsiteY3" fmla="*/ 67332 h 220553"/>
              <a:gd name="connsiteX4" fmla="*/ 130911 w 187958"/>
              <a:gd name="connsiteY4" fmla="*/ 123640 h 220553"/>
              <a:gd name="connsiteX5" fmla="*/ 187958 w 187958"/>
              <a:gd name="connsiteY5" fmla="*/ 210085 h 220553"/>
              <a:gd name="connsiteX6" fmla="*/ 177490 w 187958"/>
              <a:gd name="connsiteY6" fmla="*/ 220554 h 220553"/>
              <a:gd name="connsiteX7" fmla="*/ 167021 w 187958"/>
              <a:gd name="connsiteY7" fmla="*/ 210085 h 220553"/>
              <a:gd name="connsiteX8" fmla="*/ 93979 w 187958"/>
              <a:gd name="connsiteY8" fmla="*/ 137043 h 220553"/>
              <a:gd name="connsiteX9" fmla="*/ 20937 w 187958"/>
              <a:gd name="connsiteY9" fmla="*/ 210085 h 220553"/>
              <a:gd name="connsiteX10" fmla="*/ 10469 w 187958"/>
              <a:gd name="connsiteY10" fmla="*/ 220554 h 220553"/>
              <a:gd name="connsiteX11" fmla="*/ 0 w 187958"/>
              <a:gd name="connsiteY11" fmla="*/ 210085 h 220553"/>
              <a:gd name="connsiteX12" fmla="*/ 57047 w 187958"/>
              <a:gd name="connsiteY12" fmla="*/ 123640 h 220553"/>
              <a:gd name="connsiteX13" fmla="*/ 93979 w 187958"/>
              <a:gd name="connsiteY13" fmla="*/ 113727 h 220553"/>
              <a:gd name="connsiteX14" fmla="*/ 140374 w 187958"/>
              <a:gd name="connsiteY14" fmla="*/ 67332 h 220553"/>
              <a:gd name="connsiteX15" fmla="*/ 93979 w 187958"/>
              <a:gd name="connsiteY15" fmla="*/ 20937 h 220553"/>
              <a:gd name="connsiteX16" fmla="*/ 47584 w 187958"/>
              <a:gd name="connsiteY16" fmla="*/ 67332 h 220553"/>
              <a:gd name="connsiteX17" fmla="*/ 93979 w 187958"/>
              <a:gd name="connsiteY17" fmla="*/ 113727 h 220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7958" h="220553">
                <a:moveTo>
                  <a:pt x="57047" y="123640"/>
                </a:moveTo>
                <a:cubicBezTo>
                  <a:pt x="38737" y="111606"/>
                  <a:pt x="26647" y="90881"/>
                  <a:pt x="26647" y="67332"/>
                </a:cubicBezTo>
                <a:cubicBezTo>
                  <a:pt x="26647" y="30145"/>
                  <a:pt x="56793" y="0"/>
                  <a:pt x="93979" y="0"/>
                </a:cubicBezTo>
                <a:cubicBezTo>
                  <a:pt x="131166" y="0"/>
                  <a:pt x="161311" y="30145"/>
                  <a:pt x="161311" y="67332"/>
                </a:cubicBezTo>
                <a:cubicBezTo>
                  <a:pt x="161311" y="90881"/>
                  <a:pt x="149222" y="111606"/>
                  <a:pt x="130911" y="123640"/>
                </a:cubicBezTo>
                <a:cubicBezTo>
                  <a:pt x="164455" y="137990"/>
                  <a:pt x="187958" y="171293"/>
                  <a:pt x="187958" y="210085"/>
                </a:cubicBezTo>
                <a:cubicBezTo>
                  <a:pt x="187958" y="215867"/>
                  <a:pt x="183271" y="220554"/>
                  <a:pt x="177490" y="220554"/>
                </a:cubicBezTo>
                <a:cubicBezTo>
                  <a:pt x="171708" y="220554"/>
                  <a:pt x="167021" y="215867"/>
                  <a:pt x="167021" y="210085"/>
                </a:cubicBezTo>
                <a:cubicBezTo>
                  <a:pt x="167021" y="169745"/>
                  <a:pt x="134319" y="137043"/>
                  <a:pt x="93979" y="137043"/>
                </a:cubicBezTo>
                <a:cubicBezTo>
                  <a:pt x="53639" y="137043"/>
                  <a:pt x="20937" y="169745"/>
                  <a:pt x="20937" y="210085"/>
                </a:cubicBezTo>
                <a:cubicBezTo>
                  <a:pt x="20937" y="215867"/>
                  <a:pt x="16250" y="220554"/>
                  <a:pt x="10469" y="220554"/>
                </a:cubicBezTo>
                <a:cubicBezTo>
                  <a:pt x="4687" y="220554"/>
                  <a:pt x="0" y="215867"/>
                  <a:pt x="0" y="210085"/>
                </a:cubicBezTo>
                <a:cubicBezTo>
                  <a:pt x="0" y="171293"/>
                  <a:pt x="23504" y="137990"/>
                  <a:pt x="57047" y="123640"/>
                </a:cubicBezTo>
                <a:close/>
                <a:moveTo>
                  <a:pt x="93979" y="113727"/>
                </a:moveTo>
                <a:cubicBezTo>
                  <a:pt x="119602" y="113727"/>
                  <a:pt x="140374" y="92955"/>
                  <a:pt x="140374" y="67332"/>
                </a:cubicBezTo>
                <a:cubicBezTo>
                  <a:pt x="140374" y="41709"/>
                  <a:pt x="119602" y="20937"/>
                  <a:pt x="93979" y="20937"/>
                </a:cubicBezTo>
                <a:cubicBezTo>
                  <a:pt x="68356" y="20937"/>
                  <a:pt x="47584" y="41709"/>
                  <a:pt x="47584" y="67332"/>
                </a:cubicBezTo>
                <a:cubicBezTo>
                  <a:pt x="47584" y="92955"/>
                  <a:pt x="68356" y="113727"/>
                  <a:pt x="93979" y="113727"/>
                </a:cubicBezTo>
                <a:close/>
              </a:path>
            </a:pathLst>
          </a:custGeom>
          <a:solidFill>
            <a:schemeClr val="accent1"/>
          </a:solidFill>
          <a:ln w="23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1" name="文本框 170"/>
          <p:cNvSpPr txBox="1"/>
          <p:nvPr/>
        </p:nvSpPr>
        <p:spPr>
          <a:xfrm>
            <a:off x="5426685" y="5035571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汇报人：董泰伦</a:t>
            </a:r>
            <a:endParaRPr lang="en-US" altLang="zh-CN" dirty="0">
              <a:latin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0358267716535,&quot;left&quot;:505.3692125984252,&quot;top&quot;:111.98212598425195,&quot;width&quot;:253.0259842519684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0358267716535,&quot;left&quot;:505.3692125984252,&quot;top&quot;:111.98212598425195,&quot;width&quot;:253.0259842519684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0358267716535,&quot;left&quot;:505.3692125984252,&quot;top&quot;:111.98212598425195,&quot;width&quot;:253.0259842519684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0358267716535,&quot;left&quot;:505.3692125984252,&quot;top&quot;:111.98212598425195,&quot;width&quot;:253.0259842519684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0358267716535,&quot;left&quot;:505.3692125984252,&quot;top&quot;:111.98212598425195,&quot;width&quot;:253.0259842519684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0358267716535,&quot;left&quot;:505.3692125984252,&quot;top&quot;:111.98212598425195,&quot;width&quot;:253.0259842519684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5000"/>
  <p:tag name="ORIGINALHEIGHT" val=" 1073.116"/>
  <p:tag name="ORIGINALWIDTH" val=" 12092.99"/>
  <p:tag name="OUTPUTTYPE" val="PNG"/>
  <p:tag name="IGUANATEXVERSION" val="162"/>
  <p:tag name="LATEXADDIN" val="\documentclass{article}&#10;\usepackage{amsmath}&#10;\pagestyle{empty}&#10;\begin{document}&#10;&#10;\[&#10;\mathbf{a}(\theta) = \begin{bmatrix} 1 &amp; e^{-j\phi} &amp; \cdots &amp; e^{-j(M-1)\phi} \end{bmatrix}^T,&#10;\quad \phi = \frac{2\pi d}{\lambda}\sin\theta&#10;\]&#10;&#10;&#10;\end{document}"/>
  <p:tag name="IGUANATEXSIZE" val="20"/>
  <p:tag name="IGUANATEXCURSOR" val="22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5000"/>
  <p:tag name="ORIGINALHEIGHT" val=" 353.9557"/>
  <p:tag name="ORIGINALWIDTH" val=" 1628.047"/>
  <p:tag name="OUTPUTTYPE" val="PNG"/>
  <p:tag name="IGUANATEXVERSION" val="162"/>
  <p:tag name="LATEXADDIN" val="\documentclass{article}&#10;\usepackage{amsmath}&#10;\pagestyle{empty}&#10;\begin{document}&#10;&#10;&#10;\(M \times N\) &#10;&#10;\end{document}"/>
  <p:tag name="IGUANATEXSIZE" val="14"/>
  <p:tag name="IGUANATEXCURSOR" val="9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5000"/>
  <p:tag name="ORIGINALHEIGHT" val=" 441.6948"/>
  <p:tag name="ORIGINALWIDTH" val=" 461.9423"/>
  <p:tag name="OUTPUTTYPE" val="PNG"/>
  <p:tag name="IGUANATEXVERSION" val="162"/>
  <p:tag name="LATEXADDIN" val="\documentclass{article}&#10;\usepackage{amsmath}&#10;\pagestyle{empty}&#10;\begin{document}&#10;&#10; \(d_x\)&#10;&#10;&#10;\end{document}"/>
  <p:tag name="IGUANATEXSIZE" val="14"/>
  <p:tag name="IGUANATEXCURSOR" val="8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5000"/>
  <p:tag name="ORIGINALHEIGHT" val=" 512.186"/>
  <p:tag name="ORIGINALWIDTH" val=" 452.9434"/>
  <p:tag name="OUTPUTTYPE" val="PNG"/>
  <p:tag name="IGUANATEXVERSION" val="162"/>
  <p:tag name="LATEXADDIN" val="\documentclass{article}&#10;\usepackage{amsmath}&#10;\pagestyle{empty}&#10;\begin{document}&#10;&#10;  \(d_y\)&#10;&#10;&#10;\end{document}"/>
  <p:tag name="IGUANATEXSIZE" val="14"/>
  <p:tag name="IGUANATEXCURSOR" val="9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5000"/>
  <p:tag name="ORIGINALHEIGHT" val=" 518.1852"/>
  <p:tag name="ORIGINALWIDTH" val=" 8708.661"/>
  <p:tag name="OUTPUTTYPE" val="PNG"/>
  <p:tag name="IGUANATEXVERSION" val="162"/>
  <p:tag name="LATEXADDIN" val="\documentclass{article}&#10;\usepackage{amsmath}&#10;\pagestyle{empty}&#10;\begin{document}&#10;&#10;\[&#10;\mathbf{u}(\phi,\theta) = \left( \cos\theta \cos\phi,\ \cos\theta \sin\phi,\ \sin\theta \right)&#10;\]&#10;&#10;&#10;\end{document}"/>
  <p:tag name="IGUANATEXSIZE" val="14"/>
  <p:tag name="IGUANATEXCURSOR" val="18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5000"/>
  <p:tag name="ORIGINALHEIGHT" val=" 2797.9"/>
  <p:tag name="ORIGINALWIDTH" val=" 16097.49"/>
  <p:tag name="OUTPUTTYPE" val="PNG"/>
  <p:tag name="IGUANATEXVERSION" val="162"/>
  <p:tag name="LATEXADDIN" val="\documentclass{article}&#10;\usepackage{amsmath}&#10;\pagestyle{empty}&#10;\begin{document}&#10;&#10;\[&#10;\mathbf{a}(\phi,\theta) = \frac{1}{\sqrt{MN}} &#10;\begin{bmatrix}&#10;1 \\&#10;e^{j\frac{2\pi}{\lambda}(d_x \cos\theta \cos\phi)} \\&#10;\vdots \\&#10;e^{j\frac{2\pi}{\lambda}((M-1)d_x \cos\theta \cos\phi + (N-1)d_y \cos\theta \sin\phi)}&#10;\end{bmatrix}&#10;\quad (MN \times 1)&#10;\]&#10;&#10;&#10;\end{document}"/>
  <p:tag name="IGUANATEXSIZE" val="20"/>
  <p:tag name="IGUANATEXCURSOR" val="33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5000"/>
  <p:tag name="ORIGINALHEIGHT" val=" 1058.118"/>
  <p:tag name="ORIGINALWIDTH" val=" 8024.747"/>
  <p:tag name="OUTPUTTYPE" val="PNG"/>
  <p:tag name="IGUANATEXVERSION" val="162"/>
  <p:tag name="LATEXADDIN" val="\documentclass{article}&#10;\usepackage{amsmath}&#10;\pagestyle{empty}&#10;\begin{document}&#10;&#10;&#10;\[&#10;\frac{2\pi}{\lambda} \big( m d_x \cos\theta \cos\phi + n d_y \cos\theta \sin\phi \big)&#10;\]&#10;&#10;&#10;\end{document}"/>
  <p:tag name="IGUANATEXSIZE" val="20"/>
  <p:tag name="IGUANATEXCURSOR" val="17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heme/theme1.xml><?xml version="1.0" encoding="utf-8"?>
<a:theme xmlns:a="http://schemas.openxmlformats.org/drawingml/2006/main" name="Office 主题​​">
  <a:themeElements>
    <a:clrScheme name="蓝色​​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777</Words>
  <Application>Microsoft Office PowerPoint</Application>
  <PresentationFormat>宽屏</PresentationFormat>
  <Paragraphs>69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微软雅黑</vt:lpstr>
      <vt:lpstr>微软雅黑 Light</vt:lpstr>
      <vt:lpstr>Arial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香 草</dc:creator>
  <cp:lastModifiedBy>KRT yok</cp:lastModifiedBy>
  <cp:revision>984</cp:revision>
  <dcterms:created xsi:type="dcterms:W3CDTF">2025-01-21T09:40:00Z</dcterms:created>
  <dcterms:modified xsi:type="dcterms:W3CDTF">2026-05-09T07:35:00Z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C6FC8586441F472A82B45EE507A4A37E_13</vt:lpwstr>
  </property>
  <property fmtid="{D5CDD505-2E9C-101B-9397-08002B2CF9AE}" pid="3" name="KSOProductBuildVer">
    <vt:lpwstr>2052-12.8.2.18913</vt:lpwstr>
  </property>
</Properties>
</file>