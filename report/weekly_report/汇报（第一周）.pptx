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70" r:id="rId2"/>
    <p:sldId id="371" r:id="rId3"/>
    <p:sldId id="369" r:id="rId4"/>
    <p:sldId id="391" r:id="rId5"/>
    <p:sldId id="396" r:id="rId6"/>
    <p:sldId id="397" r:id="rId7"/>
    <p:sldId id="362" r:id="rId8"/>
    <p:sldId id="398" r:id="rId9"/>
    <p:sldId id="38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6" userDrawn="1">
          <p15:clr>
            <a:srgbClr val="A4A3A4"/>
          </p15:clr>
        </p15:guide>
        <p15:guide id="2" pos="4181" userDrawn="1">
          <p15:clr>
            <a:srgbClr val="A4A3A4"/>
          </p15:clr>
        </p15:guide>
        <p15:guide id="3" orient="horz" pos="562" userDrawn="1">
          <p15:clr>
            <a:srgbClr val="A4A3A4"/>
          </p15:clr>
        </p15:guide>
        <p15:guide id="4" pos="1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95959"/>
    <a:srgbClr val="0F6FC6"/>
    <a:srgbClr val="C3DFAF"/>
    <a:srgbClr val="C3C3C3"/>
    <a:srgbClr val="C1C1C1"/>
    <a:srgbClr val="C1C3C1"/>
    <a:srgbClr val="D7D7D7"/>
    <a:srgbClr val="C37839"/>
    <a:srgbClr val="F5D2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5664" autoAdjust="0"/>
  </p:normalViewPr>
  <p:slideViewPr>
    <p:cSldViewPr snapToGrid="0" showGuides="1">
      <p:cViewPr varScale="1">
        <p:scale>
          <a:sx n="96" d="100"/>
          <a:sy n="96" d="100"/>
        </p:scale>
        <p:origin x="436" y="52"/>
      </p:cViewPr>
      <p:guideLst>
        <p:guide orient="horz" pos="1996"/>
        <p:guide pos="4181"/>
        <p:guide orient="horz" pos="562"/>
        <p:guide pos="1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2419350" y="628491"/>
            <a:ext cx="9481914" cy="0"/>
          </a:xfrm>
          <a:prstGeom prst="line">
            <a:avLst/>
          </a:prstGeom>
          <a:ln w="158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0" y="0"/>
            <a:ext cx="163140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4" name="组合 83"/>
          <p:cNvGrpSpPr/>
          <p:nvPr userDrawn="1"/>
        </p:nvGrpSpPr>
        <p:grpSpPr>
          <a:xfrm>
            <a:off x="561435" y="5953785"/>
            <a:ext cx="508537" cy="351105"/>
            <a:chOff x="1494889" y="5953785"/>
            <a:chExt cx="508537" cy="351105"/>
          </a:xfrm>
          <a:solidFill>
            <a:schemeClr val="accent1"/>
          </a:solidFill>
        </p:grpSpPr>
        <p:sp>
          <p:nvSpPr>
            <p:cNvPr id="85" name="矩形: 圆角 84"/>
            <p:cNvSpPr/>
            <p:nvPr/>
          </p:nvSpPr>
          <p:spPr>
            <a:xfrm>
              <a:off x="1494889" y="6230601"/>
              <a:ext cx="508537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: 圆角 85"/>
            <p:cNvSpPr/>
            <p:nvPr/>
          </p:nvSpPr>
          <p:spPr>
            <a:xfrm>
              <a:off x="1581555" y="6092193"/>
              <a:ext cx="335203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1659665" y="5953785"/>
              <a:ext cx="178984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228600" y="220132"/>
            <a:ext cx="11734800" cy="641773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/>
        </p:nvSpPr>
        <p:spPr>
          <a:xfrm>
            <a:off x="0" y="2100283"/>
            <a:ext cx="12192000" cy="2766950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5101496" y="3862187"/>
            <a:ext cx="2108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spc="200" dirty="0">
                <a:solidFill>
                  <a:schemeClr val="bg1"/>
                </a:solidFill>
                <a:latin typeface="+mj-ea"/>
                <a:ea typeface="+mj-ea"/>
              </a:rPr>
              <a:t>第一周进展</a:t>
            </a:r>
          </a:p>
        </p:txBody>
      </p:sp>
      <p:sp>
        <p:nvSpPr>
          <p:cNvPr id="170" name="图形 103"/>
          <p:cNvSpPr/>
          <p:nvPr/>
        </p:nvSpPr>
        <p:spPr>
          <a:xfrm>
            <a:off x="5217941" y="5093828"/>
            <a:ext cx="187958" cy="220553"/>
          </a:xfrm>
          <a:custGeom>
            <a:avLst/>
            <a:gdLst>
              <a:gd name="connsiteX0" fmla="*/ 57047 w 187958"/>
              <a:gd name="connsiteY0" fmla="*/ 123640 h 220553"/>
              <a:gd name="connsiteX1" fmla="*/ 26647 w 187958"/>
              <a:gd name="connsiteY1" fmla="*/ 67332 h 220553"/>
              <a:gd name="connsiteX2" fmla="*/ 93979 w 187958"/>
              <a:gd name="connsiteY2" fmla="*/ 0 h 220553"/>
              <a:gd name="connsiteX3" fmla="*/ 161311 w 187958"/>
              <a:gd name="connsiteY3" fmla="*/ 67332 h 220553"/>
              <a:gd name="connsiteX4" fmla="*/ 130911 w 187958"/>
              <a:gd name="connsiteY4" fmla="*/ 123640 h 220553"/>
              <a:gd name="connsiteX5" fmla="*/ 187958 w 187958"/>
              <a:gd name="connsiteY5" fmla="*/ 210085 h 220553"/>
              <a:gd name="connsiteX6" fmla="*/ 177490 w 187958"/>
              <a:gd name="connsiteY6" fmla="*/ 220554 h 220553"/>
              <a:gd name="connsiteX7" fmla="*/ 167021 w 187958"/>
              <a:gd name="connsiteY7" fmla="*/ 210085 h 220553"/>
              <a:gd name="connsiteX8" fmla="*/ 93979 w 187958"/>
              <a:gd name="connsiteY8" fmla="*/ 137043 h 220553"/>
              <a:gd name="connsiteX9" fmla="*/ 20937 w 187958"/>
              <a:gd name="connsiteY9" fmla="*/ 210085 h 220553"/>
              <a:gd name="connsiteX10" fmla="*/ 10469 w 187958"/>
              <a:gd name="connsiteY10" fmla="*/ 220554 h 220553"/>
              <a:gd name="connsiteX11" fmla="*/ 0 w 187958"/>
              <a:gd name="connsiteY11" fmla="*/ 210085 h 220553"/>
              <a:gd name="connsiteX12" fmla="*/ 57047 w 187958"/>
              <a:gd name="connsiteY12" fmla="*/ 123640 h 220553"/>
              <a:gd name="connsiteX13" fmla="*/ 93979 w 187958"/>
              <a:gd name="connsiteY13" fmla="*/ 113727 h 220553"/>
              <a:gd name="connsiteX14" fmla="*/ 140374 w 187958"/>
              <a:gd name="connsiteY14" fmla="*/ 67332 h 220553"/>
              <a:gd name="connsiteX15" fmla="*/ 93979 w 187958"/>
              <a:gd name="connsiteY15" fmla="*/ 20937 h 220553"/>
              <a:gd name="connsiteX16" fmla="*/ 47584 w 187958"/>
              <a:gd name="connsiteY16" fmla="*/ 67332 h 220553"/>
              <a:gd name="connsiteX17" fmla="*/ 93979 w 187958"/>
              <a:gd name="connsiteY17" fmla="*/ 113727 h 22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7958" h="220553">
                <a:moveTo>
                  <a:pt x="57047" y="123640"/>
                </a:moveTo>
                <a:cubicBezTo>
                  <a:pt x="38737" y="111606"/>
                  <a:pt x="26647" y="90881"/>
                  <a:pt x="26647" y="67332"/>
                </a:cubicBezTo>
                <a:cubicBezTo>
                  <a:pt x="26647" y="30145"/>
                  <a:pt x="56793" y="0"/>
                  <a:pt x="93979" y="0"/>
                </a:cubicBezTo>
                <a:cubicBezTo>
                  <a:pt x="131166" y="0"/>
                  <a:pt x="161311" y="30145"/>
                  <a:pt x="161311" y="67332"/>
                </a:cubicBezTo>
                <a:cubicBezTo>
                  <a:pt x="161311" y="90881"/>
                  <a:pt x="149222" y="111606"/>
                  <a:pt x="130911" y="123640"/>
                </a:cubicBezTo>
                <a:cubicBezTo>
                  <a:pt x="164455" y="137990"/>
                  <a:pt x="187958" y="171293"/>
                  <a:pt x="187958" y="210085"/>
                </a:cubicBezTo>
                <a:cubicBezTo>
                  <a:pt x="187958" y="215867"/>
                  <a:pt x="183271" y="220554"/>
                  <a:pt x="177490" y="220554"/>
                </a:cubicBezTo>
                <a:cubicBezTo>
                  <a:pt x="171708" y="220554"/>
                  <a:pt x="167021" y="215867"/>
                  <a:pt x="167021" y="210085"/>
                </a:cubicBezTo>
                <a:cubicBezTo>
                  <a:pt x="167021" y="169745"/>
                  <a:pt x="134319" y="137043"/>
                  <a:pt x="93979" y="137043"/>
                </a:cubicBezTo>
                <a:cubicBezTo>
                  <a:pt x="53639" y="137043"/>
                  <a:pt x="20937" y="169745"/>
                  <a:pt x="20937" y="210085"/>
                </a:cubicBezTo>
                <a:cubicBezTo>
                  <a:pt x="20937" y="215867"/>
                  <a:pt x="16250" y="220554"/>
                  <a:pt x="10469" y="220554"/>
                </a:cubicBezTo>
                <a:cubicBezTo>
                  <a:pt x="4687" y="220554"/>
                  <a:pt x="0" y="215867"/>
                  <a:pt x="0" y="210085"/>
                </a:cubicBezTo>
                <a:cubicBezTo>
                  <a:pt x="0" y="171293"/>
                  <a:pt x="23504" y="137990"/>
                  <a:pt x="57047" y="123640"/>
                </a:cubicBezTo>
                <a:close/>
                <a:moveTo>
                  <a:pt x="93979" y="113727"/>
                </a:moveTo>
                <a:cubicBezTo>
                  <a:pt x="119602" y="113727"/>
                  <a:pt x="140374" y="92955"/>
                  <a:pt x="140374" y="67332"/>
                </a:cubicBezTo>
                <a:cubicBezTo>
                  <a:pt x="140374" y="41709"/>
                  <a:pt x="119602" y="20937"/>
                  <a:pt x="93979" y="20937"/>
                </a:cubicBezTo>
                <a:cubicBezTo>
                  <a:pt x="68356" y="20937"/>
                  <a:pt x="47584" y="41709"/>
                  <a:pt x="47584" y="67332"/>
                </a:cubicBezTo>
                <a:cubicBezTo>
                  <a:pt x="47584" y="92955"/>
                  <a:pt x="68356" y="113727"/>
                  <a:pt x="93979" y="113727"/>
                </a:cubicBezTo>
                <a:close/>
              </a:path>
            </a:pathLst>
          </a:custGeom>
          <a:solidFill>
            <a:schemeClr val="accent1"/>
          </a:solidFill>
          <a:ln w="23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5426685" y="5035571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汇报人：董泰伦</a:t>
            </a:r>
            <a:endParaRPr lang="en-US" altLang="zh-CN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BCBC2A-F50C-8623-6C07-8018619CB369}"/>
              </a:ext>
            </a:extLst>
          </p:cNvPr>
          <p:cNvSpPr txBox="1"/>
          <p:nvPr/>
        </p:nvSpPr>
        <p:spPr>
          <a:xfrm>
            <a:off x="434193" y="2730330"/>
            <a:ext cx="11323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低空无人机通感一体化波形与</a:t>
            </a:r>
            <a:r>
              <a:rPr lang="en-US" altLang="zh-CN" sz="4800" b="1" spc="200" dirty="0">
                <a:solidFill>
                  <a:schemeClr val="bg1"/>
                </a:solidFill>
                <a:latin typeface="+mj-ea"/>
                <a:ea typeface="+mj-ea"/>
              </a:rPr>
              <a:t>DOA</a:t>
            </a:r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估计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0" y="2127250"/>
            <a:ext cx="4775200" cy="2603500"/>
          </a:xfrm>
          <a:custGeom>
            <a:avLst/>
            <a:gdLst>
              <a:gd name="connsiteX0" fmla="*/ 0 w 4775200"/>
              <a:gd name="connsiteY0" fmla="*/ 0 h 2603500"/>
              <a:gd name="connsiteX1" fmla="*/ 3473450 w 4775200"/>
              <a:gd name="connsiteY1" fmla="*/ 0 h 2603500"/>
              <a:gd name="connsiteX2" fmla="*/ 4775200 w 4775200"/>
              <a:gd name="connsiteY2" fmla="*/ 1301750 h 2603500"/>
              <a:gd name="connsiteX3" fmla="*/ 3473450 w 4775200"/>
              <a:gd name="connsiteY3" fmla="*/ 2603500 h 2603500"/>
              <a:gd name="connsiteX4" fmla="*/ 0 w 4775200"/>
              <a:gd name="connsiteY4" fmla="*/ 260350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0" h="2603500">
                <a:moveTo>
                  <a:pt x="0" y="0"/>
                </a:moveTo>
                <a:lnTo>
                  <a:pt x="3473450" y="0"/>
                </a:lnTo>
                <a:cubicBezTo>
                  <a:pt x="4192387" y="0"/>
                  <a:pt x="4775200" y="582813"/>
                  <a:pt x="4775200" y="1301750"/>
                </a:cubicBezTo>
                <a:cubicBezTo>
                  <a:pt x="4775200" y="2020687"/>
                  <a:pt x="4192387" y="2603500"/>
                  <a:pt x="3473450" y="2603500"/>
                </a:cubicBezTo>
                <a:lnTo>
                  <a:pt x="0" y="2603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02336" y="2672804"/>
            <a:ext cx="19030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1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15161" y="3668828"/>
            <a:ext cx="1877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spc="300" dirty="0">
                <a:solidFill>
                  <a:schemeClr val="bg1">
                    <a:alpha val="8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contents</a:t>
            </a:r>
            <a:endParaRPr lang="zh-CN" altLang="en-US" sz="2800" b="1" spc="300" dirty="0">
              <a:solidFill>
                <a:schemeClr val="bg1">
                  <a:alpha val="8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39882" y="1482028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01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416802" y="1476314"/>
            <a:ext cx="2214880" cy="70675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综述阅读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439882" y="2561528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02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7416802" y="2555814"/>
            <a:ext cx="2390775" cy="70675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DOA复习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439882" y="3641028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03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7416802" y="3635314"/>
            <a:ext cx="2940050" cy="70675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Sionna学习</a:t>
            </a:r>
          </a:p>
        </p:txBody>
      </p:sp>
      <p:grpSp>
        <p:nvGrpSpPr>
          <p:cNvPr id="14" name="组合 13"/>
          <p:cNvGrpSpPr/>
          <p:nvPr/>
        </p:nvGrpSpPr>
        <p:grpSpPr>
          <a:xfrm flipH="1">
            <a:off x="11088622" y="389631"/>
            <a:ext cx="596597" cy="262959"/>
            <a:chOff x="352728" y="249931"/>
            <a:chExt cx="723900" cy="319070"/>
          </a:xfrm>
        </p:grpSpPr>
        <p:sp>
          <p:nvSpPr>
            <p:cNvPr id="15" name="矩形: 圆角 14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flipV="1">
            <a:off x="518832" y="6208607"/>
            <a:ext cx="596597" cy="262959"/>
            <a:chOff x="352728" y="249931"/>
            <a:chExt cx="723900" cy="319070"/>
          </a:xfrm>
        </p:grpSpPr>
        <p:sp>
          <p:nvSpPr>
            <p:cNvPr id="19" name="矩形: 圆角 18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11043763" y="5932117"/>
            <a:ext cx="630808" cy="552979"/>
            <a:chOff x="1143409" y="5756683"/>
            <a:chExt cx="226164" cy="198260"/>
          </a:xfrm>
          <a:solidFill>
            <a:schemeClr val="accent1"/>
          </a:solidFill>
        </p:grpSpPr>
        <p:sp>
          <p:nvSpPr>
            <p:cNvPr id="98" name="任意多边形: 形状 97"/>
            <p:cNvSpPr/>
            <p:nvPr/>
          </p:nvSpPr>
          <p:spPr>
            <a:xfrm>
              <a:off x="1143409" y="5756683"/>
              <a:ext cx="226164" cy="130990"/>
            </a:xfrm>
            <a:custGeom>
              <a:avLst/>
              <a:gdLst>
                <a:gd name="connsiteX0" fmla="*/ 109937 w 226164"/>
                <a:gd name="connsiteY0" fmla="*/ 130990 h 130990"/>
                <a:gd name="connsiteX1" fmla="*/ 105971 w 226164"/>
                <a:gd name="connsiteY1" fmla="*/ 129954 h 130990"/>
                <a:gd name="connsiteX2" fmla="*/ 4118 w 226164"/>
                <a:gd name="connsiteY2" fmla="*/ 72586 h 130990"/>
                <a:gd name="connsiteX3" fmla="*/ 0 w 226164"/>
                <a:gd name="connsiteY3" fmla="*/ 65538 h 130990"/>
                <a:gd name="connsiteX4" fmla="*/ 4118 w 226164"/>
                <a:gd name="connsiteY4" fmla="*/ 58490 h 130990"/>
                <a:gd name="connsiteX5" fmla="*/ 105971 w 226164"/>
                <a:gd name="connsiteY5" fmla="*/ 1046 h 130990"/>
                <a:gd name="connsiteX6" fmla="*/ 113727 w 226164"/>
                <a:gd name="connsiteY6" fmla="*/ 945 h 130990"/>
                <a:gd name="connsiteX7" fmla="*/ 221870 w 226164"/>
                <a:gd name="connsiteY7" fmla="*/ 58439 h 130990"/>
                <a:gd name="connsiteX8" fmla="*/ 226165 w 226164"/>
                <a:gd name="connsiteY8" fmla="*/ 65588 h 130990"/>
                <a:gd name="connsiteX9" fmla="*/ 221870 w 226164"/>
                <a:gd name="connsiteY9" fmla="*/ 72737 h 130990"/>
                <a:gd name="connsiteX10" fmla="*/ 113701 w 226164"/>
                <a:gd name="connsiteY10" fmla="*/ 130081 h 130990"/>
                <a:gd name="connsiteX11" fmla="*/ 109937 w 226164"/>
                <a:gd name="connsiteY11" fmla="*/ 130990 h 130990"/>
                <a:gd name="connsiteX12" fmla="*/ 24529 w 226164"/>
                <a:gd name="connsiteY12" fmla="*/ 65538 h 130990"/>
                <a:gd name="connsiteX13" fmla="*/ 110038 w 226164"/>
                <a:gd name="connsiteY13" fmla="*/ 113711 h 130990"/>
                <a:gd name="connsiteX14" fmla="*/ 200828 w 226164"/>
                <a:gd name="connsiteY14" fmla="*/ 65563 h 130990"/>
                <a:gd name="connsiteX15" fmla="*/ 110038 w 226164"/>
                <a:gd name="connsiteY15" fmla="*/ 17339 h 130990"/>
                <a:gd name="connsiteX16" fmla="*/ 24529 w 226164"/>
                <a:gd name="connsiteY16" fmla="*/ 65538 h 130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6164" h="130990">
                  <a:moveTo>
                    <a:pt x="109937" y="130990"/>
                  </a:moveTo>
                  <a:cubicBezTo>
                    <a:pt x="108573" y="130990"/>
                    <a:pt x="107209" y="130636"/>
                    <a:pt x="105971" y="129954"/>
                  </a:cubicBezTo>
                  <a:lnTo>
                    <a:pt x="4118" y="72586"/>
                  </a:lnTo>
                  <a:cubicBezTo>
                    <a:pt x="1566" y="71146"/>
                    <a:pt x="0" y="68468"/>
                    <a:pt x="0" y="65538"/>
                  </a:cubicBezTo>
                  <a:cubicBezTo>
                    <a:pt x="0" y="62608"/>
                    <a:pt x="1566" y="59930"/>
                    <a:pt x="4118" y="58490"/>
                  </a:cubicBezTo>
                  <a:lnTo>
                    <a:pt x="105971" y="1046"/>
                  </a:lnTo>
                  <a:cubicBezTo>
                    <a:pt x="108371" y="-318"/>
                    <a:pt x="111301" y="-344"/>
                    <a:pt x="113727" y="945"/>
                  </a:cubicBezTo>
                  <a:lnTo>
                    <a:pt x="221870" y="58439"/>
                  </a:lnTo>
                  <a:cubicBezTo>
                    <a:pt x="224523" y="59854"/>
                    <a:pt x="226165" y="62582"/>
                    <a:pt x="226165" y="65588"/>
                  </a:cubicBezTo>
                  <a:cubicBezTo>
                    <a:pt x="226165" y="68595"/>
                    <a:pt x="224523" y="71323"/>
                    <a:pt x="221870" y="72737"/>
                  </a:cubicBezTo>
                  <a:lnTo>
                    <a:pt x="113701" y="130081"/>
                  </a:lnTo>
                  <a:cubicBezTo>
                    <a:pt x="112539" y="130687"/>
                    <a:pt x="111226" y="130990"/>
                    <a:pt x="109937" y="130990"/>
                  </a:cubicBezTo>
                  <a:close/>
                  <a:moveTo>
                    <a:pt x="24529" y="65538"/>
                  </a:moveTo>
                  <a:lnTo>
                    <a:pt x="110038" y="113711"/>
                  </a:lnTo>
                  <a:lnTo>
                    <a:pt x="200828" y="65563"/>
                  </a:lnTo>
                  <a:lnTo>
                    <a:pt x="110038" y="17339"/>
                  </a:lnTo>
                  <a:lnTo>
                    <a:pt x="24529" y="65538"/>
                  </a:ln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1177840" y="5839828"/>
              <a:ext cx="157302" cy="87858"/>
            </a:xfrm>
            <a:custGeom>
              <a:avLst/>
              <a:gdLst>
                <a:gd name="connsiteX0" fmla="*/ 8084 w 157302"/>
                <a:gd name="connsiteY0" fmla="*/ 87859 h 87858"/>
                <a:gd name="connsiteX1" fmla="*/ 0 w 157302"/>
                <a:gd name="connsiteY1" fmla="*/ 79775 h 87858"/>
                <a:gd name="connsiteX2" fmla="*/ 0 w 157302"/>
                <a:gd name="connsiteY2" fmla="*/ 8084 h 87858"/>
                <a:gd name="connsiteX3" fmla="*/ 8084 w 157302"/>
                <a:gd name="connsiteY3" fmla="*/ 0 h 87858"/>
                <a:gd name="connsiteX4" fmla="*/ 16167 w 157302"/>
                <a:gd name="connsiteY4" fmla="*/ 8084 h 87858"/>
                <a:gd name="connsiteX5" fmla="*/ 16167 w 157302"/>
                <a:gd name="connsiteY5" fmla="*/ 79775 h 87858"/>
                <a:gd name="connsiteX6" fmla="*/ 8084 w 157302"/>
                <a:gd name="connsiteY6" fmla="*/ 87859 h 87858"/>
                <a:gd name="connsiteX7" fmla="*/ 149219 w 157302"/>
                <a:gd name="connsiteY7" fmla="*/ 87859 h 87858"/>
                <a:gd name="connsiteX8" fmla="*/ 141135 w 157302"/>
                <a:gd name="connsiteY8" fmla="*/ 79775 h 87858"/>
                <a:gd name="connsiteX9" fmla="*/ 141135 w 157302"/>
                <a:gd name="connsiteY9" fmla="*/ 8084 h 87858"/>
                <a:gd name="connsiteX10" fmla="*/ 149219 w 157302"/>
                <a:gd name="connsiteY10" fmla="*/ 0 h 87858"/>
                <a:gd name="connsiteX11" fmla="*/ 157302 w 157302"/>
                <a:gd name="connsiteY11" fmla="*/ 8084 h 87858"/>
                <a:gd name="connsiteX12" fmla="*/ 157302 w 157302"/>
                <a:gd name="connsiteY12" fmla="*/ 79775 h 87858"/>
                <a:gd name="connsiteX13" fmla="*/ 149219 w 157302"/>
                <a:gd name="connsiteY13" fmla="*/ 87859 h 8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02" h="87858">
                  <a:moveTo>
                    <a:pt x="8084" y="87859"/>
                  </a:moveTo>
                  <a:cubicBezTo>
                    <a:pt x="3612" y="87859"/>
                    <a:pt x="0" y="84247"/>
                    <a:pt x="0" y="79775"/>
                  </a:cubicBezTo>
                  <a:lnTo>
                    <a:pt x="0" y="8084"/>
                  </a:lnTo>
                  <a:cubicBezTo>
                    <a:pt x="0" y="3612"/>
                    <a:pt x="3612" y="0"/>
                    <a:pt x="8084" y="0"/>
                  </a:cubicBezTo>
                  <a:cubicBezTo>
                    <a:pt x="12555" y="0"/>
                    <a:pt x="16167" y="3612"/>
                    <a:pt x="16167" y="8084"/>
                  </a:cubicBezTo>
                  <a:lnTo>
                    <a:pt x="16167" y="79775"/>
                  </a:lnTo>
                  <a:cubicBezTo>
                    <a:pt x="16167" y="84247"/>
                    <a:pt x="12555" y="87859"/>
                    <a:pt x="8084" y="87859"/>
                  </a:cubicBezTo>
                  <a:close/>
                  <a:moveTo>
                    <a:pt x="149219" y="87859"/>
                  </a:moveTo>
                  <a:cubicBezTo>
                    <a:pt x="144747" y="87859"/>
                    <a:pt x="141135" y="84247"/>
                    <a:pt x="141135" y="79775"/>
                  </a:cubicBezTo>
                  <a:lnTo>
                    <a:pt x="141135" y="8084"/>
                  </a:lnTo>
                  <a:cubicBezTo>
                    <a:pt x="141135" y="3612"/>
                    <a:pt x="144747" y="0"/>
                    <a:pt x="149219" y="0"/>
                  </a:cubicBezTo>
                  <a:cubicBezTo>
                    <a:pt x="153690" y="0"/>
                    <a:pt x="157302" y="3612"/>
                    <a:pt x="157302" y="8084"/>
                  </a:cubicBezTo>
                  <a:lnTo>
                    <a:pt x="157302" y="79775"/>
                  </a:lnTo>
                  <a:cubicBezTo>
                    <a:pt x="157302" y="84247"/>
                    <a:pt x="153665" y="87859"/>
                    <a:pt x="149219" y="87859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1177840" y="5848391"/>
              <a:ext cx="189459" cy="106552"/>
            </a:xfrm>
            <a:custGeom>
              <a:avLst/>
              <a:gdLst>
                <a:gd name="connsiteX0" fmla="*/ 78639 w 189459"/>
                <a:gd name="connsiteY0" fmla="*/ 106552 h 106552"/>
                <a:gd name="connsiteX1" fmla="*/ 26044 w 189459"/>
                <a:gd name="connsiteY1" fmla="*/ 98747 h 106552"/>
                <a:gd name="connsiteX2" fmla="*/ 8437 w 189459"/>
                <a:gd name="connsiteY2" fmla="*/ 89349 h 106552"/>
                <a:gd name="connsiteX3" fmla="*/ 0 w 189459"/>
                <a:gd name="connsiteY3" fmla="*/ 73409 h 106552"/>
                <a:gd name="connsiteX4" fmla="*/ 8084 w 189459"/>
                <a:gd name="connsiteY4" fmla="*/ 65326 h 106552"/>
                <a:gd name="connsiteX5" fmla="*/ 16167 w 189459"/>
                <a:gd name="connsiteY5" fmla="*/ 73409 h 106552"/>
                <a:gd name="connsiteX6" fmla="*/ 31450 w 189459"/>
                <a:gd name="connsiteY6" fmla="*/ 83539 h 106552"/>
                <a:gd name="connsiteX7" fmla="*/ 78639 w 189459"/>
                <a:gd name="connsiteY7" fmla="*/ 90410 h 106552"/>
                <a:gd name="connsiteX8" fmla="*/ 125827 w 189459"/>
                <a:gd name="connsiteY8" fmla="*/ 83539 h 106552"/>
                <a:gd name="connsiteX9" fmla="*/ 141110 w 189459"/>
                <a:gd name="connsiteY9" fmla="*/ 73409 h 106552"/>
                <a:gd name="connsiteX10" fmla="*/ 149193 w 189459"/>
                <a:gd name="connsiteY10" fmla="*/ 65326 h 106552"/>
                <a:gd name="connsiteX11" fmla="*/ 157277 w 189459"/>
                <a:gd name="connsiteY11" fmla="*/ 73409 h 106552"/>
                <a:gd name="connsiteX12" fmla="*/ 148840 w 189459"/>
                <a:gd name="connsiteY12" fmla="*/ 89349 h 106552"/>
                <a:gd name="connsiteX13" fmla="*/ 131233 w 189459"/>
                <a:gd name="connsiteY13" fmla="*/ 98747 h 106552"/>
                <a:gd name="connsiteX14" fmla="*/ 78639 w 189459"/>
                <a:gd name="connsiteY14" fmla="*/ 106552 h 106552"/>
                <a:gd name="connsiteX15" fmla="*/ 181376 w 189459"/>
                <a:gd name="connsiteY15" fmla="*/ 90183 h 106552"/>
                <a:gd name="connsiteX16" fmla="*/ 173293 w 189459"/>
                <a:gd name="connsiteY16" fmla="*/ 82099 h 106552"/>
                <a:gd name="connsiteX17" fmla="*/ 173293 w 189459"/>
                <a:gd name="connsiteY17" fmla="*/ 8084 h 106552"/>
                <a:gd name="connsiteX18" fmla="*/ 181376 w 189459"/>
                <a:gd name="connsiteY18" fmla="*/ 0 h 106552"/>
                <a:gd name="connsiteX19" fmla="*/ 189460 w 189459"/>
                <a:gd name="connsiteY19" fmla="*/ 8084 h 106552"/>
                <a:gd name="connsiteX20" fmla="*/ 189460 w 189459"/>
                <a:gd name="connsiteY20" fmla="*/ 82099 h 106552"/>
                <a:gd name="connsiteX21" fmla="*/ 181376 w 189459"/>
                <a:gd name="connsiteY21" fmla="*/ 90183 h 1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459" h="106552">
                  <a:moveTo>
                    <a:pt x="78639" y="106552"/>
                  </a:moveTo>
                  <a:cubicBezTo>
                    <a:pt x="58884" y="106552"/>
                    <a:pt x="40216" y="103774"/>
                    <a:pt x="26044" y="98747"/>
                  </a:cubicBezTo>
                  <a:cubicBezTo>
                    <a:pt x="18643" y="96119"/>
                    <a:pt x="12732" y="92962"/>
                    <a:pt x="8437" y="89349"/>
                  </a:cubicBezTo>
                  <a:cubicBezTo>
                    <a:pt x="1465" y="83489"/>
                    <a:pt x="0" y="77451"/>
                    <a:pt x="0" y="73409"/>
                  </a:cubicBezTo>
                  <a:cubicBezTo>
                    <a:pt x="0" y="68938"/>
                    <a:pt x="3612" y="65326"/>
                    <a:pt x="8084" y="65326"/>
                  </a:cubicBezTo>
                  <a:cubicBezTo>
                    <a:pt x="12555" y="65326"/>
                    <a:pt x="16167" y="68938"/>
                    <a:pt x="16167" y="73409"/>
                  </a:cubicBezTo>
                  <a:cubicBezTo>
                    <a:pt x="16167" y="74925"/>
                    <a:pt x="19906" y="79422"/>
                    <a:pt x="31450" y="83539"/>
                  </a:cubicBezTo>
                  <a:cubicBezTo>
                    <a:pt x="43929" y="87985"/>
                    <a:pt x="60678" y="90410"/>
                    <a:pt x="78639" y="90410"/>
                  </a:cubicBezTo>
                  <a:cubicBezTo>
                    <a:pt x="96599" y="90410"/>
                    <a:pt x="113348" y="87960"/>
                    <a:pt x="125827" y="83539"/>
                  </a:cubicBezTo>
                  <a:cubicBezTo>
                    <a:pt x="137371" y="79422"/>
                    <a:pt x="141110" y="74950"/>
                    <a:pt x="141110" y="73409"/>
                  </a:cubicBezTo>
                  <a:cubicBezTo>
                    <a:pt x="141110" y="68938"/>
                    <a:pt x="144722" y="65326"/>
                    <a:pt x="149193" y="65326"/>
                  </a:cubicBezTo>
                  <a:cubicBezTo>
                    <a:pt x="153665" y="65326"/>
                    <a:pt x="157277" y="68938"/>
                    <a:pt x="157277" y="73409"/>
                  </a:cubicBezTo>
                  <a:cubicBezTo>
                    <a:pt x="157277" y="77451"/>
                    <a:pt x="155812" y="83514"/>
                    <a:pt x="148840" y="89349"/>
                  </a:cubicBezTo>
                  <a:cubicBezTo>
                    <a:pt x="144545" y="92962"/>
                    <a:pt x="138609" y="96119"/>
                    <a:pt x="131233" y="98747"/>
                  </a:cubicBezTo>
                  <a:cubicBezTo>
                    <a:pt x="117086" y="103774"/>
                    <a:pt x="98393" y="106552"/>
                    <a:pt x="78639" y="106552"/>
                  </a:cubicBezTo>
                  <a:close/>
                  <a:moveTo>
                    <a:pt x="181376" y="90183"/>
                  </a:moveTo>
                  <a:cubicBezTo>
                    <a:pt x="176905" y="90183"/>
                    <a:pt x="173293" y="86571"/>
                    <a:pt x="173293" y="82099"/>
                  </a:cubicBezTo>
                  <a:lnTo>
                    <a:pt x="173293" y="8084"/>
                  </a:lnTo>
                  <a:cubicBezTo>
                    <a:pt x="173293" y="3612"/>
                    <a:pt x="176905" y="0"/>
                    <a:pt x="181376" y="0"/>
                  </a:cubicBezTo>
                  <a:cubicBezTo>
                    <a:pt x="185848" y="0"/>
                    <a:pt x="189460" y="3612"/>
                    <a:pt x="189460" y="8084"/>
                  </a:cubicBezTo>
                  <a:lnTo>
                    <a:pt x="189460" y="82099"/>
                  </a:lnTo>
                  <a:cubicBezTo>
                    <a:pt x="189460" y="86545"/>
                    <a:pt x="185848" y="90183"/>
                    <a:pt x="181376" y="90183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A2A30CD-BE8A-CF1D-1DF6-BF12ADBCDA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39882" y="4736464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04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97E95C-372D-AA4F-F5DC-7B04DD87BB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416802" y="4730750"/>
            <a:ext cx="1210588" cy="70788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1757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综述阅读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/>
        </p:nvCxnSpPr>
        <p:spPr>
          <a:xfrm>
            <a:off x="2419350" y="628491"/>
            <a:ext cx="9481914" cy="0"/>
          </a:xfrm>
          <a:prstGeom prst="line">
            <a:avLst/>
          </a:prstGeom>
          <a:ln w="158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0" y="2401808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65464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-50436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419350" y="2657777"/>
            <a:ext cx="8691336" cy="12659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400" spc="100" dirty="0">
                <a:latin typeface="+mn-ea"/>
              </a:rPr>
              <a:t>基本想法：让通信和雷达共用一套设备、同一种信号。对低空无人机，基站发一个信号，既能传数据，又能根据回波算出无人机在哪个方向（</a:t>
            </a:r>
            <a:r>
              <a:rPr lang="en-US" altLang="zh-CN" sz="1400" spc="100" dirty="0">
                <a:latin typeface="+mn-ea"/>
              </a:rPr>
              <a:t>DOA</a:t>
            </a:r>
            <a:r>
              <a:rPr lang="zh-CN" altLang="en-US" sz="1400" spc="100" dirty="0">
                <a:latin typeface="+mn-ea"/>
              </a:rPr>
              <a:t>）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400" spc="100" dirty="0">
                <a:latin typeface="+mn-ea"/>
              </a:rPr>
              <a:t>难点：通信要高速率，感知要测准，两个目的抢资源，需要折中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19350" y="4337781"/>
            <a:ext cx="8538936" cy="1346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一体化波形：在通信用的</a:t>
            </a:r>
            <a:r>
              <a:rPr lang="en-US" altLang="zh-CN" sz="1400" spc="100" dirty="0">
                <a:latin typeface="+mn-ea"/>
              </a:rPr>
              <a:t>OFDM</a:t>
            </a:r>
            <a:r>
              <a:rPr lang="zh-CN" altLang="en-US" sz="1400" spc="100" dirty="0">
                <a:latin typeface="+mn-ea"/>
              </a:rPr>
              <a:t>帧里塞一些导频符号，通信数据用剩下的。调导频多少来控制感知精度。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多站协同：一个基站测不准（比如有高楼遮挡），就多个基站联合，用到达时间差和角度一起算。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多模态：通感信号容易受干扰，加摄像头或雷达做额外确认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19350" y="2270026"/>
            <a:ext cx="1387981" cy="347651"/>
            <a:chOff x="2324976" y="3384883"/>
            <a:chExt cx="1387981" cy="347651"/>
          </a:xfrm>
        </p:grpSpPr>
        <p:sp>
          <p:nvSpPr>
            <p:cNvPr id="14" name="矩形: 圆角 13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660598" y="3384883"/>
              <a:ext cx="7167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ISAC</a:t>
              </a:r>
              <a:endParaRPr lang="zh-CN" altLang="en-US" sz="1600" b="1" spc="1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419350" y="3956945"/>
            <a:ext cx="1387981" cy="347651"/>
            <a:chOff x="2324976" y="3384883"/>
            <a:chExt cx="1387981" cy="347651"/>
          </a:xfrm>
        </p:grpSpPr>
        <p:sp>
          <p:nvSpPr>
            <p:cNvPr id="20" name="矩形: 圆角 19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490615" y="3384883"/>
              <a:ext cx="10567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技术路线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C15A08E-C452-80F3-778A-DAC838B1F489}"/>
              </a:ext>
            </a:extLst>
          </p:cNvPr>
          <p:cNvSpPr txBox="1"/>
          <p:nvPr/>
        </p:nvSpPr>
        <p:spPr>
          <a:xfrm>
            <a:off x="2419350" y="1599983"/>
            <a:ext cx="8691336" cy="5120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spc="100" dirty="0">
                <a:latin typeface="+mn-ea"/>
              </a:rPr>
              <a:t>本周阅读综述：</a:t>
            </a:r>
            <a:r>
              <a:rPr lang="en-US" altLang="zh-CN" sz="1400" spc="100" dirty="0">
                <a:latin typeface="+mn-ea"/>
              </a:rPr>
              <a:t>[1] </a:t>
            </a:r>
            <a:r>
              <a:rPr lang="zh-CN" altLang="en-US" sz="1400" spc="100" dirty="0">
                <a:latin typeface="+mn-ea"/>
              </a:rPr>
              <a:t>技象科技</a:t>
            </a:r>
            <a:r>
              <a:rPr lang="en-US" altLang="zh-CN" sz="1400" spc="100" dirty="0">
                <a:latin typeface="+mn-ea"/>
              </a:rPr>
              <a:t>·ISAC</a:t>
            </a:r>
            <a:r>
              <a:rPr lang="zh-CN" altLang="en-US" sz="1400" spc="100" dirty="0">
                <a:latin typeface="+mn-ea"/>
              </a:rPr>
              <a:t>关键技术 </a:t>
            </a:r>
            <a:r>
              <a:rPr lang="en-US" altLang="zh-CN" sz="1400" spc="100" dirty="0">
                <a:latin typeface="+mn-ea"/>
              </a:rPr>
              <a:t>[2] </a:t>
            </a:r>
            <a:r>
              <a:rPr lang="zh-CN" altLang="en-US" sz="1400" spc="100" dirty="0">
                <a:latin typeface="+mn-ea"/>
              </a:rPr>
              <a:t>电讯技术</a:t>
            </a:r>
            <a:r>
              <a:rPr lang="en-US" altLang="zh-CN" sz="1400" spc="100" dirty="0">
                <a:latin typeface="+mn-ea"/>
              </a:rPr>
              <a:t>2025(06)·</a:t>
            </a:r>
            <a:r>
              <a:rPr lang="zh-CN" altLang="en-US" sz="1400" spc="100" dirty="0">
                <a:latin typeface="+mn-ea"/>
              </a:rPr>
              <a:t>低空无人机</a:t>
            </a:r>
            <a:r>
              <a:rPr lang="en-US" altLang="zh-CN" sz="1400" spc="100" dirty="0">
                <a:latin typeface="+mn-ea"/>
              </a:rPr>
              <a:t>ISAC</a:t>
            </a:r>
            <a:endParaRPr lang="zh-CN" altLang="en-US" sz="1400" spc="100" dirty="0"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FAA66A-DF07-D904-45F5-33B65C11083A}"/>
              </a:ext>
            </a:extLst>
          </p:cNvPr>
          <p:cNvSpPr txBox="1"/>
          <p:nvPr/>
        </p:nvSpPr>
        <p:spPr>
          <a:xfrm>
            <a:off x="441246" y="4538183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8108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DOA复习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|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阅读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DOA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估计入门教程总结复现经典算法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65464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-50436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25" name="矩形 24"/>
          <p:cNvSpPr/>
          <p:nvPr/>
        </p:nvSpPr>
        <p:spPr>
          <a:xfrm>
            <a:off x="0" y="3118696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516524" y="851837"/>
            <a:ext cx="2922627" cy="415498"/>
          </a:xfrm>
          <a:prstGeom prst="rect">
            <a:avLst/>
          </a:prstGeom>
          <a:solidFill>
            <a:srgbClr val="0F6FC6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FFFFFF"/>
                </a:solidFill>
                <a:latin typeface="+mj-ea"/>
                <a:ea typeface="+mj-ea"/>
              </a:rPr>
              <a:t>波束赋形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439151" y="851837"/>
            <a:ext cx="291289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rgbClr val="595959"/>
                </a:solidFill>
                <a:latin typeface="+mj-ea"/>
                <a:ea typeface="+mj-ea"/>
              </a:rPr>
              <a:t>MUSIC</a:t>
            </a:r>
            <a:endParaRPr lang="zh-CN" altLang="en-US" sz="2100" b="1" spc="100"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325F0F-D29E-0524-E477-441F8023382A}"/>
              </a:ext>
            </a:extLst>
          </p:cNvPr>
          <p:cNvSpPr txBox="1"/>
          <p:nvPr/>
        </p:nvSpPr>
        <p:spPr>
          <a:xfrm>
            <a:off x="8361778" y="851837"/>
            <a:ext cx="291289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rgbClr val="595959"/>
                </a:solidFill>
                <a:latin typeface="+mj-ea"/>
                <a:ea typeface="+mj-ea"/>
              </a:rPr>
              <a:t>ESPRIT</a:t>
            </a:r>
            <a:endParaRPr lang="zh-CN" altLang="en-US" sz="2100" b="1" spc="100"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7F03F44-E371-2CAB-4DE2-6387DBA6B0FC}"/>
              </a:ext>
            </a:extLst>
          </p:cNvPr>
          <p:cNvGrpSpPr/>
          <p:nvPr/>
        </p:nvGrpSpPr>
        <p:grpSpPr>
          <a:xfrm>
            <a:off x="2811146" y="1847815"/>
            <a:ext cx="1387981" cy="347651"/>
            <a:chOff x="2324976" y="3384883"/>
            <a:chExt cx="1387981" cy="34765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CDC6FCD-F645-0786-0C64-208098B9960D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45BF909-468A-37E4-B8FF-3975481F9867}"/>
                </a:ext>
              </a:extLst>
            </p:cNvPr>
            <p:cNvSpPr txBox="1"/>
            <p:nvPr/>
          </p:nvSpPr>
          <p:spPr>
            <a:xfrm>
              <a:off x="2708624" y="3384883"/>
              <a:ext cx="6206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复习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495CE7C-BD67-2CD9-FF40-ADD7C7E9F74C}"/>
              </a:ext>
            </a:extLst>
          </p:cNvPr>
          <p:cNvGrpSpPr/>
          <p:nvPr/>
        </p:nvGrpSpPr>
        <p:grpSpPr>
          <a:xfrm>
            <a:off x="2811146" y="4233538"/>
            <a:ext cx="1387981" cy="347651"/>
            <a:chOff x="2324976" y="3384883"/>
            <a:chExt cx="1387981" cy="347651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139A175F-F389-C65D-C8CF-D16C91DE47C6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253BF4C-FBE9-C9E9-F8EC-26D6DC140D9F}"/>
                </a:ext>
              </a:extLst>
            </p:cNvPr>
            <p:cNvSpPr txBox="1"/>
            <p:nvPr/>
          </p:nvSpPr>
          <p:spPr>
            <a:xfrm>
              <a:off x="2490615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核心公式</a:t>
              </a: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AC9DE6DB-DFCC-35E4-BF1F-0FB35E1D56F9}"/>
              </a:ext>
            </a:extLst>
          </p:cNvPr>
          <p:cNvSpPr txBox="1"/>
          <p:nvPr/>
        </p:nvSpPr>
        <p:spPr>
          <a:xfrm>
            <a:off x="2811146" y="2195466"/>
            <a:ext cx="3947463" cy="16926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假设信号来自某个角度    ，按这个角度对应的相位差，把所有阵元的信号对齐后相加。如果假设的角度是对的，不同阵元上的信号会相干叠加，能量变大，</a:t>
            </a:r>
            <a:r>
              <a:rPr lang="en-US" altLang="zh-CN" sz="1400" dirty="0"/>
              <a:t> -90°</a:t>
            </a:r>
            <a:r>
              <a:rPr lang="zh-CN" altLang="en-US" sz="1400" dirty="0"/>
              <a:t>到</a:t>
            </a:r>
            <a:r>
              <a:rPr lang="en-US" altLang="zh-CN" sz="1400" dirty="0"/>
              <a:t>90°</a:t>
            </a:r>
            <a:r>
              <a:rPr lang="zh-CN" altLang="en-US" sz="1400" dirty="0"/>
              <a:t>的角度一个个试</a:t>
            </a:r>
          </a:p>
        </p:txBody>
      </p:sp>
      <p:pic>
        <p:nvPicPr>
          <p:cNvPr id="45" name="图片 44" descr="\documentclass{article}&#10;\usepackage{amsmath}&#10;\pagestyle{empty}&#10;\begin{document}&#10;&#10;\[\theta\]&#10;&#10;\end{document}" title="IguanaTex Picture Display">
            <a:extLst>
              <a:ext uri="{FF2B5EF4-FFF2-40B4-BE49-F238E27FC236}">
                <a16:creationId xmlns:a16="http://schemas.microsoft.com/office/drawing/2014/main" id="{860E35DF-2FBB-6C8D-D3DD-44E434E944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488" y="2334304"/>
            <a:ext cx="92597" cy="160265"/>
          </a:xfrm>
          <a:prstGeom prst="rect">
            <a:avLst/>
          </a:prstGeom>
        </p:spPr>
      </p:pic>
      <p:pic>
        <p:nvPicPr>
          <p:cNvPr id="55" name="图片 54" descr="\documentclass{article}&#10;\usepackage{amsmath}&#10;\pagestyle{empty}&#10;\begin{document}&#10;&#10;\[&#10;P_{\text{CBF}}(\theta) = \frac{a^H(\theta) R a(\theta)}{M^2}&#10;\]&#10;&#10;&#10;\end{document}" title="IguanaTex Picture Display">
            <a:extLst>
              <a:ext uri="{FF2B5EF4-FFF2-40B4-BE49-F238E27FC236}">
                <a16:creationId xmlns:a16="http://schemas.microsoft.com/office/drawing/2014/main" id="{D533D780-496E-3CD0-6CAD-1C442FB057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485" y="4670957"/>
            <a:ext cx="2569143" cy="5573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2FBD1AE-54B5-E901-0469-E63F1062F1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187" y="2267507"/>
            <a:ext cx="4880360" cy="2736574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2B7FCC22-F5F7-C04F-1FC6-E9D8DD081A4A}"/>
              </a:ext>
            </a:extLst>
          </p:cNvPr>
          <p:cNvGrpSpPr/>
          <p:nvPr/>
        </p:nvGrpSpPr>
        <p:grpSpPr>
          <a:xfrm>
            <a:off x="7020187" y="1849440"/>
            <a:ext cx="1387981" cy="347651"/>
            <a:chOff x="2324976" y="3384883"/>
            <a:chExt cx="1387981" cy="34765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CDA2126-A3FE-C16F-5463-DED30C7B32E5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4420BB0-55D8-C3D6-E3FE-4C8683FCD9C5}"/>
                </a:ext>
              </a:extLst>
            </p:cNvPr>
            <p:cNvSpPr txBox="1"/>
            <p:nvPr/>
          </p:nvSpPr>
          <p:spPr>
            <a:xfrm>
              <a:off x="2490618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仿真结果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686AC7F5-2415-85B2-D351-B46CCDBE0FD9}"/>
              </a:ext>
            </a:extLst>
          </p:cNvPr>
          <p:cNvSpPr txBox="1"/>
          <p:nvPr/>
        </p:nvSpPr>
        <p:spPr>
          <a:xfrm>
            <a:off x="7185829" y="5052593"/>
            <a:ext cx="4714718" cy="951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8</a:t>
            </a:r>
            <a:r>
              <a:rPr lang="zh-CN" altLang="en-US" sz="1400" dirty="0"/>
              <a:t>阵元</a:t>
            </a:r>
            <a:r>
              <a:rPr lang="en-US" altLang="zh-CN" sz="1400" dirty="0"/>
              <a:t>ULA</a:t>
            </a:r>
            <a:r>
              <a:rPr lang="zh-CN" altLang="en-US" sz="1400" dirty="0"/>
              <a:t>，半波长间距（</a:t>
            </a:r>
            <a:r>
              <a:rPr lang="en-US" altLang="zh-CN" sz="1400" dirty="0"/>
              <a:t>d = </a:t>
            </a:r>
            <a:r>
              <a:rPr lang="el-GR" altLang="zh-CN" sz="1400" dirty="0"/>
              <a:t>λ/2</a:t>
            </a:r>
            <a:r>
              <a:rPr lang="zh-CN" altLang="en-US" sz="1400" dirty="0"/>
              <a:t>）；</a:t>
            </a:r>
            <a:r>
              <a:rPr lang="en-US" altLang="zh-CN" sz="1400" dirty="0"/>
              <a:t>512</a:t>
            </a:r>
            <a:r>
              <a:rPr lang="zh-CN" altLang="en-US" sz="1400" dirty="0"/>
              <a:t>快拍数；</a:t>
            </a:r>
            <a:r>
              <a:rPr lang="en-US" altLang="zh-CN" sz="1400" dirty="0"/>
              <a:t>SNR=8dB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E08D10-779D-77E7-E296-0FAD590DD879}"/>
              </a:ext>
            </a:extLst>
          </p:cNvPr>
          <p:cNvSpPr txBox="1"/>
          <p:nvPr/>
        </p:nvSpPr>
        <p:spPr>
          <a:xfrm>
            <a:off x="441246" y="4538183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7C03-9D14-F3E8-9C70-155F3F25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69FE31F-C9C4-3717-3242-55E33DD884B9}"/>
              </a:ext>
            </a:extLst>
          </p:cNvPr>
          <p:cNvSpPr txBox="1"/>
          <p:nvPr/>
        </p:nvSpPr>
        <p:spPr>
          <a:xfrm>
            <a:off x="2307393" y="166826"/>
            <a:ext cx="8108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DOA复习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|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阅读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DOA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估计入门教程总结复现经典算法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F335B96-ABBA-4FDF-5D24-36884C0634BF}"/>
              </a:ext>
            </a:extLst>
          </p:cNvPr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0931D79-06A0-C4FA-52AF-0CC7ED5DAA7D}"/>
                </a:ext>
              </a:extLst>
            </p:cNvPr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1EF6062-F6C1-3CB8-C6D2-ECA7BF255FA3}"/>
                </a:ext>
              </a:extLst>
            </p:cNvPr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359E59C-494F-4F59-0C92-66927BE51157}"/>
              </a:ext>
            </a:extLst>
          </p:cNvPr>
          <p:cNvSpPr txBox="1"/>
          <p:nvPr/>
        </p:nvSpPr>
        <p:spPr>
          <a:xfrm>
            <a:off x="165464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177A20-1DC7-C2E4-95DF-5E8535F1218E}"/>
              </a:ext>
            </a:extLst>
          </p:cNvPr>
          <p:cNvSpPr txBox="1"/>
          <p:nvPr/>
        </p:nvSpPr>
        <p:spPr>
          <a:xfrm>
            <a:off x="-50436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E1D5FA-C9A3-DD07-3D69-391E86C41C55}"/>
              </a:ext>
            </a:extLst>
          </p:cNvPr>
          <p:cNvSpPr/>
          <p:nvPr/>
        </p:nvSpPr>
        <p:spPr>
          <a:xfrm>
            <a:off x="0" y="3118696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D318A6D-A148-87F8-E865-E0BC9C70D29A}"/>
              </a:ext>
            </a:extLst>
          </p:cNvPr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C4FBFF7-E3DD-120F-9AC9-9A63F0663B9E}"/>
              </a:ext>
            </a:extLst>
          </p:cNvPr>
          <p:cNvSpPr txBox="1"/>
          <p:nvPr/>
        </p:nvSpPr>
        <p:spPr>
          <a:xfrm>
            <a:off x="2516524" y="851837"/>
            <a:ext cx="292262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595959"/>
                </a:solidFill>
                <a:latin typeface="+mj-ea"/>
                <a:ea typeface="+mj-ea"/>
              </a:rPr>
              <a:t>波束赋形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45FA5BD-54B7-029B-7D91-B9B3C1657CA8}"/>
              </a:ext>
            </a:extLst>
          </p:cNvPr>
          <p:cNvSpPr txBox="1"/>
          <p:nvPr/>
        </p:nvSpPr>
        <p:spPr>
          <a:xfrm>
            <a:off x="5439151" y="851837"/>
            <a:ext cx="2912897" cy="415498"/>
          </a:xfrm>
          <a:prstGeom prst="rect">
            <a:avLst/>
          </a:prstGeom>
          <a:solidFill>
            <a:srgbClr val="0F6FC6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chemeClr val="bg1"/>
                </a:solidFill>
                <a:latin typeface="+mj-ea"/>
                <a:ea typeface="+mj-ea"/>
              </a:rPr>
              <a:t>MUSIC</a:t>
            </a:r>
            <a:endParaRPr lang="zh-CN" altLang="en-US" sz="2100" b="1" spc="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C8F615-F91B-E8E8-B7DA-67AB94C609D3}"/>
              </a:ext>
            </a:extLst>
          </p:cNvPr>
          <p:cNvSpPr txBox="1"/>
          <p:nvPr/>
        </p:nvSpPr>
        <p:spPr>
          <a:xfrm>
            <a:off x="8361778" y="851837"/>
            <a:ext cx="291289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rgbClr val="595959"/>
                </a:solidFill>
                <a:latin typeface="+mj-ea"/>
                <a:ea typeface="+mj-ea"/>
              </a:rPr>
              <a:t>ESPRIT</a:t>
            </a:r>
            <a:endParaRPr lang="zh-CN" altLang="en-US" sz="2100" b="1" spc="100"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23DE2FA-D44B-F6CC-5651-9A969B8C4D48}"/>
              </a:ext>
            </a:extLst>
          </p:cNvPr>
          <p:cNvGrpSpPr/>
          <p:nvPr/>
        </p:nvGrpSpPr>
        <p:grpSpPr>
          <a:xfrm>
            <a:off x="2811146" y="1847815"/>
            <a:ext cx="1387981" cy="347651"/>
            <a:chOff x="2324976" y="3384883"/>
            <a:chExt cx="1387981" cy="34765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CC03BC5-06A0-8127-3FB9-43F13E03D631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EDFB2EF-17EB-E391-63C3-77A6352EF3BF}"/>
                </a:ext>
              </a:extLst>
            </p:cNvPr>
            <p:cNvSpPr txBox="1"/>
            <p:nvPr/>
          </p:nvSpPr>
          <p:spPr>
            <a:xfrm>
              <a:off x="2708624" y="3384883"/>
              <a:ext cx="6206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复习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B3626A0-F382-129A-8B2C-EA1660530510}"/>
              </a:ext>
            </a:extLst>
          </p:cNvPr>
          <p:cNvGrpSpPr/>
          <p:nvPr/>
        </p:nvGrpSpPr>
        <p:grpSpPr>
          <a:xfrm>
            <a:off x="2811146" y="4192362"/>
            <a:ext cx="1387981" cy="347651"/>
            <a:chOff x="2324976" y="3384883"/>
            <a:chExt cx="1387981" cy="347651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80085634-390B-5DE1-2A3B-C3DB2B2750FE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64CFAF6-735C-5831-90DA-1BC52C7F25CA}"/>
                </a:ext>
              </a:extLst>
            </p:cNvPr>
            <p:cNvSpPr txBox="1"/>
            <p:nvPr/>
          </p:nvSpPr>
          <p:spPr>
            <a:xfrm>
              <a:off x="2490615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核心公式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893C523B-26D1-A16C-4FC4-163CB25E8C5D}"/>
              </a:ext>
            </a:extLst>
          </p:cNvPr>
          <p:cNvSpPr txBox="1"/>
          <p:nvPr/>
        </p:nvSpPr>
        <p:spPr>
          <a:xfrm>
            <a:off x="2811146" y="2195466"/>
            <a:ext cx="4079984" cy="16926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波束赋形是暴力扫描，分辨率受限于阵列孔径。</a:t>
            </a:r>
            <a:r>
              <a:rPr lang="en-US" altLang="zh-CN" sz="1400" dirty="0"/>
              <a:t>MUSIC</a:t>
            </a:r>
            <a:r>
              <a:rPr lang="zh-CN" altLang="en-US" sz="1400" dirty="0"/>
              <a:t>把接收信号可以分成信号子空间和噪声子空间，二者正交。用导向矢量去和噪声子空间做匹配</a:t>
            </a:r>
            <a:r>
              <a:rPr lang="en-US" altLang="zh-CN" sz="1400" dirty="0"/>
              <a:t>——</a:t>
            </a:r>
            <a:r>
              <a:rPr lang="zh-CN" altLang="en-US" sz="1400" dirty="0"/>
              <a:t>扫到真实角度时，导向矢量和噪声子空间的夹角变成</a:t>
            </a:r>
            <a:r>
              <a:rPr lang="en-US" altLang="zh-CN" sz="1400" dirty="0"/>
              <a:t>90°</a:t>
            </a:r>
            <a:r>
              <a:rPr lang="zh-CN" altLang="en-US" sz="1400" dirty="0"/>
              <a:t>，空间谱会出现一个尖峰。</a:t>
            </a:r>
          </a:p>
        </p:txBody>
      </p:sp>
      <p:pic>
        <p:nvPicPr>
          <p:cNvPr id="46" name="图片 45" descr="\documentclass{article}&#10;\usepackage{amsmath}&#10;\pagestyle{empty}&#10;\begin{document}&#10;&#10;&#10;\[&#10;P_{\text{MUSIC}}(\theta) = \frac{1}{a^H(\theta) \mathbf{E}_n \mathbf{E}_n^H a(\theta)}&#10;\]&#10;&#10;\end{document}" title="IguanaTex Picture Display">
            <a:extLst>
              <a:ext uri="{FF2B5EF4-FFF2-40B4-BE49-F238E27FC236}">
                <a16:creationId xmlns:a16="http://schemas.microsoft.com/office/drawing/2014/main" id="{09AB28A9-5F99-50BD-CAFB-A3C7FC47F4B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785" y="4710725"/>
            <a:ext cx="3330560" cy="577097"/>
          </a:xfrm>
          <a:prstGeom prst="rect">
            <a:avLst/>
          </a:prstGeom>
        </p:spPr>
      </p:pic>
      <p:pic>
        <p:nvPicPr>
          <p:cNvPr id="5" name="图片 4" descr="图表, 折线图, 直方图&#10;&#10;AI 生成的内容可能不正确。">
            <a:extLst>
              <a:ext uri="{FF2B5EF4-FFF2-40B4-BE49-F238E27FC236}">
                <a16:creationId xmlns:a16="http://schemas.microsoft.com/office/drawing/2014/main" id="{74C29C08-F9CA-43FE-9C14-D97A8CFAD2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769" y="2193065"/>
            <a:ext cx="4956326" cy="277917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A270C2DF-0259-C477-80B3-013808F3DB20}"/>
              </a:ext>
            </a:extLst>
          </p:cNvPr>
          <p:cNvGrpSpPr/>
          <p:nvPr/>
        </p:nvGrpSpPr>
        <p:grpSpPr>
          <a:xfrm>
            <a:off x="7020187" y="1849440"/>
            <a:ext cx="1387981" cy="347651"/>
            <a:chOff x="2324976" y="3384883"/>
            <a:chExt cx="1387981" cy="34765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C9C9F90D-C26B-4E8F-77D9-941B568A1BD0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495C268-8CBF-E7A1-A11D-547001DB7BB6}"/>
                </a:ext>
              </a:extLst>
            </p:cNvPr>
            <p:cNvSpPr txBox="1"/>
            <p:nvPr/>
          </p:nvSpPr>
          <p:spPr>
            <a:xfrm>
              <a:off x="2490618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仿真结果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5A66368C-4783-92FF-5403-DC2B6C4C3266}"/>
              </a:ext>
            </a:extLst>
          </p:cNvPr>
          <p:cNvSpPr txBox="1"/>
          <p:nvPr/>
        </p:nvSpPr>
        <p:spPr>
          <a:xfrm>
            <a:off x="7185829" y="5052593"/>
            <a:ext cx="4714718" cy="951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8</a:t>
            </a:r>
            <a:r>
              <a:rPr lang="zh-CN" altLang="en-US" sz="1400" dirty="0"/>
              <a:t>阵元</a:t>
            </a:r>
            <a:r>
              <a:rPr lang="en-US" altLang="zh-CN" sz="1400" dirty="0"/>
              <a:t>ULA</a:t>
            </a:r>
            <a:r>
              <a:rPr lang="zh-CN" altLang="en-US" sz="1400" dirty="0"/>
              <a:t>，半波长间距（</a:t>
            </a:r>
            <a:r>
              <a:rPr lang="en-US" altLang="zh-CN" sz="1400" dirty="0"/>
              <a:t>d = </a:t>
            </a:r>
            <a:r>
              <a:rPr lang="el-GR" altLang="zh-CN" sz="1400" dirty="0"/>
              <a:t>λ/2</a:t>
            </a:r>
            <a:r>
              <a:rPr lang="zh-CN" altLang="en-US" sz="1400" dirty="0"/>
              <a:t>）；</a:t>
            </a:r>
            <a:r>
              <a:rPr lang="en-US" altLang="zh-CN" sz="1400" dirty="0"/>
              <a:t>512</a:t>
            </a:r>
            <a:r>
              <a:rPr lang="zh-CN" altLang="en-US" sz="1400" dirty="0"/>
              <a:t>快拍数；</a:t>
            </a:r>
            <a:r>
              <a:rPr lang="en-US" altLang="zh-CN" sz="1400" dirty="0"/>
              <a:t>SNR=8dB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5487E5-BABE-97F9-97CC-8A863D28BF40}"/>
              </a:ext>
            </a:extLst>
          </p:cNvPr>
          <p:cNvSpPr txBox="1"/>
          <p:nvPr/>
        </p:nvSpPr>
        <p:spPr>
          <a:xfrm>
            <a:off x="441246" y="4538183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415110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1C14-A3FF-36FB-14AC-B3BD8583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9E6D87A-375A-57FC-FFF2-4178D27A225A}"/>
              </a:ext>
            </a:extLst>
          </p:cNvPr>
          <p:cNvSpPr txBox="1"/>
          <p:nvPr/>
        </p:nvSpPr>
        <p:spPr>
          <a:xfrm>
            <a:off x="2307393" y="166826"/>
            <a:ext cx="8108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DOA复习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|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阅读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DOA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估计入门教程总结复现经典算法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B4A77C0-DF70-8BEB-3783-8555606BAEF9}"/>
              </a:ext>
            </a:extLst>
          </p:cNvPr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860729B-CC44-5484-AC45-E70FE9254DE7}"/>
                </a:ext>
              </a:extLst>
            </p:cNvPr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653CB113-6374-020A-A4B2-CC27EC3954F2}"/>
                </a:ext>
              </a:extLst>
            </p:cNvPr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BAEBF60F-3F0D-1BE9-9B85-03AC92838325}"/>
              </a:ext>
            </a:extLst>
          </p:cNvPr>
          <p:cNvSpPr txBox="1"/>
          <p:nvPr/>
        </p:nvSpPr>
        <p:spPr>
          <a:xfrm>
            <a:off x="165464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C20DF1-9B5A-D36A-352B-03808496AC00}"/>
              </a:ext>
            </a:extLst>
          </p:cNvPr>
          <p:cNvSpPr txBox="1"/>
          <p:nvPr/>
        </p:nvSpPr>
        <p:spPr>
          <a:xfrm>
            <a:off x="-50436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3A6AD9-77A6-7D11-1019-9AA23BC196A3}"/>
              </a:ext>
            </a:extLst>
          </p:cNvPr>
          <p:cNvSpPr/>
          <p:nvPr/>
        </p:nvSpPr>
        <p:spPr>
          <a:xfrm>
            <a:off x="0" y="3118696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095C3C0-0BFB-D1CB-2B7E-7640F10333B8}"/>
              </a:ext>
            </a:extLst>
          </p:cNvPr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48BA43-99A4-642B-6663-78790A5A3B47}"/>
              </a:ext>
            </a:extLst>
          </p:cNvPr>
          <p:cNvSpPr txBox="1"/>
          <p:nvPr/>
        </p:nvSpPr>
        <p:spPr>
          <a:xfrm>
            <a:off x="2516524" y="851837"/>
            <a:ext cx="292262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595959"/>
                </a:solidFill>
                <a:latin typeface="+mj-ea"/>
                <a:ea typeface="+mj-ea"/>
              </a:rPr>
              <a:t>波束赋形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3B4F3A-5F16-4472-D27B-9E5F13B7A80D}"/>
              </a:ext>
            </a:extLst>
          </p:cNvPr>
          <p:cNvSpPr txBox="1"/>
          <p:nvPr/>
        </p:nvSpPr>
        <p:spPr>
          <a:xfrm>
            <a:off x="5439151" y="851837"/>
            <a:ext cx="291289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rgbClr val="595959"/>
                </a:solidFill>
                <a:latin typeface="+mj-ea"/>
                <a:ea typeface="+mj-ea"/>
              </a:rPr>
              <a:t>MUSIC</a:t>
            </a:r>
            <a:endParaRPr lang="zh-CN" altLang="en-US" sz="2100" b="1" spc="100"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FE357E-991C-7765-4224-57081B103118}"/>
              </a:ext>
            </a:extLst>
          </p:cNvPr>
          <p:cNvSpPr txBox="1"/>
          <p:nvPr/>
        </p:nvSpPr>
        <p:spPr>
          <a:xfrm>
            <a:off x="8361778" y="851837"/>
            <a:ext cx="2912897" cy="415498"/>
          </a:xfrm>
          <a:prstGeom prst="rect">
            <a:avLst/>
          </a:prstGeom>
          <a:solidFill>
            <a:srgbClr val="0F6FC6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chemeClr val="bg1"/>
                </a:solidFill>
                <a:latin typeface="+mj-ea"/>
                <a:ea typeface="+mj-ea"/>
              </a:rPr>
              <a:t>ESPRIT</a:t>
            </a:r>
            <a:endParaRPr lang="zh-CN" altLang="en-US" sz="2100" b="1" spc="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C8739C7-C80C-0D18-6CD1-B3CAE98E010E}"/>
              </a:ext>
            </a:extLst>
          </p:cNvPr>
          <p:cNvGrpSpPr/>
          <p:nvPr/>
        </p:nvGrpSpPr>
        <p:grpSpPr>
          <a:xfrm>
            <a:off x="2811146" y="1847815"/>
            <a:ext cx="1387981" cy="347651"/>
            <a:chOff x="2324976" y="3384883"/>
            <a:chExt cx="1387981" cy="34765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1B9D7FB-D7DF-9B0D-0A32-6D364881C082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3C4329F-EC74-8106-6D2F-244A45BEE236}"/>
                </a:ext>
              </a:extLst>
            </p:cNvPr>
            <p:cNvSpPr txBox="1"/>
            <p:nvPr/>
          </p:nvSpPr>
          <p:spPr>
            <a:xfrm>
              <a:off x="2708624" y="3384883"/>
              <a:ext cx="6206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复习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B2727DC-5C82-03F7-7F83-072F60605B18}"/>
              </a:ext>
            </a:extLst>
          </p:cNvPr>
          <p:cNvGrpSpPr/>
          <p:nvPr/>
        </p:nvGrpSpPr>
        <p:grpSpPr>
          <a:xfrm>
            <a:off x="2811146" y="4233538"/>
            <a:ext cx="1387981" cy="347651"/>
            <a:chOff x="2324976" y="3384883"/>
            <a:chExt cx="1387981" cy="347651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E8A1486-DFD9-BCDD-DB69-5091AF451777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310EA52-87DE-88EA-7DC5-CBB4933189BD}"/>
                </a:ext>
              </a:extLst>
            </p:cNvPr>
            <p:cNvSpPr txBox="1"/>
            <p:nvPr/>
          </p:nvSpPr>
          <p:spPr>
            <a:xfrm>
              <a:off x="2490615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核心公式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38692E31-A213-ACB2-A603-A84B6720B16E}"/>
              </a:ext>
            </a:extLst>
          </p:cNvPr>
          <p:cNvSpPr txBox="1"/>
          <p:nvPr/>
        </p:nvSpPr>
        <p:spPr>
          <a:xfrm>
            <a:off x="2811147" y="2195466"/>
            <a:ext cx="3894454" cy="16926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MUSIC</a:t>
            </a:r>
            <a:r>
              <a:rPr lang="zh-CN" altLang="en-US" sz="1400" dirty="0"/>
              <a:t>需要在角度域上扫描。</a:t>
            </a:r>
            <a:r>
              <a:rPr lang="en-US" altLang="zh-CN" sz="1400" dirty="0"/>
              <a:t>ESPRIT</a:t>
            </a:r>
            <a:r>
              <a:rPr lang="zh-CN" altLang="en-US" sz="1400" dirty="0"/>
              <a:t>将阵元排成两个完全一样、只是平移了一段的子阵列，真实角度信息含在这两个子阵接收信号之间的一个旋转因子里。对这个旋转矩阵求特征值，就能直接算出角度，不需要扫描</a:t>
            </a:r>
          </a:p>
        </p:txBody>
      </p:sp>
      <p:pic>
        <p:nvPicPr>
          <p:cNvPr id="59" name="图片 58" descr="\documentclass{article}&#10;\usepackage{amsmath}&#10;\pagestyle{empty}&#10;\begin{document}&#10;&#10;&#10;\[&#10;\mathbf{E}_1 = \mathbf{E}_0 \cdot \mathbf{\Psi} ,\quad \phi_k = \text{eig}(\mathbf{\Psi})&#10;\]&#10;&#10;\end{document}" title="IguanaTex Picture Display">
            <a:extLst>
              <a:ext uri="{FF2B5EF4-FFF2-40B4-BE49-F238E27FC236}">
                <a16:creationId xmlns:a16="http://schemas.microsoft.com/office/drawing/2014/main" id="{2CDA6529-EA11-1D21-9D1E-EB45095139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788" y="4780230"/>
            <a:ext cx="3029212" cy="252709"/>
          </a:xfrm>
          <a:prstGeom prst="rect">
            <a:avLst/>
          </a:prstGeom>
        </p:spPr>
      </p:pic>
      <p:pic>
        <p:nvPicPr>
          <p:cNvPr id="5" name="图片 4" descr="图表, 箱线图&#10;&#10;AI 生成的内容可能不正确。">
            <a:extLst>
              <a:ext uri="{FF2B5EF4-FFF2-40B4-BE49-F238E27FC236}">
                <a16:creationId xmlns:a16="http://schemas.microsoft.com/office/drawing/2014/main" id="{013E1240-37A3-DFF2-C33F-0BE465BA9A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008" y="2226533"/>
            <a:ext cx="5307690" cy="297619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3231519-2DE3-FEC1-216F-77E4249316F4}"/>
              </a:ext>
            </a:extLst>
          </p:cNvPr>
          <p:cNvSpPr txBox="1"/>
          <p:nvPr/>
        </p:nvSpPr>
        <p:spPr>
          <a:xfrm>
            <a:off x="7185829" y="5052593"/>
            <a:ext cx="4714718" cy="951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8</a:t>
            </a:r>
            <a:r>
              <a:rPr lang="zh-CN" altLang="en-US" sz="1400" dirty="0"/>
              <a:t>阵元</a:t>
            </a:r>
            <a:r>
              <a:rPr lang="en-US" altLang="zh-CN" sz="1400" dirty="0"/>
              <a:t>ULA</a:t>
            </a:r>
            <a:r>
              <a:rPr lang="zh-CN" altLang="en-US" sz="1400" dirty="0"/>
              <a:t>，半波长间距（</a:t>
            </a:r>
            <a:r>
              <a:rPr lang="en-US" altLang="zh-CN" sz="1400" dirty="0"/>
              <a:t>d = </a:t>
            </a:r>
            <a:r>
              <a:rPr lang="el-GR" altLang="zh-CN" sz="1400" dirty="0"/>
              <a:t>λ/2</a:t>
            </a:r>
            <a:r>
              <a:rPr lang="zh-CN" altLang="en-US" sz="1400" dirty="0"/>
              <a:t>）；</a:t>
            </a:r>
            <a:r>
              <a:rPr lang="en-US" altLang="zh-CN" sz="1400" dirty="0"/>
              <a:t>512</a:t>
            </a:r>
            <a:r>
              <a:rPr lang="zh-CN" altLang="en-US" sz="1400" dirty="0"/>
              <a:t>快拍数；</a:t>
            </a:r>
            <a:r>
              <a:rPr lang="en-US" altLang="zh-CN" sz="1400" dirty="0"/>
              <a:t>SNR=8dB</a:t>
            </a:r>
            <a:endParaRPr lang="zh-CN" altLang="en-US" sz="14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EDF72E7-67C2-AB55-43E5-8731E65C04DC}"/>
              </a:ext>
            </a:extLst>
          </p:cNvPr>
          <p:cNvGrpSpPr/>
          <p:nvPr/>
        </p:nvGrpSpPr>
        <p:grpSpPr>
          <a:xfrm>
            <a:off x="7020187" y="1849440"/>
            <a:ext cx="1387981" cy="347651"/>
            <a:chOff x="2324976" y="3384883"/>
            <a:chExt cx="1387981" cy="347651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68A1107-4E74-40CC-6F8C-CFCE3A830685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F70C103-21B8-AB1F-3DC1-81FDF46F8D57}"/>
                </a:ext>
              </a:extLst>
            </p:cNvPr>
            <p:cNvSpPr txBox="1"/>
            <p:nvPr/>
          </p:nvSpPr>
          <p:spPr>
            <a:xfrm>
              <a:off x="2490618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仿真结果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FE46FBD-4BF1-C608-DF04-B0453DB82ED3}"/>
              </a:ext>
            </a:extLst>
          </p:cNvPr>
          <p:cNvSpPr txBox="1"/>
          <p:nvPr/>
        </p:nvSpPr>
        <p:spPr>
          <a:xfrm>
            <a:off x="441246" y="4538183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14771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7151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3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Sionna学习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|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跑通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OFDM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波形生成和信道建模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65463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34" name="矩形 33"/>
          <p:cNvSpPr/>
          <p:nvPr/>
        </p:nvSpPr>
        <p:spPr>
          <a:xfrm>
            <a:off x="0" y="3838160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-50437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Sionna学习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24E12DD-EBBD-B511-F6C3-F5E742B7C43F}"/>
              </a:ext>
            </a:extLst>
          </p:cNvPr>
          <p:cNvGrpSpPr/>
          <p:nvPr/>
        </p:nvGrpSpPr>
        <p:grpSpPr>
          <a:xfrm>
            <a:off x="2691876" y="1388721"/>
            <a:ext cx="1387981" cy="347651"/>
            <a:chOff x="2324976" y="3384883"/>
            <a:chExt cx="1387981" cy="34765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86E39D0-247A-A848-BCC0-182489610677}"/>
                </a:ext>
              </a:extLst>
            </p:cNvPr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80C7B50-36DF-3B43-7301-DECEACA1EAE9}"/>
                </a:ext>
              </a:extLst>
            </p:cNvPr>
            <p:cNvSpPr txBox="1"/>
            <p:nvPr/>
          </p:nvSpPr>
          <p:spPr>
            <a:xfrm>
              <a:off x="2490620" y="3384883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实践内容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E2E49FAC-CEF4-70E2-BA84-400B81CABC1F}"/>
              </a:ext>
            </a:extLst>
          </p:cNvPr>
          <p:cNvSpPr txBox="1"/>
          <p:nvPr/>
        </p:nvSpPr>
        <p:spPr>
          <a:xfrm>
            <a:off x="2691877" y="1736371"/>
            <a:ext cx="7326766" cy="31934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配置好</a:t>
            </a:r>
            <a:r>
              <a:rPr lang="en-US" altLang="zh-CN" sz="1400" dirty="0" err="1"/>
              <a:t>sionna</a:t>
            </a:r>
            <a:r>
              <a:rPr lang="zh-CN" altLang="en-US" sz="1400" dirty="0"/>
              <a:t>环境（</a:t>
            </a:r>
            <a:r>
              <a:rPr lang="en-US" altLang="zh-CN" sz="1400" dirty="0" err="1"/>
              <a:t>python+pytorch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波形生成：设定参数（子载波间隔</a:t>
            </a:r>
            <a:r>
              <a:rPr lang="en-US" altLang="zh-CN" sz="1400" dirty="0"/>
              <a:t>30 kHz</a:t>
            </a:r>
            <a:r>
              <a:rPr lang="zh-CN" altLang="en-US" sz="1400" dirty="0"/>
              <a:t>，</a:t>
            </a:r>
            <a:r>
              <a:rPr lang="en-US" altLang="zh-CN" sz="1400" dirty="0"/>
              <a:t>8</a:t>
            </a:r>
            <a:r>
              <a:rPr lang="zh-CN" altLang="en-US" sz="1400" dirty="0"/>
              <a:t>个资源块，在</a:t>
            </a:r>
            <a:r>
              <a:rPr lang="en-US" altLang="zh-CN" sz="1400" dirty="0"/>
              <a:t>OFDM</a:t>
            </a:r>
            <a:r>
              <a:rPr lang="zh-CN" altLang="en-US" sz="1400" dirty="0"/>
              <a:t>符号</a:t>
            </a:r>
            <a:r>
              <a:rPr lang="en-US" altLang="zh-CN" sz="1400" dirty="0"/>
              <a:t>2</a:t>
            </a:r>
            <a:r>
              <a:rPr lang="zh-CN" altLang="en-US" sz="1400" dirty="0"/>
              <a:t>和</a:t>
            </a:r>
            <a:r>
              <a:rPr lang="en-US" altLang="zh-CN" sz="1400" dirty="0"/>
              <a:t>11</a:t>
            </a:r>
            <a:r>
              <a:rPr lang="zh-CN" altLang="en-US" sz="1400" dirty="0"/>
              <a:t>放入导频</a:t>
            </a:r>
            <a:r>
              <a:rPr lang="en-US" altLang="zh-CN" sz="1400" dirty="0"/>
              <a:t>DMRS</a:t>
            </a:r>
            <a:r>
              <a:rPr lang="zh-CN" altLang="en-US" sz="1400" dirty="0"/>
              <a:t>），发射机生成频域</a:t>
            </a:r>
            <a:r>
              <a:rPr lang="en-US" altLang="zh-CN" sz="1400" dirty="0"/>
              <a:t>/</a:t>
            </a:r>
            <a:r>
              <a:rPr lang="zh-CN" altLang="en-US" sz="1400" dirty="0"/>
              <a:t>时域信号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信道传输：构建多径衰落信道模型，频域信号送入信道并叠加噪声（噪声功率 </a:t>
            </a:r>
            <a:r>
              <a:rPr lang="en-US" altLang="zh-CN" sz="1400" dirty="0"/>
              <a:t>0.01</a:t>
            </a:r>
            <a:r>
              <a:rPr lang="zh-CN" altLang="en-US" sz="1400" dirty="0"/>
              <a:t>），获得接收信号和信道频率响应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完整链路：配置参数 → 生成</a:t>
            </a:r>
            <a:r>
              <a:rPr lang="en-US" altLang="zh-CN" sz="1400" dirty="0"/>
              <a:t>OFDM</a:t>
            </a:r>
            <a:r>
              <a:rPr lang="zh-CN" altLang="en-US" sz="1400" dirty="0"/>
              <a:t>网格 → 经过衰落信道 → 查看接收功率和信道响应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3CABF0-4944-0F9D-40A2-83BF1476AD4E}"/>
              </a:ext>
            </a:extLst>
          </p:cNvPr>
          <p:cNvSpPr txBox="1"/>
          <p:nvPr/>
        </p:nvSpPr>
        <p:spPr>
          <a:xfrm>
            <a:off x="441246" y="4538183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总结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C159-E15B-36C4-4FF3-CD68A31C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3DCBA11-3DD6-8D72-6F19-589697B4BB81}"/>
              </a:ext>
            </a:extLst>
          </p:cNvPr>
          <p:cNvSpPr txBox="1"/>
          <p:nvPr/>
        </p:nvSpPr>
        <p:spPr>
          <a:xfrm>
            <a:off x="2307393" y="166826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4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总结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6ABDF9D-9D61-7D48-71E6-3FD147BEE788}"/>
              </a:ext>
            </a:extLst>
          </p:cNvPr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2F4DB89-B0C1-C513-A4ED-78F939D7D175}"/>
                </a:ext>
              </a:extLst>
            </p:cNvPr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DA7FB6-220B-AA1E-1D7A-61141B268A89}"/>
                </a:ext>
              </a:extLst>
            </p:cNvPr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E2C5CF6F-D87E-2382-8756-FCCED5BF7932}"/>
              </a:ext>
            </a:extLst>
          </p:cNvPr>
          <p:cNvSpPr txBox="1"/>
          <p:nvPr/>
        </p:nvSpPr>
        <p:spPr>
          <a:xfrm>
            <a:off x="165463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1B6AF83-FA9F-912E-A166-EF467ABC279B}"/>
              </a:ext>
            </a:extLst>
          </p:cNvPr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A6FC64-9AA9-F2FC-4E74-6629B320EE6A}"/>
              </a:ext>
            </a:extLst>
          </p:cNvPr>
          <p:cNvSpPr/>
          <p:nvPr/>
        </p:nvSpPr>
        <p:spPr>
          <a:xfrm>
            <a:off x="0" y="3838160"/>
            <a:ext cx="1631406" cy="5307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52F66FB-800E-C94C-A748-C6F2B150EBB2}"/>
              </a:ext>
            </a:extLst>
          </p:cNvPr>
          <p:cNvSpPr txBox="1"/>
          <p:nvPr/>
        </p:nvSpPr>
        <p:spPr>
          <a:xfrm>
            <a:off x="-50437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595959"/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1F2E1B-8719-B761-FD37-B5DB75FE08A5}"/>
              </a:ext>
            </a:extLst>
          </p:cNvPr>
          <p:cNvSpPr txBox="1"/>
          <p:nvPr/>
        </p:nvSpPr>
        <p:spPr>
          <a:xfrm>
            <a:off x="2691877" y="1736371"/>
            <a:ext cx="7326766" cy="31934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本周一共做了三件事：综述阅读、根据</a:t>
            </a:r>
            <a:r>
              <a:rPr lang="en-US" altLang="zh-CN" dirty="0" err="1"/>
              <a:t>doa</a:t>
            </a:r>
            <a:r>
              <a:rPr lang="zh-CN" altLang="en-US" dirty="0"/>
              <a:t>教程复现经典算法、配置</a:t>
            </a:r>
            <a:r>
              <a:rPr lang="en-US" altLang="zh-CN" dirty="0" err="1"/>
              <a:t>sionna</a:t>
            </a:r>
            <a:r>
              <a:rPr lang="zh-CN" altLang="en-US" dirty="0"/>
              <a:t>学习</a:t>
            </a:r>
            <a:r>
              <a:rPr lang="en-US" altLang="zh-CN" dirty="0"/>
              <a:t>OFDM</a:t>
            </a:r>
            <a:r>
              <a:rPr lang="zh-CN" altLang="en-US" dirty="0"/>
              <a:t>波形和信道建模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对我来说学到最重要的是</a:t>
            </a:r>
            <a:r>
              <a:rPr lang="en-US" altLang="zh-CN" b="1" dirty="0"/>
              <a:t>5G NR</a:t>
            </a:r>
            <a:r>
              <a:rPr lang="zh-CN" altLang="en-US" b="1" dirty="0"/>
              <a:t>物理层波形从配置到资源网格的生成过程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8AC97B-DC9D-8800-1E57-61C172A56ACB}"/>
              </a:ext>
            </a:extLst>
          </p:cNvPr>
          <p:cNvSpPr/>
          <p:nvPr/>
        </p:nvSpPr>
        <p:spPr>
          <a:xfrm>
            <a:off x="0" y="4480555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379195-663D-8302-C619-448E2F949E53}"/>
              </a:ext>
            </a:extLst>
          </p:cNvPr>
          <p:cNvSpPr txBox="1"/>
          <p:nvPr/>
        </p:nvSpPr>
        <p:spPr>
          <a:xfrm>
            <a:off x="441246" y="4538183"/>
            <a:ext cx="7489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FFFFFF"/>
                </a:solidFill>
                <a:latin typeface="+mj-ea"/>
                <a:ea typeface="+mj-ea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48160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228600" y="220132"/>
            <a:ext cx="11734800" cy="641773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/>
        </p:nvSpPr>
        <p:spPr>
          <a:xfrm>
            <a:off x="0" y="2100283"/>
            <a:ext cx="12192000" cy="2766950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4721266" y="3068260"/>
            <a:ext cx="2749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汇报结束</a:t>
            </a:r>
          </a:p>
        </p:txBody>
      </p:sp>
      <p:sp>
        <p:nvSpPr>
          <p:cNvPr id="170" name="图形 103"/>
          <p:cNvSpPr/>
          <p:nvPr/>
        </p:nvSpPr>
        <p:spPr>
          <a:xfrm>
            <a:off x="5217941" y="5093828"/>
            <a:ext cx="187958" cy="220553"/>
          </a:xfrm>
          <a:custGeom>
            <a:avLst/>
            <a:gdLst>
              <a:gd name="connsiteX0" fmla="*/ 57047 w 187958"/>
              <a:gd name="connsiteY0" fmla="*/ 123640 h 220553"/>
              <a:gd name="connsiteX1" fmla="*/ 26647 w 187958"/>
              <a:gd name="connsiteY1" fmla="*/ 67332 h 220553"/>
              <a:gd name="connsiteX2" fmla="*/ 93979 w 187958"/>
              <a:gd name="connsiteY2" fmla="*/ 0 h 220553"/>
              <a:gd name="connsiteX3" fmla="*/ 161311 w 187958"/>
              <a:gd name="connsiteY3" fmla="*/ 67332 h 220553"/>
              <a:gd name="connsiteX4" fmla="*/ 130911 w 187958"/>
              <a:gd name="connsiteY4" fmla="*/ 123640 h 220553"/>
              <a:gd name="connsiteX5" fmla="*/ 187958 w 187958"/>
              <a:gd name="connsiteY5" fmla="*/ 210085 h 220553"/>
              <a:gd name="connsiteX6" fmla="*/ 177490 w 187958"/>
              <a:gd name="connsiteY6" fmla="*/ 220554 h 220553"/>
              <a:gd name="connsiteX7" fmla="*/ 167021 w 187958"/>
              <a:gd name="connsiteY7" fmla="*/ 210085 h 220553"/>
              <a:gd name="connsiteX8" fmla="*/ 93979 w 187958"/>
              <a:gd name="connsiteY8" fmla="*/ 137043 h 220553"/>
              <a:gd name="connsiteX9" fmla="*/ 20937 w 187958"/>
              <a:gd name="connsiteY9" fmla="*/ 210085 h 220553"/>
              <a:gd name="connsiteX10" fmla="*/ 10469 w 187958"/>
              <a:gd name="connsiteY10" fmla="*/ 220554 h 220553"/>
              <a:gd name="connsiteX11" fmla="*/ 0 w 187958"/>
              <a:gd name="connsiteY11" fmla="*/ 210085 h 220553"/>
              <a:gd name="connsiteX12" fmla="*/ 57047 w 187958"/>
              <a:gd name="connsiteY12" fmla="*/ 123640 h 220553"/>
              <a:gd name="connsiteX13" fmla="*/ 93979 w 187958"/>
              <a:gd name="connsiteY13" fmla="*/ 113727 h 220553"/>
              <a:gd name="connsiteX14" fmla="*/ 140374 w 187958"/>
              <a:gd name="connsiteY14" fmla="*/ 67332 h 220553"/>
              <a:gd name="connsiteX15" fmla="*/ 93979 w 187958"/>
              <a:gd name="connsiteY15" fmla="*/ 20937 h 220553"/>
              <a:gd name="connsiteX16" fmla="*/ 47584 w 187958"/>
              <a:gd name="connsiteY16" fmla="*/ 67332 h 220553"/>
              <a:gd name="connsiteX17" fmla="*/ 93979 w 187958"/>
              <a:gd name="connsiteY17" fmla="*/ 113727 h 22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7958" h="220553">
                <a:moveTo>
                  <a:pt x="57047" y="123640"/>
                </a:moveTo>
                <a:cubicBezTo>
                  <a:pt x="38737" y="111606"/>
                  <a:pt x="26647" y="90881"/>
                  <a:pt x="26647" y="67332"/>
                </a:cubicBezTo>
                <a:cubicBezTo>
                  <a:pt x="26647" y="30145"/>
                  <a:pt x="56793" y="0"/>
                  <a:pt x="93979" y="0"/>
                </a:cubicBezTo>
                <a:cubicBezTo>
                  <a:pt x="131166" y="0"/>
                  <a:pt x="161311" y="30145"/>
                  <a:pt x="161311" y="67332"/>
                </a:cubicBezTo>
                <a:cubicBezTo>
                  <a:pt x="161311" y="90881"/>
                  <a:pt x="149222" y="111606"/>
                  <a:pt x="130911" y="123640"/>
                </a:cubicBezTo>
                <a:cubicBezTo>
                  <a:pt x="164455" y="137990"/>
                  <a:pt x="187958" y="171293"/>
                  <a:pt x="187958" y="210085"/>
                </a:cubicBezTo>
                <a:cubicBezTo>
                  <a:pt x="187958" y="215867"/>
                  <a:pt x="183271" y="220554"/>
                  <a:pt x="177490" y="220554"/>
                </a:cubicBezTo>
                <a:cubicBezTo>
                  <a:pt x="171708" y="220554"/>
                  <a:pt x="167021" y="215867"/>
                  <a:pt x="167021" y="210085"/>
                </a:cubicBezTo>
                <a:cubicBezTo>
                  <a:pt x="167021" y="169745"/>
                  <a:pt x="134319" y="137043"/>
                  <a:pt x="93979" y="137043"/>
                </a:cubicBezTo>
                <a:cubicBezTo>
                  <a:pt x="53639" y="137043"/>
                  <a:pt x="20937" y="169745"/>
                  <a:pt x="20937" y="210085"/>
                </a:cubicBezTo>
                <a:cubicBezTo>
                  <a:pt x="20937" y="215867"/>
                  <a:pt x="16250" y="220554"/>
                  <a:pt x="10469" y="220554"/>
                </a:cubicBezTo>
                <a:cubicBezTo>
                  <a:pt x="4687" y="220554"/>
                  <a:pt x="0" y="215867"/>
                  <a:pt x="0" y="210085"/>
                </a:cubicBezTo>
                <a:cubicBezTo>
                  <a:pt x="0" y="171293"/>
                  <a:pt x="23504" y="137990"/>
                  <a:pt x="57047" y="123640"/>
                </a:cubicBezTo>
                <a:close/>
                <a:moveTo>
                  <a:pt x="93979" y="113727"/>
                </a:moveTo>
                <a:cubicBezTo>
                  <a:pt x="119602" y="113727"/>
                  <a:pt x="140374" y="92955"/>
                  <a:pt x="140374" y="67332"/>
                </a:cubicBezTo>
                <a:cubicBezTo>
                  <a:pt x="140374" y="41709"/>
                  <a:pt x="119602" y="20937"/>
                  <a:pt x="93979" y="20937"/>
                </a:cubicBezTo>
                <a:cubicBezTo>
                  <a:pt x="68356" y="20937"/>
                  <a:pt x="47584" y="41709"/>
                  <a:pt x="47584" y="67332"/>
                </a:cubicBezTo>
                <a:cubicBezTo>
                  <a:pt x="47584" y="92955"/>
                  <a:pt x="68356" y="113727"/>
                  <a:pt x="93979" y="113727"/>
                </a:cubicBezTo>
                <a:close/>
              </a:path>
            </a:pathLst>
          </a:custGeom>
          <a:solidFill>
            <a:schemeClr val="accent1"/>
          </a:solidFill>
          <a:ln w="23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5426685" y="5035571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汇报人：董泰伦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371.2036"/>
  <p:tag name="ORIGINALWIDTH" val=" 214.4731"/>
  <p:tag name="OUTPUTTYPE" val="PNG"/>
  <p:tag name="IGUANATEXVERSION" val="162"/>
  <p:tag name="LATEXADDIN" val="\documentclass{article}&#10;\usepackage{amsmath}&#10;\pagestyle{empty}&#10;\begin{document}&#10;&#10;\[\theta\]&#10;&#10;\end{document}"/>
  <p:tag name="IGUANATEXSIZE" val="14"/>
  <p:tag name="IGUANATEXCURSOR" val="9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1142.857"/>
  <p:tag name="ORIGINALWIDTH" val=" 5268.091"/>
  <p:tag name="OUTPUTTYPE" val="PNG"/>
  <p:tag name="IGUANATEXVERSION" val="162"/>
  <p:tag name="LATEXADDIN" val="\documentclass{article}&#10;\usepackage{amsmath}&#10;\pagestyle{empty}&#10;\begin{document}&#10;&#10;\[&#10;P_{\text{CBF}}(\theta) = \frac{a^H(\theta) R a(\theta)}{M^2}&#10;\]&#10;&#10;&#10;\end{document}"/>
  <p:tag name="IGUANATEXSIZE" val="20"/>
  <p:tag name="IGUANATEXCURSOR" val="14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1183.352"/>
  <p:tag name="ORIGINALWIDTH" val=" 6829.396"/>
  <p:tag name="OUTPUTTYPE" val="PNG"/>
  <p:tag name="IGUANATEXVERSION" val="162"/>
  <p:tag name="LATEXADDIN" val="\documentclass{article}&#10;\usepackage{amsmath}&#10;\pagestyle{empty}&#10;\begin{document}&#10;&#10;&#10;\[&#10;P_{\text{MUSIC}}(\theta) = \frac{1}{a^H(\theta) \mathbf{E}_n \mathbf{E}_n^H a(\theta)}&#10;\]&#10;&#10;\end{document}"/>
  <p:tag name="IGUANATEXSIZE" val="20"/>
  <p:tag name="IGUANATEXCURSOR" val="17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5000"/>
  <p:tag name="ORIGINALHEIGHT" val=" 518.1852"/>
  <p:tag name="ORIGINALWIDTH" val=" 6211.473"/>
  <p:tag name="OUTPUTTYPE" val="PNG"/>
  <p:tag name="IGUANATEXVERSION" val="162"/>
  <p:tag name="LATEXADDIN" val="\documentclass{article}&#10;\usepackage{amsmath}&#10;\pagestyle{empty}&#10;\begin{document}&#10;&#10;&#10;\[&#10;\mathbf{E}_1 = \mathbf{E}_0 \cdot \mathbf{\Psi} ,\quad \phi_k = \text{eig}(\mathbf{\Psi})&#10;\]&#10;&#10;\end{document}"/>
  <p:tag name="IGUANATEXSIZE" val="20"/>
  <p:tag name="IGUANATEXCURSOR" val="17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714</Words>
  <Application>Microsoft Office PowerPoint</Application>
  <PresentationFormat>宽屏</PresentationFormat>
  <Paragraphs>88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微软雅黑</vt:lpstr>
      <vt:lpstr>微软雅黑 Light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KRT yok</cp:lastModifiedBy>
  <cp:revision>956</cp:revision>
  <dcterms:created xsi:type="dcterms:W3CDTF">2025-01-21T09:40:00Z</dcterms:created>
  <dcterms:modified xsi:type="dcterms:W3CDTF">2026-04-29T12:51:47Z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C6FC8586441F472A82B45EE507A4A37E_13</vt:lpwstr>
  </property>
  <property fmtid="{D5CDD505-2E9C-101B-9397-08002B2CF9AE}" pid="3" name="KSOProductBuildVer">
    <vt:lpwstr>2052-12.8.2.18913</vt:lpwstr>
  </property>
</Properties>
</file>