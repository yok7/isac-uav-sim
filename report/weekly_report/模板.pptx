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70" r:id="rId2"/>
    <p:sldId id="371" r:id="rId3"/>
    <p:sldId id="369" r:id="rId4"/>
    <p:sldId id="391" r:id="rId5"/>
    <p:sldId id="396" r:id="rId6"/>
    <p:sldId id="397" r:id="rId7"/>
    <p:sldId id="362" r:id="rId8"/>
    <p:sldId id="388" r:id="rId9"/>
    <p:sldId id="395" r:id="rId10"/>
    <p:sldId id="38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6" userDrawn="1">
          <p15:clr>
            <a:srgbClr val="A4A3A4"/>
          </p15:clr>
        </p15:guide>
        <p15:guide id="2" pos="4181" userDrawn="1">
          <p15:clr>
            <a:srgbClr val="A4A3A4"/>
          </p15:clr>
        </p15:guide>
        <p15:guide id="3" orient="horz" pos="562" userDrawn="1">
          <p15:clr>
            <a:srgbClr val="A4A3A4"/>
          </p15:clr>
        </p15:guide>
        <p15:guide id="4" pos="1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FC6"/>
    <a:srgbClr val="595959"/>
    <a:srgbClr val="FFFFFF"/>
    <a:srgbClr val="C3DFAF"/>
    <a:srgbClr val="C3C3C3"/>
    <a:srgbClr val="C1C1C1"/>
    <a:srgbClr val="C1C3C1"/>
    <a:srgbClr val="D7D7D7"/>
    <a:srgbClr val="C37839"/>
    <a:srgbClr val="F5D2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5664" autoAdjust="0"/>
  </p:normalViewPr>
  <p:slideViewPr>
    <p:cSldViewPr snapToGrid="0" showGuides="1">
      <p:cViewPr varScale="1">
        <p:scale>
          <a:sx n="88" d="100"/>
          <a:sy n="88" d="100"/>
        </p:scale>
        <p:origin x="108" y="232"/>
      </p:cViewPr>
      <p:guideLst>
        <p:guide orient="horz" pos="1996"/>
        <p:guide pos="4181"/>
        <p:guide orient="horz" pos="562"/>
        <p:guide pos="1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47" name="直接连接符 46"/>
          <p:cNvCxnSpPr/>
          <p:nvPr userDrawn="1"/>
        </p:nvCxnSpPr>
        <p:spPr>
          <a:xfrm>
            <a:off x="2419350" y="628491"/>
            <a:ext cx="9481914" cy="0"/>
          </a:xfrm>
          <a:prstGeom prst="line">
            <a:avLst/>
          </a:prstGeom>
          <a:ln w="15875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 userDrawn="1"/>
        </p:nvSpPr>
        <p:spPr>
          <a:xfrm>
            <a:off x="0" y="0"/>
            <a:ext cx="163140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4" name="组合 83"/>
          <p:cNvGrpSpPr/>
          <p:nvPr userDrawn="1"/>
        </p:nvGrpSpPr>
        <p:grpSpPr>
          <a:xfrm>
            <a:off x="561435" y="5953785"/>
            <a:ext cx="508537" cy="351105"/>
            <a:chOff x="1494889" y="5953785"/>
            <a:chExt cx="508537" cy="351105"/>
          </a:xfrm>
          <a:solidFill>
            <a:schemeClr val="accent1"/>
          </a:solidFill>
        </p:grpSpPr>
        <p:sp>
          <p:nvSpPr>
            <p:cNvPr id="85" name="矩形: 圆角 84"/>
            <p:cNvSpPr/>
            <p:nvPr/>
          </p:nvSpPr>
          <p:spPr>
            <a:xfrm>
              <a:off x="1494889" y="6230601"/>
              <a:ext cx="508537" cy="742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: 圆角 85"/>
            <p:cNvSpPr/>
            <p:nvPr/>
          </p:nvSpPr>
          <p:spPr>
            <a:xfrm>
              <a:off x="1581555" y="6092193"/>
              <a:ext cx="335203" cy="742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: 圆角 86"/>
            <p:cNvSpPr/>
            <p:nvPr/>
          </p:nvSpPr>
          <p:spPr>
            <a:xfrm>
              <a:off x="1659665" y="5953785"/>
              <a:ext cx="178984" cy="7428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C550A-ECD8-4A0F-9C2E-825EDB27FDD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380A2-10FB-4E5B-939A-9C8891966A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Layout" Target="../slideLayouts/slideLayout8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/>
          <p:cNvSpPr/>
          <p:nvPr/>
        </p:nvSpPr>
        <p:spPr>
          <a:xfrm>
            <a:off x="228600" y="220132"/>
            <a:ext cx="11734800" cy="6417735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/>
          <p:cNvSpPr/>
          <p:nvPr/>
        </p:nvSpPr>
        <p:spPr>
          <a:xfrm>
            <a:off x="0" y="2100283"/>
            <a:ext cx="12192000" cy="2766950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文本框 161"/>
          <p:cNvSpPr txBox="1"/>
          <p:nvPr/>
        </p:nvSpPr>
        <p:spPr>
          <a:xfrm>
            <a:off x="5101496" y="3862187"/>
            <a:ext cx="21082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spc="200" dirty="0">
                <a:solidFill>
                  <a:schemeClr val="bg1"/>
                </a:solidFill>
                <a:latin typeface="+mj-ea"/>
                <a:ea typeface="+mj-ea"/>
              </a:rPr>
              <a:t>第一周进展</a:t>
            </a:r>
          </a:p>
        </p:txBody>
      </p:sp>
      <p:sp>
        <p:nvSpPr>
          <p:cNvPr id="170" name="图形 103"/>
          <p:cNvSpPr/>
          <p:nvPr/>
        </p:nvSpPr>
        <p:spPr>
          <a:xfrm>
            <a:off x="5217941" y="5093828"/>
            <a:ext cx="187958" cy="220553"/>
          </a:xfrm>
          <a:custGeom>
            <a:avLst/>
            <a:gdLst>
              <a:gd name="connsiteX0" fmla="*/ 57047 w 187958"/>
              <a:gd name="connsiteY0" fmla="*/ 123640 h 220553"/>
              <a:gd name="connsiteX1" fmla="*/ 26647 w 187958"/>
              <a:gd name="connsiteY1" fmla="*/ 67332 h 220553"/>
              <a:gd name="connsiteX2" fmla="*/ 93979 w 187958"/>
              <a:gd name="connsiteY2" fmla="*/ 0 h 220553"/>
              <a:gd name="connsiteX3" fmla="*/ 161311 w 187958"/>
              <a:gd name="connsiteY3" fmla="*/ 67332 h 220553"/>
              <a:gd name="connsiteX4" fmla="*/ 130911 w 187958"/>
              <a:gd name="connsiteY4" fmla="*/ 123640 h 220553"/>
              <a:gd name="connsiteX5" fmla="*/ 187958 w 187958"/>
              <a:gd name="connsiteY5" fmla="*/ 210085 h 220553"/>
              <a:gd name="connsiteX6" fmla="*/ 177490 w 187958"/>
              <a:gd name="connsiteY6" fmla="*/ 220554 h 220553"/>
              <a:gd name="connsiteX7" fmla="*/ 167021 w 187958"/>
              <a:gd name="connsiteY7" fmla="*/ 210085 h 220553"/>
              <a:gd name="connsiteX8" fmla="*/ 93979 w 187958"/>
              <a:gd name="connsiteY8" fmla="*/ 137043 h 220553"/>
              <a:gd name="connsiteX9" fmla="*/ 20937 w 187958"/>
              <a:gd name="connsiteY9" fmla="*/ 210085 h 220553"/>
              <a:gd name="connsiteX10" fmla="*/ 10469 w 187958"/>
              <a:gd name="connsiteY10" fmla="*/ 220554 h 220553"/>
              <a:gd name="connsiteX11" fmla="*/ 0 w 187958"/>
              <a:gd name="connsiteY11" fmla="*/ 210085 h 220553"/>
              <a:gd name="connsiteX12" fmla="*/ 57047 w 187958"/>
              <a:gd name="connsiteY12" fmla="*/ 123640 h 220553"/>
              <a:gd name="connsiteX13" fmla="*/ 93979 w 187958"/>
              <a:gd name="connsiteY13" fmla="*/ 113727 h 220553"/>
              <a:gd name="connsiteX14" fmla="*/ 140374 w 187958"/>
              <a:gd name="connsiteY14" fmla="*/ 67332 h 220553"/>
              <a:gd name="connsiteX15" fmla="*/ 93979 w 187958"/>
              <a:gd name="connsiteY15" fmla="*/ 20937 h 220553"/>
              <a:gd name="connsiteX16" fmla="*/ 47584 w 187958"/>
              <a:gd name="connsiteY16" fmla="*/ 67332 h 220553"/>
              <a:gd name="connsiteX17" fmla="*/ 93979 w 187958"/>
              <a:gd name="connsiteY17" fmla="*/ 113727 h 220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7958" h="220553">
                <a:moveTo>
                  <a:pt x="57047" y="123640"/>
                </a:moveTo>
                <a:cubicBezTo>
                  <a:pt x="38737" y="111606"/>
                  <a:pt x="26647" y="90881"/>
                  <a:pt x="26647" y="67332"/>
                </a:cubicBezTo>
                <a:cubicBezTo>
                  <a:pt x="26647" y="30145"/>
                  <a:pt x="56793" y="0"/>
                  <a:pt x="93979" y="0"/>
                </a:cubicBezTo>
                <a:cubicBezTo>
                  <a:pt x="131166" y="0"/>
                  <a:pt x="161311" y="30145"/>
                  <a:pt x="161311" y="67332"/>
                </a:cubicBezTo>
                <a:cubicBezTo>
                  <a:pt x="161311" y="90881"/>
                  <a:pt x="149222" y="111606"/>
                  <a:pt x="130911" y="123640"/>
                </a:cubicBezTo>
                <a:cubicBezTo>
                  <a:pt x="164455" y="137990"/>
                  <a:pt x="187958" y="171293"/>
                  <a:pt x="187958" y="210085"/>
                </a:cubicBezTo>
                <a:cubicBezTo>
                  <a:pt x="187958" y="215867"/>
                  <a:pt x="183271" y="220554"/>
                  <a:pt x="177490" y="220554"/>
                </a:cubicBezTo>
                <a:cubicBezTo>
                  <a:pt x="171708" y="220554"/>
                  <a:pt x="167021" y="215867"/>
                  <a:pt x="167021" y="210085"/>
                </a:cubicBezTo>
                <a:cubicBezTo>
                  <a:pt x="167021" y="169745"/>
                  <a:pt x="134319" y="137043"/>
                  <a:pt x="93979" y="137043"/>
                </a:cubicBezTo>
                <a:cubicBezTo>
                  <a:pt x="53639" y="137043"/>
                  <a:pt x="20937" y="169745"/>
                  <a:pt x="20937" y="210085"/>
                </a:cubicBezTo>
                <a:cubicBezTo>
                  <a:pt x="20937" y="215867"/>
                  <a:pt x="16250" y="220554"/>
                  <a:pt x="10469" y="220554"/>
                </a:cubicBezTo>
                <a:cubicBezTo>
                  <a:pt x="4687" y="220554"/>
                  <a:pt x="0" y="215867"/>
                  <a:pt x="0" y="210085"/>
                </a:cubicBezTo>
                <a:cubicBezTo>
                  <a:pt x="0" y="171293"/>
                  <a:pt x="23504" y="137990"/>
                  <a:pt x="57047" y="123640"/>
                </a:cubicBezTo>
                <a:close/>
                <a:moveTo>
                  <a:pt x="93979" y="113727"/>
                </a:moveTo>
                <a:cubicBezTo>
                  <a:pt x="119602" y="113727"/>
                  <a:pt x="140374" y="92955"/>
                  <a:pt x="140374" y="67332"/>
                </a:cubicBezTo>
                <a:cubicBezTo>
                  <a:pt x="140374" y="41709"/>
                  <a:pt x="119602" y="20937"/>
                  <a:pt x="93979" y="20937"/>
                </a:cubicBezTo>
                <a:cubicBezTo>
                  <a:pt x="68356" y="20937"/>
                  <a:pt x="47584" y="41709"/>
                  <a:pt x="47584" y="67332"/>
                </a:cubicBezTo>
                <a:cubicBezTo>
                  <a:pt x="47584" y="92955"/>
                  <a:pt x="68356" y="113727"/>
                  <a:pt x="93979" y="113727"/>
                </a:cubicBezTo>
                <a:close/>
              </a:path>
            </a:pathLst>
          </a:custGeom>
          <a:solidFill>
            <a:schemeClr val="accent1"/>
          </a:solidFill>
          <a:ln w="23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1" name="文本框 170"/>
          <p:cNvSpPr txBox="1"/>
          <p:nvPr/>
        </p:nvSpPr>
        <p:spPr>
          <a:xfrm>
            <a:off x="5426685" y="5035571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汇报人：董泰伦</a:t>
            </a:r>
            <a:endParaRPr lang="en-US" altLang="zh-CN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BCBC2A-F50C-8623-6C07-8018619CB369}"/>
              </a:ext>
            </a:extLst>
          </p:cNvPr>
          <p:cNvSpPr txBox="1"/>
          <p:nvPr/>
        </p:nvSpPr>
        <p:spPr>
          <a:xfrm>
            <a:off x="434193" y="2730330"/>
            <a:ext cx="113236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spc="200" dirty="0">
                <a:solidFill>
                  <a:schemeClr val="bg1"/>
                </a:solidFill>
                <a:latin typeface="+mj-ea"/>
                <a:ea typeface="+mj-ea"/>
              </a:rPr>
              <a:t>低空无人机通感一体化波形与</a:t>
            </a:r>
            <a:r>
              <a:rPr lang="en-US" altLang="zh-CN" sz="4800" b="1" spc="200" dirty="0">
                <a:solidFill>
                  <a:schemeClr val="bg1"/>
                </a:solidFill>
                <a:latin typeface="+mj-ea"/>
                <a:ea typeface="+mj-ea"/>
              </a:rPr>
              <a:t>DOA</a:t>
            </a:r>
            <a:r>
              <a:rPr lang="zh-CN" altLang="en-US" sz="4800" b="1" spc="200" dirty="0">
                <a:solidFill>
                  <a:schemeClr val="bg1"/>
                </a:solidFill>
                <a:latin typeface="+mj-ea"/>
                <a:ea typeface="+mj-ea"/>
              </a:rPr>
              <a:t>估计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0" y="2127250"/>
            <a:ext cx="4775200" cy="2603500"/>
          </a:xfrm>
          <a:custGeom>
            <a:avLst/>
            <a:gdLst>
              <a:gd name="connsiteX0" fmla="*/ 0 w 4775200"/>
              <a:gd name="connsiteY0" fmla="*/ 0 h 2603500"/>
              <a:gd name="connsiteX1" fmla="*/ 3473450 w 4775200"/>
              <a:gd name="connsiteY1" fmla="*/ 0 h 2603500"/>
              <a:gd name="connsiteX2" fmla="*/ 4775200 w 4775200"/>
              <a:gd name="connsiteY2" fmla="*/ 1301750 h 2603500"/>
              <a:gd name="connsiteX3" fmla="*/ 3473450 w 4775200"/>
              <a:gd name="connsiteY3" fmla="*/ 2603500 h 2603500"/>
              <a:gd name="connsiteX4" fmla="*/ 0 w 4775200"/>
              <a:gd name="connsiteY4" fmla="*/ 2603500 h 260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0" h="2603500">
                <a:moveTo>
                  <a:pt x="0" y="0"/>
                </a:moveTo>
                <a:lnTo>
                  <a:pt x="3473450" y="0"/>
                </a:lnTo>
                <a:cubicBezTo>
                  <a:pt x="4192387" y="0"/>
                  <a:pt x="4775200" y="582813"/>
                  <a:pt x="4775200" y="1301750"/>
                </a:cubicBezTo>
                <a:cubicBezTo>
                  <a:pt x="4775200" y="2020687"/>
                  <a:pt x="4192387" y="2603500"/>
                  <a:pt x="3473450" y="2603500"/>
                </a:cubicBezTo>
                <a:lnTo>
                  <a:pt x="0" y="2603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402336" y="2672804"/>
            <a:ext cx="190308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100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15161" y="3668828"/>
            <a:ext cx="18774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 spc="300" dirty="0">
                <a:solidFill>
                  <a:schemeClr val="bg1">
                    <a:alpha val="8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contents</a:t>
            </a:r>
            <a:endParaRPr lang="zh-CN" altLang="en-US" sz="2800" b="1" spc="300" dirty="0">
              <a:solidFill>
                <a:schemeClr val="bg1">
                  <a:alpha val="8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418824" y="1813332"/>
            <a:ext cx="9316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spc="200" dirty="0">
                <a:solidFill>
                  <a:schemeClr val="accent1"/>
                </a:solidFill>
                <a:latin typeface="+mj-ea"/>
                <a:ea typeface="+mj-ea"/>
              </a:rPr>
              <a:t>01</a:t>
            </a:r>
            <a:endParaRPr lang="zh-CN" altLang="en-US" sz="4400" b="1" spc="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7395744" y="1807618"/>
            <a:ext cx="2214880" cy="70675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atin typeface="+mj-ea"/>
                <a:ea typeface="+mj-ea"/>
              </a:rPr>
              <a:t>综述阅读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418824" y="2892832"/>
            <a:ext cx="9316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spc="200" dirty="0">
                <a:solidFill>
                  <a:schemeClr val="accent1"/>
                </a:solidFill>
                <a:latin typeface="+mj-ea"/>
                <a:ea typeface="+mj-ea"/>
              </a:rPr>
              <a:t>02</a:t>
            </a:r>
            <a:endParaRPr lang="zh-CN" altLang="en-US" sz="4400" b="1" spc="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7395744" y="2887118"/>
            <a:ext cx="2390775" cy="70675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atin typeface="+mj-ea"/>
                <a:ea typeface="+mj-ea"/>
              </a:rPr>
              <a:t>DOA复习</a:t>
            </a: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6418824" y="3972332"/>
            <a:ext cx="9316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spc="200" dirty="0">
                <a:solidFill>
                  <a:schemeClr val="accent1"/>
                </a:solidFill>
                <a:latin typeface="+mj-ea"/>
                <a:ea typeface="+mj-ea"/>
              </a:rPr>
              <a:t>03</a:t>
            </a:r>
            <a:endParaRPr lang="zh-CN" altLang="en-US" sz="4400" b="1" spc="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7395744" y="3966618"/>
            <a:ext cx="2940050" cy="70675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atin typeface="+mj-ea"/>
                <a:ea typeface="+mj-ea"/>
              </a:rPr>
              <a:t>Sionna学习</a:t>
            </a:r>
          </a:p>
        </p:txBody>
      </p:sp>
      <p:grpSp>
        <p:nvGrpSpPr>
          <p:cNvPr id="14" name="组合 13"/>
          <p:cNvGrpSpPr/>
          <p:nvPr/>
        </p:nvGrpSpPr>
        <p:grpSpPr>
          <a:xfrm flipH="1">
            <a:off x="11088622" y="389631"/>
            <a:ext cx="596597" cy="262959"/>
            <a:chOff x="352728" y="249931"/>
            <a:chExt cx="723900" cy="319070"/>
          </a:xfrm>
        </p:grpSpPr>
        <p:sp>
          <p:nvSpPr>
            <p:cNvPr id="15" name="矩形: 圆角 14"/>
            <p:cNvSpPr/>
            <p:nvPr/>
          </p:nvSpPr>
          <p:spPr>
            <a:xfrm>
              <a:off x="352728" y="249931"/>
              <a:ext cx="72390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352728" y="372506"/>
              <a:ext cx="52516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352728" y="495081"/>
              <a:ext cx="35371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 flipV="1">
            <a:off x="518832" y="6208607"/>
            <a:ext cx="596597" cy="262959"/>
            <a:chOff x="352728" y="249931"/>
            <a:chExt cx="723900" cy="319070"/>
          </a:xfrm>
        </p:grpSpPr>
        <p:sp>
          <p:nvSpPr>
            <p:cNvPr id="19" name="矩形: 圆角 18"/>
            <p:cNvSpPr/>
            <p:nvPr/>
          </p:nvSpPr>
          <p:spPr>
            <a:xfrm>
              <a:off x="352728" y="249931"/>
              <a:ext cx="72390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/>
            <p:cNvSpPr/>
            <p:nvPr/>
          </p:nvSpPr>
          <p:spPr>
            <a:xfrm>
              <a:off x="352728" y="372506"/>
              <a:ext cx="52516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352728" y="495081"/>
              <a:ext cx="35371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11043763" y="5932117"/>
            <a:ext cx="630808" cy="552979"/>
            <a:chOff x="1143409" y="5756683"/>
            <a:chExt cx="226164" cy="198260"/>
          </a:xfrm>
          <a:solidFill>
            <a:schemeClr val="accent1"/>
          </a:solidFill>
        </p:grpSpPr>
        <p:sp>
          <p:nvSpPr>
            <p:cNvPr id="98" name="任意多边形: 形状 97"/>
            <p:cNvSpPr/>
            <p:nvPr/>
          </p:nvSpPr>
          <p:spPr>
            <a:xfrm>
              <a:off x="1143409" y="5756683"/>
              <a:ext cx="226164" cy="130990"/>
            </a:xfrm>
            <a:custGeom>
              <a:avLst/>
              <a:gdLst>
                <a:gd name="connsiteX0" fmla="*/ 109937 w 226164"/>
                <a:gd name="connsiteY0" fmla="*/ 130990 h 130990"/>
                <a:gd name="connsiteX1" fmla="*/ 105971 w 226164"/>
                <a:gd name="connsiteY1" fmla="*/ 129954 h 130990"/>
                <a:gd name="connsiteX2" fmla="*/ 4118 w 226164"/>
                <a:gd name="connsiteY2" fmla="*/ 72586 h 130990"/>
                <a:gd name="connsiteX3" fmla="*/ 0 w 226164"/>
                <a:gd name="connsiteY3" fmla="*/ 65538 h 130990"/>
                <a:gd name="connsiteX4" fmla="*/ 4118 w 226164"/>
                <a:gd name="connsiteY4" fmla="*/ 58490 h 130990"/>
                <a:gd name="connsiteX5" fmla="*/ 105971 w 226164"/>
                <a:gd name="connsiteY5" fmla="*/ 1046 h 130990"/>
                <a:gd name="connsiteX6" fmla="*/ 113727 w 226164"/>
                <a:gd name="connsiteY6" fmla="*/ 945 h 130990"/>
                <a:gd name="connsiteX7" fmla="*/ 221870 w 226164"/>
                <a:gd name="connsiteY7" fmla="*/ 58439 h 130990"/>
                <a:gd name="connsiteX8" fmla="*/ 226165 w 226164"/>
                <a:gd name="connsiteY8" fmla="*/ 65588 h 130990"/>
                <a:gd name="connsiteX9" fmla="*/ 221870 w 226164"/>
                <a:gd name="connsiteY9" fmla="*/ 72737 h 130990"/>
                <a:gd name="connsiteX10" fmla="*/ 113701 w 226164"/>
                <a:gd name="connsiteY10" fmla="*/ 130081 h 130990"/>
                <a:gd name="connsiteX11" fmla="*/ 109937 w 226164"/>
                <a:gd name="connsiteY11" fmla="*/ 130990 h 130990"/>
                <a:gd name="connsiteX12" fmla="*/ 24529 w 226164"/>
                <a:gd name="connsiteY12" fmla="*/ 65538 h 130990"/>
                <a:gd name="connsiteX13" fmla="*/ 110038 w 226164"/>
                <a:gd name="connsiteY13" fmla="*/ 113711 h 130990"/>
                <a:gd name="connsiteX14" fmla="*/ 200828 w 226164"/>
                <a:gd name="connsiteY14" fmla="*/ 65563 h 130990"/>
                <a:gd name="connsiteX15" fmla="*/ 110038 w 226164"/>
                <a:gd name="connsiteY15" fmla="*/ 17339 h 130990"/>
                <a:gd name="connsiteX16" fmla="*/ 24529 w 226164"/>
                <a:gd name="connsiteY16" fmla="*/ 65538 h 130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6164" h="130990">
                  <a:moveTo>
                    <a:pt x="109937" y="130990"/>
                  </a:moveTo>
                  <a:cubicBezTo>
                    <a:pt x="108573" y="130990"/>
                    <a:pt x="107209" y="130636"/>
                    <a:pt x="105971" y="129954"/>
                  </a:cubicBezTo>
                  <a:lnTo>
                    <a:pt x="4118" y="72586"/>
                  </a:lnTo>
                  <a:cubicBezTo>
                    <a:pt x="1566" y="71146"/>
                    <a:pt x="0" y="68468"/>
                    <a:pt x="0" y="65538"/>
                  </a:cubicBezTo>
                  <a:cubicBezTo>
                    <a:pt x="0" y="62608"/>
                    <a:pt x="1566" y="59930"/>
                    <a:pt x="4118" y="58490"/>
                  </a:cubicBezTo>
                  <a:lnTo>
                    <a:pt x="105971" y="1046"/>
                  </a:lnTo>
                  <a:cubicBezTo>
                    <a:pt x="108371" y="-318"/>
                    <a:pt x="111301" y="-344"/>
                    <a:pt x="113727" y="945"/>
                  </a:cubicBezTo>
                  <a:lnTo>
                    <a:pt x="221870" y="58439"/>
                  </a:lnTo>
                  <a:cubicBezTo>
                    <a:pt x="224523" y="59854"/>
                    <a:pt x="226165" y="62582"/>
                    <a:pt x="226165" y="65588"/>
                  </a:cubicBezTo>
                  <a:cubicBezTo>
                    <a:pt x="226165" y="68595"/>
                    <a:pt x="224523" y="71323"/>
                    <a:pt x="221870" y="72737"/>
                  </a:cubicBezTo>
                  <a:lnTo>
                    <a:pt x="113701" y="130081"/>
                  </a:lnTo>
                  <a:cubicBezTo>
                    <a:pt x="112539" y="130687"/>
                    <a:pt x="111226" y="130990"/>
                    <a:pt x="109937" y="130990"/>
                  </a:cubicBezTo>
                  <a:close/>
                  <a:moveTo>
                    <a:pt x="24529" y="65538"/>
                  </a:moveTo>
                  <a:lnTo>
                    <a:pt x="110038" y="113711"/>
                  </a:lnTo>
                  <a:lnTo>
                    <a:pt x="200828" y="65563"/>
                  </a:lnTo>
                  <a:lnTo>
                    <a:pt x="110038" y="17339"/>
                  </a:lnTo>
                  <a:lnTo>
                    <a:pt x="24529" y="65538"/>
                  </a:ln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1177840" y="5839828"/>
              <a:ext cx="157302" cy="87858"/>
            </a:xfrm>
            <a:custGeom>
              <a:avLst/>
              <a:gdLst>
                <a:gd name="connsiteX0" fmla="*/ 8084 w 157302"/>
                <a:gd name="connsiteY0" fmla="*/ 87859 h 87858"/>
                <a:gd name="connsiteX1" fmla="*/ 0 w 157302"/>
                <a:gd name="connsiteY1" fmla="*/ 79775 h 87858"/>
                <a:gd name="connsiteX2" fmla="*/ 0 w 157302"/>
                <a:gd name="connsiteY2" fmla="*/ 8084 h 87858"/>
                <a:gd name="connsiteX3" fmla="*/ 8084 w 157302"/>
                <a:gd name="connsiteY3" fmla="*/ 0 h 87858"/>
                <a:gd name="connsiteX4" fmla="*/ 16167 w 157302"/>
                <a:gd name="connsiteY4" fmla="*/ 8084 h 87858"/>
                <a:gd name="connsiteX5" fmla="*/ 16167 w 157302"/>
                <a:gd name="connsiteY5" fmla="*/ 79775 h 87858"/>
                <a:gd name="connsiteX6" fmla="*/ 8084 w 157302"/>
                <a:gd name="connsiteY6" fmla="*/ 87859 h 87858"/>
                <a:gd name="connsiteX7" fmla="*/ 149219 w 157302"/>
                <a:gd name="connsiteY7" fmla="*/ 87859 h 87858"/>
                <a:gd name="connsiteX8" fmla="*/ 141135 w 157302"/>
                <a:gd name="connsiteY8" fmla="*/ 79775 h 87858"/>
                <a:gd name="connsiteX9" fmla="*/ 141135 w 157302"/>
                <a:gd name="connsiteY9" fmla="*/ 8084 h 87858"/>
                <a:gd name="connsiteX10" fmla="*/ 149219 w 157302"/>
                <a:gd name="connsiteY10" fmla="*/ 0 h 87858"/>
                <a:gd name="connsiteX11" fmla="*/ 157302 w 157302"/>
                <a:gd name="connsiteY11" fmla="*/ 8084 h 87858"/>
                <a:gd name="connsiteX12" fmla="*/ 157302 w 157302"/>
                <a:gd name="connsiteY12" fmla="*/ 79775 h 87858"/>
                <a:gd name="connsiteX13" fmla="*/ 149219 w 157302"/>
                <a:gd name="connsiteY13" fmla="*/ 87859 h 87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7302" h="87858">
                  <a:moveTo>
                    <a:pt x="8084" y="87859"/>
                  </a:moveTo>
                  <a:cubicBezTo>
                    <a:pt x="3612" y="87859"/>
                    <a:pt x="0" y="84247"/>
                    <a:pt x="0" y="79775"/>
                  </a:cubicBezTo>
                  <a:lnTo>
                    <a:pt x="0" y="8084"/>
                  </a:lnTo>
                  <a:cubicBezTo>
                    <a:pt x="0" y="3612"/>
                    <a:pt x="3612" y="0"/>
                    <a:pt x="8084" y="0"/>
                  </a:cubicBezTo>
                  <a:cubicBezTo>
                    <a:pt x="12555" y="0"/>
                    <a:pt x="16167" y="3612"/>
                    <a:pt x="16167" y="8084"/>
                  </a:cubicBezTo>
                  <a:lnTo>
                    <a:pt x="16167" y="79775"/>
                  </a:lnTo>
                  <a:cubicBezTo>
                    <a:pt x="16167" y="84247"/>
                    <a:pt x="12555" y="87859"/>
                    <a:pt x="8084" y="87859"/>
                  </a:cubicBezTo>
                  <a:close/>
                  <a:moveTo>
                    <a:pt x="149219" y="87859"/>
                  </a:moveTo>
                  <a:cubicBezTo>
                    <a:pt x="144747" y="87859"/>
                    <a:pt x="141135" y="84247"/>
                    <a:pt x="141135" y="79775"/>
                  </a:cubicBezTo>
                  <a:lnTo>
                    <a:pt x="141135" y="8084"/>
                  </a:lnTo>
                  <a:cubicBezTo>
                    <a:pt x="141135" y="3612"/>
                    <a:pt x="144747" y="0"/>
                    <a:pt x="149219" y="0"/>
                  </a:cubicBezTo>
                  <a:cubicBezTo>
                    <a:pt x="153690" y="0"/>
                    <a:pt x="157302" y="3612"/>
                    <a:pt x="157302" y="8084"/>
                  </a:cubicBezTo>
                  <a:lnTo>
                    <a:pt x="157302" y="79775"/>
                  </a:lnTo>
                  <a:cubicBezTo>
                    <a:pt x="157302" y="84247"/>
                    <a:pt x="153665" y="87859"/>
                    <a:pt x="149219" y="87859"/>
                  </a:cubicBez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1177840" y="5848391"/>
              <a:ext cx="189459" cy="106552"/>
            </a:xfrm>
            <a:custGeom>
              <a:avLst/>
              <a:gdLst>
                <a:gd name="connsiteX0" fmla="*/ 78639 w 189459"/>
                <a:gd name="connsiteY0" fmla="*/ 106552 h 106552"/>
                <a:gd name="connsiteX1" fmla="*/ 26044 w 189459"/>
                <a:gd name="connsiteY1" fmla="*/ 98747 h 106552"/>
                <a:gd name="connsiteX2" fmla="*/ 8437 w 189459"/>
                <a:gd name="connsiteY2" fmla="*/ 89349 h 106552"/>
                <a:gd name="connsiteX3" fmla="*/ 0 w 189459"/>
                <a:gd name="connsiteY3" fmla="*/ 73409 h 106552"/>
                <a:gd name="connsiteX4" fmla="*/ 8084 w 189459"/>
                <a:gd name="connsiteY4" fmla="*/ 65326 h 106552"/>
                <a:gd name="connsiteX5" fmla="*/ 16167 w 189459"/>
                <a:gd name="connsiteY5" fmla="*/ 73409 h 106552"/>
                <a:gd name="connsiteX6" fmla="*/ 31450 w 189459"/>
                <a:gd name="connsiteY6" fmla="*/ 83539 h 106552"/>
                <a:gd name="connsiteX7" fmla="*/ 78639 w 189459"/>
                <a:gd name="connsiteY7" fmla="*/ 90410 h 106552"/>
                <a:gd name="connsiteX8" fmla="*/ 125827 w 189459"/>
                <a:gd name="connsiteY8" fmla="*/ 83539 h 106552"/>
                <a:gd name="connsiteX9" fmla="*/ 141110 w 189459"/>
                <a:gd name="connsiteY9" fmla="*/ 73409 h 106552"/>
                <a:gd name="connsiteX10" fmla="*/ 149193 w 189459"/>
                <a:gd name="connsiteY10" fmla="*/ 65326 h 106552"/>
                <a:gd name="connsiteX11" fmla="*/ 157277 w 189459"/>
                <a:gd name="connsiteY11" fmla="*/ 73409 h 106552"/>
                <a:gd name="connsiteX12" fmla="*/ 148840 w 189459"/>
                <a:gd name="connsiteY12" fmla="*/ 89349 h 106552"/>
                <a:gd name="connsiteX13" fmla="*/ 131233 w 189459"/>
                <a:gd name="connsiteY13" fmla="*/ 98747 h 106552"/>
                <a:gd name="connsiteX14" fmla="*/ 78639 w 189459"/>
                <a:gd name="connsiteY14" fmla="*/ 106552 h 106552"/>
                <a:gd name="connsiteX15" fmla="*/ 181376 w 189459"/>
                <a:gd name="connsiteY15" fmla="*/ 90183 h 106552"/>
                <a:gd name="connsiteX16" fmla="*/ 173293 w 189459"/>
                <a:gd name="connsiteY16" fmla="*/ 82099 h 106552"/>
                <a:gd name="connsiteX17" fmla="*/ 173293 w 189459"/>
                <a:gd name="connsiteY17" fmla="*/ 8084 h 106552"/>
                <a:gd name="connsiteX18" fmla="*/ 181376 w 189459"/>
                <a:gd name="connsiteY18" fmla="*/ 0 h 106552"/>
                <a:gd name="connsiteX19" fmla="*/ 189460 w 189459"/>
                <a:gd name="connsiteY19" fmla="*/ 8084 h 106552"/>
                <a:gd name="connsiteX20" fmla="*/ 189460 w 189459"/>
                <a:gd name="connsiteY20" fmla="*/ 82099 h 106552"/>
                <a:gd name="connsiteX21" fmla="*/ 181376 w 189459"/>
                <a:gd name="connsiteY21" fmla="*/ 90183 h 106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459" h="106552">
                  <a:moveTo>
                    <a:pt x="78639" y="106552"/>
                  </a:moveTo>
                  <a:cubicBezTo>
                    <a:pt x="58884" y="106552"/>
                    <a:pt x="40216" y="103774"/>
                    <a:pt x="26044" y="98747"/>
                  </a:cubicBezTo>
                  <a:cubicBezTo>
                    <a:pt x="18643" y="96119"/>
                    <a:pt x="12732" y="92962"/>
                    <a:pt x="8437" y="89349"/>
                  </a:cubicBezTo>
                  <a:cubicBezTo>
                    <a:pt x="1465" y="83489"/>
                    <a:pt x="0" y="77451"/>
                    <a:pt x="0" y="73409"/>
                  </a:cubicBezTo>
                  <a:cubicBezTo>
                    <a:pt x="0" y="68938"/>
                    <a:pt x="3612" y="65326"/>
                    <a:pt x="8084" y="65326"/>
                  </a:cubicBezTo>
                  <a:cubicBezTo>
                    <a:pt x="12555" y="65326"/>
                    <a:pt x="16167" y="68938"/>
                    <a:pt x="16167" y="73409"/>
                  </a:cubicBezTo>
                  <a:cubicBezTo>
                    <a:pt x="16167" y="74925"/>
                    <a:pt x="19906" y="79422"/>
                    <a:pt x="31450" y="83539"/>
                  </a:cubicBezTo>
                  <a:cubicBezTo>
                    <a:pt x="43929" y="87985"/>
                    <a:pt x="60678" y="90410"/>
                    <a:pt x="78639" y="90410"/>
                  </a:cubicBezTo>
                  <a:cubicBezTo>
                    <a:pt x="96599" y="90410"/>
                    <a:pt x="113348" y="87960"/>
                    <a:pt x="125827" y="83539"/>
                  </a:cubicBezTo>
                  <a:cubicBezTo>
                    <a:pt x="137371" y="79422"/>
                    <a:pt x="141110" y="74950"/>
                    <a:pt x="141110" y="73409"/>
                  </a:cubicBezTo>
                  <a:cubicBezTo>
                    <a:pt x="141110" y="68938"/>
                    <a:pt x="144722" y="65326"/>
                    <a:pt x="149193" y="65326"/>
                  </a:cubicBezTo>
                  <a:cubicBezTo>
                    <a:pt x="153665" y="65326"/>
                    <a:pt x="157277" y="68938"/>
                    <a:pt x="157277" y="73409"/>
                  </a:cubicBezTo>
                  <a:cubicBezTo>
                    <a:pt x="157277" y="77451"/>
                    <a:pt x="155812" y="83514"/>
                    <a:pt x="148840" y="89349"/>
                  </a:cubicBezTo>
                  <a:cubicBezTo>
                    <a:pt x="144545" y="92962"/>
                    <a:pt x="138609" y="96119"/>
                    <a:pt x="131233" y="98747"/>
                  </a:cubicBezTo>
                  <a:cubicBezTo>
                    <a:pt x="117086" y="103774"/>
                    <a:pt x="98393" y="106552"/>
                    <a:pt x="78639" y="106552"/>
                  </a:cubicBezTo>
                  <a:close/>
                  <a:moveTo>
                    <a:pt x="181376" y="90183"/>
                  </a:moveTo>
                  <a:cubicBezTo>
                    <a:pt x="176905" y="90183"/>
                    <a:pt x="173293" y="86571"/>
                    <a:pt x="173293" y="82099"/>
                  </a:cubicBezTo>
                  <a:lnTo>
                    <a:pt x="173293" y="8084"/>
                  </a:lnTo>
                  <a:cubicBezTo>
                    <a:pt x="173293" y="3612"/>
                    <a:pt x="176905" y="0"/>
                    <a:pt x="181376" y="0"/>
                  </a:cubicBezTo>
                  <a:cubicBezTo>
                    <a:pt x="185848" y="0"/>
                    <a:pt x="189460" y="3612"/>
                    <a:pt x="189460" y="8084"/>
                  </a:cubicBezTo>
                  <a:lnTo>
                    <a:pt x="189460" y="82099"/>
                  </a:lnTo>
                  <a:cubicBezTo>
                    <a:pt x="189460" y="86545"/>
                    <a:pt x="185848" y="90183"/>
                    <a:pt x="181376" y="90183"/>
                  </a:cubicBezTo>
                  <a:close/>
                </a:path>
              </a:pathLst>
            </a:custGeom>
            <a:grpFill/>
            <a:ln w="2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307393" y="166826"/>
            <a:ext cx="17570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1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综述阅读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/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" name="直接连接符 12"/>
          <p:cNvCxnSpPr/>
          <p:nvPr/>
        </p:nvCxnSpPr>
        <p:spPr>
          <a:xfrm>
            <a:off x="2419350" y="628491"/>
            <a:ext cx="9481914" cy="0"/>
          </a:xfrm>
          <a:prstGeom prst="line">
            <a:avLst/>
          </a:prstGeom>
          <a:ln w="15875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0" y="2401808"/>
            <a:ext cx="1631406" cy="530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65464" y="2449166"/>
            <a:ext cx="13004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bg1"/>
                </a:solidFill>
                <a:latin typeface="+mj-ea"/>
                <a:ea typeface="+mj-ea"/>
              </a:rPr>
              <a:t>综述阅读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113076" y="3168630"/>
            <a:ext cx="1405255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DOA复习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-50436" y="3888094"/>
            <a:ext cx="17322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Sionna学习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419350" y="1526574"/>
            <a:ext cx="8691336" cy="12659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400" spc="100" dirty="0">
                <a:latin typeface="+mn-ea"/>
              </a:rPr>
              <a:t>基本想法：让通信和雷达共用一套设备、同一种信号。对低空无人机，基站发一个信号，既能传数据，又能根据回波算出无人机在哪个方向（</a:t>
            </a:r>
            <a:r>
              <a:rPr lang="en-US" altLang="zh-CN" sz="1400" spc="100" dirty="0">
                <a:latin typeface="+mn-ea"/>
              </a:rPr>
              <a:t>DOA</a:t>
            </a:r>
            <a:r>
              <a:rPr lang="zh-CN" altLang="en-US" sz="1400" spc="100" dirty="0">
                <a:latin typeface="+mn-ea"/>
              </a:rPr>
              <a:t>）</a:t>
            </a:r>
            <a:endParaRPr lang="en-US" altLang="zh-CN" sz="1400" spc="1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400" spc="100" dirty="0">
                <a:latin typeface="+mn-ea"/>
              </a:rPr>
              <a:t>难点：通信要高速率，感知要测准，两个目的抢资源，需要折中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419350" y="3548093"/>
            <a:ext cx="8538936" cy="18802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400" spc="100" dirty="0">
                <a:latin typeface="+mn-ea"/>
              </a:rPr>
              <a:t>一体化波形：在通信用的</a:t>
            </a:r>
            <a:r>
              <a:rPr lang="en-US" altLang="zh-CN" sz="1400" spc="100" dirty="0">
                <a:latin typeface="+mn-ea"/>
              </a:rPr>
              <a:t>OFDM</a:t>
            </a:r>
            <a:r>
              <a:rPr lang="zh-CN" altLang="en-US" sz="1400" spc="100" dirty="0">
                <a:latin typeface="+mn-ea"/>
              </a:rPr>
              <a:t>帧里塞一些导频符号，通信数据用剩下的。调导频多少来控制感知精度。</a:t>
            </a:r>
            <a:endParaRPr lang="en-US" altLang="zh-CN" sz="1400" spc="1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400" spc="100" dirty="0">
                <a:latin typeface="+mn-ea"/>
              </a:rPr>
              <a:t>多站协同：一个基站测不准（比如有高楼遮挡），就多个基站联合，用到达时间差和角度一起算。</a:t>
            </a:r>
            <a:endParaRPr lang="en-US" altLang="zh-CN" sz="1400" spc="1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400" spc="100" dirty="0">
                <a:latin typeface="+mn-ea"/>
              </a:rPr>
              <a:t>多模态：通感信号容易受干扰，加摄像头或雷达做额外确认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19350" y="1138823"/>
            <a:ext cx="1387981" cy="347651"/>
            <a:chOff x="2324976" y="3384883"/>
            <a:chExt cx="1387981" cy="347651"/>
          </a:xfrm>
        </p:grpSpPr>
        <p:sp>
          <p:nvSpPr>
            <p:cNvPr id="14" name="矩形: 圆角 13"/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660598" y="3384883"/>
              <a:ext cx="7167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ISAC</a:t>
              </a:r>
              <a:endParaRPr lang="zh-CN" altLang="en-US" sz="1600" b="1" spc="1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419350" y="3167258"/>
            <a:ext cx="1387981" cy="347651"/>
            <a:chOff x="2324976" y="3384883"/>
            <a:chExt cx="1387981" cy="347651"/>
          </a:xfrm>
        </p:grpSpPr>
        <p:sp>
          <p:nvSpPr>
            <p:cNvPr id="20" name="矩形: 圆角 19"/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490615" y="3384883"/>
              <a:ext cx="10567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技术路线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307393" y="166826"/>
            <a:ext cx="1891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2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DOA复习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/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65464" y="2449166"/>
            <a:ext cx="13004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综述阅读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-50436" y="3888094"/>
            <a:ext cx="17322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Sionna学习</a:t>
            </a:r>
          </a:p>
        </p:txBody>
      </p:sp>
      <p:sp>
        <p:nvSpPr>
          <p:cNvPr id="25" name="矩形 24"/>
          <p:cNvSpPr/>
          <p:nvPr/>
        </p:nvSpPr>
        <p:spPr>
          <a:xfrm>
            <a:off x="0" y="3118696"/>
            <a:ext cx="1631406" cy="530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13076" y="3168630"/>
            <a:ext cx="1405255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bg1"/>
                </a:solidFill>
                <a:latin typeface="+mj-ea"/>
                <a:ea typeface="+mj-ea"/>
              </a:rPr>
              <a:t>DOA复习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28642" y="1570309"/>
            <a:ext cx="3307597" cy="421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数据集说明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hecktor2022_training/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├── imagesTr/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│   ├── CHUM-001__CT.nii.gz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│   ├── CHUM-001__PT.nii.gz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│   └── ...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├── labelsTr/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│   ├── CHUM-001.nii.gz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│   └── ...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├── hecktor2022_clinical_info_training.csv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└── hecktor2022_endpoint_training.csv</a:t>
            </a:r>
          </a:p>
          <a:p>
            <a:pPr>
              <a:lnSpc>
                <a:spcPct val="150000"/>
              </a:lnSpc>
            </a:pPr>
            <a:endParaRPr lang="zh-CN" altLang="en-US" sz="1200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docs/TNM_hector_prompts.csv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5605195" y="1727407"/>
            <a:ext cx="0" cy="4219257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2279650" y="2725783"/>
            <a:ext cx="2527481" cy="108857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307393" y="5430498"/>
            <a:ext cx="2499735" cy="36973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616" y="1985603"/>
            <a:ext cx="382991" cy="3861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350" y="1927213"/>
            <a:ext cx="330791" cy="415498"/>
          </a:xfrm>
          <a:prstGeom prst="rect">
            <a:avLst/>
          </a:prstGeom>
        </p:spPr>
      </p:pic>
      <p:sp>
        <p:nvSpPr>
          <p:cNvPr id="15" name="矩形: 圆角 14"/>
          <p:cNvSpPr/>
          <p:nvPr/>
        </p:nvSpPr>
        <p:spPr>
          <a:xfrm>
            <a:off x="6342278" y="2590658"/>
            <a:ext cx="4665276" cy="1097736"/>
          </a:xfrm>
          <a:prstGeom prst="roundRect">
            <a:avLst/>
          </a:prstGeom>
          <a:solidFill>
            <a:srgbClr val="D7D7D7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850059" y="2948497"/>
            <a:ext cx="18024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   CT-CLIP Backbone</a:t>
            </a:r>
            <a:r>
              <a:rPr lang="zh-CN" altLang="en-US" sz="1100" b="1" dirty="0"/>
              <a:t>（</a:t>
            </a:r>
            <a:r>
              <a:rPr lang="en-US" altLang="zh-CN" sz="1100" b="1" dirty="0"/>
              <a:t>foundation model</a:t>
            </a:r>
            <a:r>
              <a:rPr lang="zh-CN" altLang="en-US" sz="1100" b="1" dirty="0"/>
              <a:t>）</a:t>
            </a:r>
          </a:p>
        </p:txBody>
      </p:sp>
      <p:sp>
        <p:nvSpPr>
          <p:cNvPr id="11" name="矩形: 圆角 10"/>
          <p:cNvSpPr/>
          <p:nvPr/>
        </p:nvSpPr>
        <p:spPr>
          <a:xfrm>
            <a:off x="6941029" y="2821490"/>
            <a:ext cx="696686" cy="773192"/>
          </a:xfrm>
          <a:prstGeom prst="roundRect">
            <a:avLst/>
          </a:prstGeom>
          <a:solidFill>
            <a:srgbClr val="C3C3C3"/>
          </a:solidFill>
          <a:ln>
            <a:solidFill>
              <a:srgbClr val="C1C3C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/>
          <p:cNvSpPr/>
          <p:nvPr/>
        </p:nvSpPr>
        <p:spPr>
          <a:xfrm>
            <a:off x="9782605" y="2786256"/>
            <a:ext cx="696686" cy="773192"/>
          </a:xfrm>
          <a:prstGeom prst="roundRect">
            <a:avLst/>
          </a:prstGeom>
          <a:solidFill>
            <a:srgbClr val="C1C1C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977715" y="3023420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  Vison Encoder</a:t>
            </a:r>
            <a:endParaRPr lang="zh-CN" altLang="en-US" sz="900" dirty="0"/>
          </a:p>
        </p:txBody>
      </p:sp>
      <p:sp>
        <p:nvSpPr>
          <p:cNvPr id="20" name="文本框 19"/>
          <p:cNvSpPr txBox="1"/>
          <p:nvPr/>
        </p:nvSpPr>
        <p:spPr>
          <a:xfrm>
            <a:off x="9808731" y="3008966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Text Encoder</a:t>
            </a:r>
            <a:endParaRPr lang="zh-CN" altLang="en-US" sz="900" dirty="0"/>
          </a:p>
        </p:txBody>
      </p:sp>
      <p:cxnSp>
        <p:nvCxnSpPr>
          <p:cNvPr id="24" name="直接箭头连接符 23"/>
          <p:cNvCxnSpPr/>
          <p:nvPr/>
        </p:nvCxnSpPr>
        <p:spPr>
          <a:xfrm>
            <a:off x="7263178" y="2416185"/>
            <a:ext cx="4508" cy="361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10144011" y="2380951"/>
            <a:ext cx="0" cy="361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矩形: 圆角 20"/>
          <p:cNvSpPr/>
          <p:nvPr/>
        </p:nvSpPr>
        <p:spPr>
          <a:xfrm>
            <a:off x="6684102" y="4059629"/>
            <a:ext cx="1158151" cy="431626"/>
          </a:xfrm>
          <a:prstGeom prst="roundRect">
            <a:avLst/>
          </a:prstGeom>
          <a:solidFill>
            <a:srgbClr val="F5D2AB"/>
          </a:solidFill>
          <a:ln w="19050">
            <a:solidFill>
              <a:srgbClr val="C378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6641344" y="4097777"/>
            <a:ext cx="1243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PMA</a:t>
            </a:r>
          </a:p>
          <a:p>
            <a:pPr algn="ctr"/>
            <a:r>
              <a:rPr lang="en-US" altLang="zh-CN" sz="900" dirty="0"/>
              <a:t>(UNETR Decoder)</a:t>
            </a:r>
            <a:endParaRPr lang="zh-CN" altLang="en-US" sz="900" dirty="0"/>
          </a:p>
        </p:txBody>
      </p:sp>
      <p:sp>
        <p:nvSpPr>
          <p:cNvPr id="31" name="矩形: 圆角 30"/>
          <p:cNvSpPr/>
          <p:nvPr/>
        </p:nvSpPr>
        <p:spPr>
          <a:xfrm>
            <a:off x="8058315" y="4052597"/>
            <a:ext cx="1775638" cy="438658"/>
          </a:xfrm>
          <a:prstGeom prst="roundRect">
            <a:avLst/>
          </a:prstGeom>
          <a:solidFill>
            <a:srgbClr val="F5D2AB"/>
          </a:solidFill>
          <a:ln w="19050">
            <a:solidFill>
              <a:srgbClr val="C378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7929211" y="4148348"/>
            <a:ext cx="20491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/>
              <a:t>PMA(MLP + survival model)</a:t>
            </a:r>
          </a:p>
        </p:txBody>
      </p:sp>
      <p:cxnSp>
        <p:nvCxnSpPr>
          <p:cNvPr id="33" name="直接箭头连接符 32"/>
          <p:cNvCxnSpPr/>
          <p:nvPr/>
        </p:nvCxnSpPr>
        <p:spPr>
          <a:xfrm>
            <a:off x="7263178" y="3635222"/>
            <a:ext cx="0" cy="4384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连接符: 肘形 35"/>
          <p:cNvCxnSpPr>
            <a:endCxn id="31" idx="0"/>
          </p:cNvCxnSpPr>
          <p:nvPr/>
        </p:nvCxnSpPr>
        <p:spPr>
          <a:xfrm>
            <a:off x="7263178" y="3833735"/>
            <a:ext cx="1682956" cy="21886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10144012" y="3580334"/>
            <a:ext cx="0" cy="4370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7" name="图片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499" y="2837703"/>
            <a:ext cx="204636" cy="221588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8630" y="2808832"/>
            <a:ext cx="204636" cy="221588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7000785" y="1746665"/>
            <a:ext cx="6545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CT/PET</a:t>
            </a:r>
            <a:endParaRPr lang="zh-CN" altLang="en-US" sz="900" dirty="0"/>
          </a:p>
        </p:txBody>
      </p:sp>
      <p:sp>
        <p:nvSpPr>
          <p:cNvPr id="50" name="文本框 49"/>
          <p:cNvSpPr txBox="1"/>
          <p:nvPr/>
        </p:nvSpPr>
        <p:spPr>
          <a:xfrm>
            <a:off x="9843903" y="1702361"/>
            <a:ext cx="6545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Reports</a:t>
            </a:r>
            <a:endParaRPr lang="zh-CN" altLang="en-US" sz="900" dirty="0"/>
          </a:p>
        </p:txBody>
      </p:sp>
      <p:cxnSp>
        <p:nvCxnSpPr>
          <p:cNvPr id="58" name="连接符: 肘形 57"/>
          <p:cNvCxnSpPr>
            <a:endCxn id="31" idx="0"/>
          </p:cNvCxnSpPr>
          <p:nvPr/>
        </p:nvCxnSpPr>
        <p:spPr>
          <a:xfrm rot="10800000" flipV="1">
            <a:off x="8946135" y="3827543"/>
            <a:ext cx="1225035" cy="2250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: 圆角 63"/>
          <p:cNvSpPr/>
          <p:nvPr/>
        </p:nvSpPr>
        <p:spPr>
          <a:xfrm>
            <a:off x="10006972" y="4052597"/>
            <a:ext cx="766514" cy="431626"/>
          </a:xfrm>
          <a:prstGeom prst="roundRect">
            <a:avLst/>
          </a:prstGeom>
          <a:solidFill>
            <a:srgbClr val="F5D2AB"/>
          </a:solidFill>
          <a:ln w="19050">
            <a:solidFill>
              <a:srgbClr val="C378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9768396" y="4090776"/>
            <a:ext cx="1243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Original</a:t>
            </a:r>
          </a:p>
          <a:p>
            <a:pPr algn="ctr"/>
            <a:r>
              <a:rPr lang="en-US" altLang="zh-CN" sz="900" dirty="0"/>
              <a:t> task head</a:t>
            </a:r>
            <a:endParaRPr lang="zh-CN" altLang="en-US" sz="900" dirty="0"/>
          </a:p>
        </p:txBody>
      </p:sp>
      <p:cxnSp>
        <p:nvCxnSpPr>
          <p:cNvPr id="68" name="直接箭头连接符 67"/>
          <p:cNvCxnSpPr/>
          <p:nvPr/>
        </p:nvCxnSpPr>
        <p:spPr>
          <a:xfrm>
            <a:off x="7258669" y="4514543"/>
            <a:ext cx="4508" cy="361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8953780" y="4514543"/>
            <a:ext cx="4508" cy="361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10304633" y="4486477"/>
            <a:ext cx="4508" cy="361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2" name="图片 7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941" y="4900638"/>
            <a:ext cx="372175" cy="343268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7086481" y="4956856"/>
            <a:ext cx="971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segmentation</a:t>
            </a:r>
            <a:endParaRPr lang="zh-CN" altLang="en-US" sz="900" dirty="0"/>
          </a:p>
        </p:txBody>
      </p:sp>
      <p:pic>
        <p:nvPicPr>
          <p:cNvPr id="77" name="图片 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6775" y="4897345"/>
            <a:ext cx="372176" cy="348319"/>
          </a:xfrm>
          <a:prstGeom prst="rect">
            <a:avLst/>
          </a:prstGeom>
        </p:spPr>
      </p:pic>
      <p:sp>
        <p:nvSpPr>
          <p:cNvPr id="82" name="文本框 81"/>
          <p:cNvSpPr txBox="1"/>
          <p:nvPr/>
        </p:nvSpPr>
        <p:spPr>
          <a:xfrm>
            <a:off x="8872069" y="5013074"/>
            <a:ext cx="971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prognosis</a:t>
            </a:r>
            <a:endParaRPr lang="zh-CN" altLang="en-US" sz="900" dirty="0"/>
          </a:p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4940" y="4897345"/>
            <a:ext cx="372175" cy="382963"/>
          </a:xfrm>
          <a:prstGeom prst="rect">
            <a:avLst/>
          </a:prstGeom>
        </p:spPr>
      </p:pic>
      <p:sp>
        <p:nvSpPr>
          <p:cNvPr id="89" name="文本框 88"/>
          <p:cNvSpPr txBox="1"/>
          <p:nvPr/>
        </p:nvSpPr>
        <p:spPr>
          <a:xfrm>
            <a:off x="10304633" y="4963015"/>
            <a:ext cx="971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classification</a:t>
            </a:r>
            <a:endParaRPr lang="zh-CN" altLang="en-US" sz="900" dirty="0"/>
          </a:p>
        </p:txBody>
      </p:sp>
      <p:sp>
        <p:nvSpPr>
          <p:cNvPr id="96" name="文本框 95"/>
          <p:cNvSpPr txBox="1"/>
          <p:nvPr/>
        </p:nvSpPr>
        <p:spPr>
          <a:xfrm>
            <a:off x="4470833" y="2081101"/>
            <a:ext cx="1233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CT / PET </a:t>
            </a:r>
            <a:r>
              <a:rPr lang="zh-CN" altLang="en-US" sz="1400" dirty="0">
                <a:solidFill>
                  <a:srgbClr val="FF0000"/>
                </a:solidFill>
              </a:rPr>
              <a:t>医学影像</a:t>
            </a:r>
          </a:p>
        </p:txBody>
      </p:sp>
      <p:cxnSp>
        <p:nvCxnSpPr>
          <p:cNvPr id="98" name="直接箭头连接符 97"/>
          <p:cNvCxnSpPr/>
          <p:nvPr/>
        </p:nvCxnSpPr>
        <p:spPr>
          <a:xfrm flipV="1">
            <a:off x="4807128" y="2175748"/>
            <a:ext cx="2170587" cy="5216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3789955" y="6114042"/>
            <a:ext cx="1628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临床报告（</a:t>
            </a:r>
            <a:r>
              <a:rPr lang="en-US" altLang="zh-CN" sz="1400" dirty="0">
                <a:solidFill>
                  <a:srgbClr val="FF0000"/>
                </a:solidFill>
              </a:rPr>
              <a:t>EHR</a:t>
            </a:r>
            <a:r>
              <a:rPr lang="zh-CN" altLang="en-US" sz="1400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107" name="矩形: 圆角 106"/>
          <p:cNvSpPr/>
          <p:nvPr/>
        </p:nvSpPr>
        <p:spPr>
          <a:xfrm>
            <a:off x="9885566" y="3978416"/>
            <a:ext cx="1411390" cy="1301891"/>
          </a:xfrm>
          <a:prstGeom prst="round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: 圆角 107"/>
          <p:cNvSpPr/>
          <p:nvPr/>
        </p:nvSpPr>
        <p:spPr>
          <a:xfrm>
            <a:off x="6555670" y="3978417"/>
            <a:ext cx="1411390" cy="1301891"/>
          </a:xfrm>
          <a:prstGeom prst="round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9" name="直接箭头连接符 108"/>
          <p:cNvCxnSpPr/>
          <p:nvPr/>
        </p:nvCxnSpPr>
        <p:spPr>
          <a:xfrm>
            <a:off x="6279955" y="3201365"/>
            <a:ext cx="6610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1" name="图片 1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782" y="3030420"/>
            <a:ext cx="333121" cy="387296"/>
          </a:xfrm>
          <a:prstGeom prst="rect">
            <a:avLst/>
          </a:prstGeom>
        </p:spPr>
      </p:pic>
      <p:sp>
        <p:nvSpPr>
          <p:cNvPr id="113" name="矩形: 圆角 112"/>
          <p:cNvSpPr/>
          <p:nvPr/>
        </p:nvSpPr>
        <p:spPr>
          <a:xfrm>
            <a:off x="5727494" y="3030420"/>
            <a:ext cx="528431" cy="408750"/>
          </a:xfrm>
          <a:prstGeom prst="roundRect">
            <a:avLst/>
          </a:prstGeom>
          <a:solidFill>
            <a:srgbClr val="C3DFAF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5682366" y="3087759"/>
            <a:ext cx="670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LoRA</a:t>
            </a:r>
            <a:endParaRPr lang="zh-CN" altLang="en-US" sz="1400" dirty="0"/>
          </a:p>
        </p:txBody>
      </p:sp>
      <p:cxnSp>
        <p:nvCxnSpPr>
          <p:cNvPr id="119" name="连接符: 肘形 118"/>
          <p:cNvCxnSpPr>
            <a:stCxn id="17" idx="2"/>
          </p:cNvCxnSpPr>
          <p:nvPr/>
        </p:nvCxnSpPr>
        <p:spPr>
          <a:xfrm rot="5400000" flipH="1" flipV="1">
            <a:off x="5257887" y="457417"/>
            <a:ext cx="3642186" cy="7043438"/>
          </a:xfrm>
          <a:prstGeom prst="bentConnector4">
            <a:avLst>
              <a:gd name="adj1" fmla="val -6276"/>
              <a:gd name="adj2" fmla="val 11204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/>
          <p:nvPr/>
        </p:nvCxnSpPr>
        <p:spPr>
          <a:xfrm flipH="1">
            <a:off x="10455942" y="3139526"/>
            <a:ext cx="551612" cy="327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7" name="图片 1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7332" y="2969697"/>
            <a:ext cx="333121" cy="387296"/>
          </a:xfrm>
          <a:prstGeom prst="rect">
            <a:avLst/>
          </a:prstGeom>
        </p:spPr>
      </p:pic>
      <p:sp>
        <p:nvSpPr>
          <p:cNvPr id="128" name="矩形: 圆角 127"/>
          <p:cNvSpPr/>
          <p:nvPr/>
        </p:nvSpPr>
        <p:spPr>
          <a:xfrm>
            <a:off x="11028652" y="2951510"/>
            <a:ext cx="528431" cy="408750"/>
          </a:xfrm>
          <a:prstGeom prst="roundRect">
            <a:avLst/>
          </a:prstGeom>
          <a:solidFill>
            <a:srgbClr val="C3DFAF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文本框 128"/>
          <p:cNvSpPr txBox="1"/>
          <p:nvPr/>
        </p:nvSpPr>
        <p:spPr>
          <a:xfrm>
            <a:off x="11000232" y="3030420"/>
            <a:ext cx="654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LoRA</a:t>
            </a:r>
            <a:endParaRPr lang="zh-CN" altLang="en-US" sz="1400" dirty="0"/>
          </a:p>
        </p:txBody>
      </p:sp>
      <p:sp>
        <p:nvSpPr>
          <p:cNvPr id="29" name="文本框 28"/>
          <p:cNvSpPr txBox="1"/>
          <p:nvPr/>
        </p:nvSpPr>
        <p:spPr>
          <a:xfrm>
            <a:off x="2516524" y="851837"/>
            <a:ext cx="2922627" cy="415498"/>
          </a:xfrm>
          <a:prstGeom prst="rect">
            <a:avLst/>
          </a:prstGeom>
          <a:solidFill>
            <a:srgbClr val="0F6FC6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rgbClr val="FFFFFF"/>
                </a:solidFill>
                <a:latin typeface="+mj-ea"/>
                <a:ea typeface="+mj-ea"/>
              </a:rPr>
              <a:t>波束赋形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439151" y="851837"/>
            <a:ext cx="2912897" cy="415498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b="1" spc="100" dirty="0">
                <a:solidFill>
                  <a:srgbClr val="595959"/>
                </a:solidFill>
                <a:latin typeface="+mj-ea"/>
                <a:ea typeface="+mj-ea"/>
              </a:rPr>
              <a:t>MUSIC</a:t>
            </a:r>
            <a:endParaRPr lang="zh-CN" altLang="en-US" sz="2100" b="1" spc="100" dirty="0">
              <a:solidFill>
                <a:srgbClr val="595959"/>
              </a:solidFill>
              <a:latin typeface="+mj-ea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325F0F-D29E-0524-E477-441F8023382A}"/>
              </a:ext>
            </a:extLst>
          </p:cNvPr>
          <p:cNvSpPr txBox="1"/>
          <p:nvPr/>
        </p:nvSpPr>
        <p:spPr>
          <a:xfrm>
            <a:off x="8361778" y="851837"/>
            <a:ext cx="2912897" cy="415498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b="1" spc="100" dirty="0">
                <a:solidFill>
                  <a:srgbClr val="595959"/>
                </a:solidFill>
                <a:latin typeface="+mj-ea"/>
                <a:ea typeface="+mj-ea"/>
              </a:rPr>
              <a:t>ESPRIT</a:t>
            </a:r>
            <a:endParaRPr lang="zh-CN" altLang="en-US" sz="2100" b="1" spc="100" dirty="0">
              <a:solidFill>
                <a:srgbClr val="595959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77C03-9D14-F3E8-9C70-155F3F254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69FE31F-C9C4-3717-3242-55E33DD884B9}"/>
              </a:ext>
            </a:extLst>
          </p:cNvPr>
          <p:cNvSpPr txBox="1"/>
          <p:nvPr/>
        </p:nvSpPr>
        <p:spPr>
          <a:xfrm>
            <a:off x="2307393" y="166826"/>
            <a:ext cx="1891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2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DOA复习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F335B96-ABBA-4FDF-5D24-36884C0634BF}"/>
              </a:ext>
            </a:extLst>
          </p:cNvPr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C0931D79-06A0-C4FA-52AF-0CC7ED5DAA7D}"/>
                </a:ext>
              </a:extLst>
            </p:cNvPr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1EF6062-F6C1-3CB8-C6D2-ECA7BF255FA3}"/>
                </a:ext>
              </a:extLst>
            </p:cNvPr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9359E59C-494F-4F59-0C92-66927BE51157}"/>
              </a:ext>
            </a:extLst>
          </p:cNvPr>
          <p:cNvSpPr txBox="1"/>
          <p:nvPr/>
        </p:nvSpPr>
        <p:spPr>
          <a:xfrm>
            <a:off x="165464" y="2449166"/>
            <a:ext cx="13004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综述阅读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8177A20-1DC7-C2E4-95DF-5E8535F1218E}"/>
              </a:ext>
            </a:extLst>
          </p:cNvPr>
          <p:cNvSpPr txBox="1"/>
          <p:nvPr/>
        </p:nvSpPr>
        <p:spPr>
          <a:xfrm>
            <a:off x="-50436" y="3888094"/>
            <a:ext cx="17322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Sionna学习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DE1D5FA-C9A3-DD07-3D69-391E86C41C55}"/>
              </a:ext>
            </a:extLst>
          </p:cNvPr>
          <p:cNvSpPr/>
          <p:nvPr/>
        </p:nvSpPr>
        <p:spPr>
          <a:xfrm>
            <a:off x="0" y="3118696"/>
            <a:ext cx="1631406" cy="530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D318A6D-A148-87F8-E865-E0BC9C70D29A}"/>
              </a:ext>
            </a:extLst>
          </p:cNvPr>
          <p:cNvSpPr txBox="1"/>
          <p:nvPr/>
        </p:nvSpPr>
        <p:spPr>
          <a:xfrm>
            <a:off x="113076" y="3168630"/>
            <a:ext cx="1405255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bg1"/>
                </a:solidFill>
                <a:latin typeface="+mj-ea"/>
                <a:ea typeface="+mj-ea"/>
              </a:rPr>
              <a:t>DOA复习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5A56B5C-6511-38E6-C174-E76B9427E92C}"/>
              </a:ext>
            </a:extLst>
          </p:cNvPr>
          <p:cNvSpPr txBox="1"/>
          <p:nvPr/>
        </p:nvSpPr>
        <p:spPr>
          <a:xfrm>
            <a:off x="2328642" y="1570309"/>
            <a:ext cx="3307597" cy="421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数据集说明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hecktor2022_training/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├── imagesTr/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│   ├── CHUM-001__CT.nii.gz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│   ├── CHUM-001__PT.nii.gz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│   └── ...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├── labelsTr/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│   ├── CHUM-001.nii.gz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│   └── ...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├── hecktor2022_clinical_info_training.csv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└── hecktor2022_endpoint_training.csv</a:t>
            </a:r>
          </a:p>
          <a:p>
            <a:pPr>
              <a:lnSpc>
                <a:spcPct val="150000"/>
              </a:lnSpc>
            </a:pPr>
            <a:endParaRPr lang="zh-CN" altLang="en-US" sz="1200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docs/TNM_hector_prompts.csv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85B626D-9DD7-7E96-EDA4-6B0D7946C891}"/>
              </a:ext>
            </a:extLst>
          </p:cNvPr>
          <p:cNvCxnSpPr/>
          <p:nvPr/>
        </p:nvCxnSpPr>
        <p:spPr>
          <a:xfrm>
            <a:off x="5605195" y="1727407"/>
            <a:ext cx="0" cy="4219257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B2C25039-5CF8-4B2C-6D02-0715B39E8426}"/>
              </a:ext>
            </a:extLst>
          </p:cNvPr>
          <p:cNvSpPr/>
          <p:nvPr/>
        </p:nvSpPr>
        <p:spPr>
          <a:xfrm>
            <a:off x="2279650" y="2725783"/>
            <a:ext cx="2527481" cy="108857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14BF00-31BA-CA48-BE5B-AEDB8B6515C9}"/>
              </a:ext>
            </a:extLst>
          </p:cNvPr>
          <p:cNvSpPr/>
          <p:nvPr/>
        </p:nvSpPr>
        <p:spPr>
          <a:xfrm>
            <a:off x="2307393" y="5430498"/>
            <a:ext cx="2499735" cy="36973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6E7C417-A49B-62D2-00A4-649E2218D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616" y="1985603"/>
            <a:ext cx="382991" cy="38618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D9E5877-CB63-50EB-3625-AA9178DF2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350" y="1927213"/>
            <a:ext cx="330791" cy="415498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FF0B8D6-231E-DC7C-9061-441F8F716834}"/>
              </a:ext>
            </a:extLst>
          </p:cNvPr>
          <p:cNvSpPr/>
          <p:nvPr/>
        </p:nvSpPr>
        <p:spPr>
          <a:xfrm>
            <a:off x="6342278" y="2590658"/>
            <a:ext cx="4665276" cy="1097736"/>
          </a:xfrm>
          <a:prstGeom prst="roundRect">
            <a:avLst/>
          </a:prstGeom>
          <a:solidFill>
            <a:srgbClr val="D7D7D7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CDCA33F-C120-4D55-1A20-8DD8F6BCB594}"/>
              </a:ext>
            </a:extLst>
          </p:cNvPr>
          <p:cNvSpPr txBox="1"/>
          <p:nvPr/>
        </p:nvSpPr>
        <p:spPr>
          <a:xfrm>
            <a:off x="7850059" y="2948497"/>
            <a:ext cx="18024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   CT-CLIP Backbone</a:t>
            </a:r>
            <a:r>
              <a:rPr lang="zh-CN" altLang="en-US" sz="1100" b="1" dirty="0"/>
              <a:t>（</a:t>
            </a:r>
            <a:r>
              <a:rPr lang="en-US" altLang="zh-CN" sz="1100" b="1" dirty="0"/>
              <a:t>foundation model</a:t>
            </a:r>
            <a:r>
              <a:rPr lang="zh-CN" altLang="en-US" sz="1100" b="1" dirty="0"/>
              <a:t>）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57F50C7-CDAC-AD77-7A26-6C15FA2195CB}"/>
              </a:ext>
            </a:extLst>
          </p:cNvPr>
          <p:cNvSpPr/>
          <p:nvPr/>
        </p:nvSpPr>
        <p:spPr>
          <a:xfrm>
            <a:off x="6941029" y="2821490"/>
            <a:ext cx="696686" cy="773192"/>
          </a:xfrm>
          <a:prstGeom prst="roundRect">
            <a:avLst/>
          </a:prstGeom>
          <a:solidFill>
            <a:srgbClr val="C3C3C3"/>
          </a:solidFill>
          <a:ln>
            <a:solidFill>
              <a:srgbClr val="C1C3C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4BE8F4D-3D60-AC50-E5C2-CF105EF6798E}"/>
              </a:ext>
            </a:extLst>
          </p:cNvPr>
          <p:cNvSpPr/>
          <p:nvPr/>
        </p:nvSpPr>
        <p:spPr>
          <a:xfrm>
            <a:off x="9782605" y="2786256"/>
            <a:ext cx="696686" cy="773192"/>
          </a:xfrm>
          <a:prstGeom prst="roundRect">
            <a:avLst/>
          </a:prstGeom>
          <a:solidFill>
            <a:srgbClr val="C1C1C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0070BDD-290D-9CA3-F73E-ACE825E51FC7}"/>
              </a:ext>
            </a:extLst>
          </p:cNvPr>
          <p:cNvSpPr txBox="1"/>
          <p:nvPr/>
        </p:nvSpPr>
        <p:spPr>
          <a:xfrm>
            <a:off x="6977715" y="3023420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  Vison Encoder</a:t>
            </a:r>
            <a:endParaRPr lang="zh-CN" altLang="en-US" sz="9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CDC9B93-6FC4-C712-1EC3-828D6435B15F}"/>
              </a:ext>
            </a:extLst>
          </p:cNvPr>
          <p:cNvSpPr txBox="1"/>
          <p:nvPr/>
        </p:nvSpPr>
        <p:spPr>
          <a:xfrm>
            <a:off x="9808731" y="3008966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Text Encoder</a:t>
            </a:r>
            <a:endParaRPr lang="zh-CN" altLang="en-US" sz="900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C1DC8C9-6AF7-FE30-639F-63B3BFF6CCF3}"/>
              </a:ext>
            </a:extLst>
          </p:cNvPr>
          <p:cNvCxnSpPr/>
          <p:nvPr/>
        </p:nvCxnSpPr>
        <p:spPr>
          <a:xfrm>
            <a:off x="7263178" y="2416185"/>
            <a:ext cx="4508" cy="361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3FAB93A-2BE2-C47E-ED2F-A81D6A6EA53E}"/>
              </a:ext>
            </a:extLst>
          </p:cNvPr>
          <p:cNvCxnSpPr/>
          <p:nvPr/>
        </p:nvCxnSpPr>
        <p:spPr>
          <a:xfrm>
            <a:off x="10144011" y="2380951"/>
            <a:ext cx="0" cy="361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A32BEE5-337D-48C3-A30A-1E0801F2F6F3}"/>
              </a:ext>
            </a:extLst>
          </p:cNvPr>
          <p:cNvSpPr/>
          <p:nvPr/>
        </p:nvSpPr>
        <p:spPr>
          <a:xfrm>
            <a:off x="6684102" y="4059629"/>
            <a:ext cx="1158151" cy="431626"/>
          </a:xfrm>
          <a:prstGeom prst="roundRect">
            <a:avLst/>
          </a:prstGeom>
          <a:solidFill>
            <a:srgbClr val="F5D2AB"/>
          </a:solidFill>
          <a:ln w="19050">
            <a:solidFill>
              <a:srgbClr val="C378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9CA4443-33F9-D5F8-BA89-38B8916EEAFA}"/>
              </a:ext>
            </a:extLst>
          </p:cNvPr>
          <p:cNvSpPr txBox="1"/>
          <p:nvPr/>
        </p:nvSpPr>
        <p:spPr>
          <a:xfrm>
            <a:off x="6641344" y="4097777"/>
            <a:ext cx="1243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PMA</a:t>
            </a:r>
          </a:p>
          <a:p>
            <a:pPr algn="ctr"/>
            <a:r>
              <a:rPr lang="en-US" altLang="zh-CN" sz="900" dirty="0"/>
              <a:t>(UNETR Decoder)</a:t>
            </a:r>
            <a:endParaRPr lang="zh-CN" altLang="en-US" sz="900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648D870F-7A45-0A24-701C-8B86B3745A1B}"/>
              </a:ext>
            </a:extLst>
          </p:cNvPr>
          <p:cNvSpPr/>
          <p:nvPr/>
        </p:nvSpPr>
        <p:spPr>
          <a:xfrm>
            <a:off x="8058315" y="4052597"/>
            <a:ext cx="1775638" cy="438658"/>
          </a:xfrm>
          <a:prstGeom prst="roundRect">
            <a:avLst/>
          </a:prstGeom>
          <a:solidFill>
            <a:srgbClr val="F5D2AB"/>
          </a:solidFill>
          <a:ln w="19050">
            <a:solidFill>
              <a:srgbClr val="C378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6E9DBAD-5D82-250A-5C46-D6E35FC103FB}"/>
              </a:ext>
            </a:extLst>
          </p:cNvPr>
          <p:cNvSpPr txBox="1"/>
          <p:nvPr/>
        </p:nvSpPr>
        <p:spPr>
          <a:xfrm>
            <a:off x="7929211" y="4148348"/>
            <a:ext cx="20491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/>
              <a:t>PMA(MLP + survival model)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DBB68515-9D0A-AEF1-F37B-B3CC7E08AD4B}"/>
              </a:ext>
            </a:extLst>
          </p:cNvPr>
          <p:cNvCxnSpPr/>
          <p:nvPr/>
        </p:nvCxnSpPr>
        <p:spPr>
          <a:xfrm>
            <a:off x="7263178" y="3635222"/>
            <a:ext cx="0" cy="4384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EEAC29B5-AC29-D202-ED6E-7EB5BCB61A1A}"/>
              </a:ext>
            </a:extLst>
          </p:cNvPr>
          <p:cNvCxnSpPr>
            <a:endCxn id="31" idx="0"/>
          </p:cNvCxnSpPr>
          <p:nvPr/>
        </p:nvCxnSpPr>
        <p:spPr>
          <a:xfrm>
            <a:off x="7263178" y="3833735"/>
            <a:ext cx="1682956" cy="21886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D3BA1B9B-96AF-2CFB-1952-22F9B8495E0D}"/>
              </a:ext>
            </a:extLst>
          </p:cNvPr>
          <p:cNvCxnSpPr/>
          <p:nvPr/>
        </p:nvCxnSpPr>
        <p:spPr>
          <a:xfrm>
            <a:off x="10144012" y="3580334"/>
            <a:ext cx="0" cy="4370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7" name="图片 46">
            <a:extLst>
              <a:ext uri="{FF2B5EF4-FFF2-40B4-BE49-F238E27FC236}">
                <a16:creationId xmlns:a16="http://schemas.microsoft.com/office/drawing/2014/main" id="{46563470-1224-F85D-571A-3B419EB75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499" y="2837703"/>
            <a:ext cx="204636" cy="221588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A83CA9F4-4616-BBB7-6AD3-315609829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8630" y="2808832"/>
            <a:ext cx="204636" cy="221588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6C6EC08C-7E33-BC80-CD81-B55CFE5EDBC2}"/>
              </a:ext>
            </a:extLst>
          </p:cNvPr>
          <p:cNvSpPr txBox="1"/>
          <p:nvPr/>
        </p:nvSpPr>
        <p:spPr>
          <a:xfrm>
            <a:off x="7000785" y="1746665"/>
            <a:ext cx="6545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CT/PET</a:t>
            </a:r>
            <a:endParaRPr lang="zh-CN" altLang="en-US" sz="9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0E2EBFB-AD27-0F9C-6940-635EC0FCC132}"/>
              </a:ext>
            </a:extLst>
          </p:cNvPr>
          <p:cNvSpPr txBox="1"/>
          <p:nvPr/>
        </p:nvSpPr>
        <p:spPr>
          <a:xfrm>
            <a:off x="9843903" y="1702361"/>
            <a:ext cx="6545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Reports</a:t>
            </a:r>
            <a:endParaRPr lang="zh-CN" altLang="en-US" sz="900" dirty="0"/>
          </a:p>
        </p:txBody>
      </p: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EF8B613F-4581-7FD1-EF85-6699868CD72C}"/>
              </a:ext>
            </a:extLst>
          </p:cNvPr>
          <p:cNvCxnSpPr>
            <a:endCxn id="31" idx="0"/>
          </p:cNvCxnSpPr>
          <p:nvPr/>
        </p:nvCxnSpPr>
        <p:spPr>
          <a:xfrm rot="10800000" flipV="1">
            <a:off x="8946135" y="3827543"/>
            <a:ext cx="1225035" cy="2250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677CA8F2-8A22-E35D-3328-EA2C983B0922}"/>
              </a:ext>
            </a:extLst>
          </p:cNvPr>
          <p:cNvSpPr/>
          <p:nvPr/>
        </p:nvSpPr>
        <p:spPr>
          <a:xfrm>
            <a:off x="10006972" y="4052597"/>
            <a:ext cx="766514" cy="431626"/>
          </a:xfrm>
          <a:prstGeom prst="roundRect">
            <a:avLst/>
          </a:prstGeom>
          <a:solidFill>
            <a:srgbClr val="F5D2AB"/>
          </a:solidFill>
          <a:ln w="19050">
            <a:solidFill>
              <a:srgbClr val="C378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387316D-4D66-795E-AA87-EFAD93DFD84F}"/>
              </a:ext>
            </a:extLst>
          </p:cNvPr>
          <p:cNvSpPr txBox="1"/>
          <p:nvPr/>
        </p:nvSpPr>
        <p:spPr>
          <a:xfrm>
            <a:off x="9768396" y="4090776"/>
            <a:ext cx="1243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Original</a:t>
            </a:r>
          </a:p>
          <a:p>
            <a:pPr algn="ctr"/>
            <a:r>
              <a:rPr lang="en-US" altLang="zh-CN" sz="900" dirty="0"/>
              <a:t> task head</a:t>
            </a:r>
            <a:endParaRPr lang="zh-CN" altLang="en-US" sz="900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DB0473D5-5101-CB83-F7D2-EE2DE393EA57}"/>
              </a:ext>
            </a:extLst>
          </p:cNvPr>
          <p:cNvCxnSpPr/>
          <p:nvPr/>
        </p:nvCxnSpPr>
        <p:spPr>
          <a:xfrm>
            <a:off x="7258669" y="4514543"/>
            <a:ext cx="4508" cy="361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1855C38F-A17E-0831-836D-772B79CD7E2B}"/>
              </a:ext>
            </a:extLst>
          </p:cNvPr>
          <p:cNvCxnSpPr/>
          <p:nvPr/>
        </p:nvCxnSpPr>
        <p:spPr>
          <a:xfrm>
            <a:off x="8953780" y="4514543"/>
            <a:ext cx="4508" cy="361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A041F212-8C6D-F44F-3D39-374F68FC8735}"/>
              </a:ext>
            </a:extLst>
          </p:cNvPr>
          <p:cNvCxnSpPr/>
          <p:nvPr/>
        </p:nvCxnSpPr>
        <p:spPr>
          <a:xfrm>
            <a:off x="10304633" y="4486477"/>
            <a:ext cx="4508" cy="361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2" name="图片 71">
            <a:extLst>
              <a:ext uri="{FF2B5EF4-FFF2-40B4-BE49-F238E27FC236}">
                <a16:creationId xmlns:a16="http://schemas.microsoft.com/office/drawing/2014/main" id="{8C9C7FA3-EE1D-A555-C10E-D802AE9EF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941" y="4900638"/>
            <a:ext cx="372175" cy="343268"/>
          </a:xfrm>
          <a:prstGeom prst="rect">
            <a:avLst/>
          </a:prstGeom>
        </p:spPr>
      </p:pic>
      <p:sp>
        <p:nvSpPr>
          <p:cNvPr id="75" name="文本框 74">
            <a:extLst>
              <a:ext uri="{FF2B5EF4-FFF2-40B4-BE49-F238E27FC236}">
                <a16:creationId xmlns:a16="http://schemas.microsoft.com/office/drawing/2014/main" id="{2D60DA69-5A90-EE5A-CC42-3C3137D2240F}"/>
              </a:ext>
            </a:extLst>
          </p:cNvPr>
          <p:cNvSpPr txBox="1"/>
          <p:nvPr/>
        </p:nvSpPr>
        <p:spPr>
          <a:xfrm>
            <a:off x="7086481" y="4956856"/>
            <a:ext cx="971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segmentation</a:t>
            </a:r>
            <a:endParaRPr lang="zh-CN" altLang="en-US" sz="900" dirty="0"/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A37A1204-DB24-1AED-76FF-0842126AFF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6775" y="4897345"/>
            <a:ext cx="372176" cy="348319"/>
          </a:xfrm>
          <a:prstGeom prst="rect">
            <a:avLst/>
          </a:prstGeom>
        </p:spPr>
      </p:pic>
      <p:sp>
        <p:nvSpPr>
          <p:cNvPr id="82" name="文本框 81">
            <a:extLst>
              <a:ext uri="{FF2B5EF4-FFF2-40B4-BE49-F238E27FC236}">
                <a16:creationId xmlns:a16="http://schemas.microsoft.com/office/drawing/2014/main" id="{2A46E152-442B-3B91-61B4-89514F69354F}"/>
              </a:ext>
            </a:extLst>
          </p:cNvPr>
          <p:cNvSpPr txBox="1"/>
          <p:nvPr/>
        </p:nvSpPr>
        <p:spPr>
          <a:xfrm>
            <a:off x="8872069" y="5013074"/>
            <a:ext cx="971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prognosis</a:t>
            </a:r>
            <a:endParaRPr lang="zh-CN" altLang="en-US" sz="900" dirty="0"/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97714FA6-1F8B-A125-5360-41FFA1F7A8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4940" y="4897345"/>
            <a:ext cx="372175" cy="382963"/>
          </a:xfrm>
          <a:prstGeom prst="rect">
            <a:avLst/>
          </a:prstGeom>
        </p:spPr>
      </p:pic>
      <p:sp>
        <p:nvSpPr>
          <p:cNvPr id="89" name="文本框 88">
            <a:extLst>
              <a:ext uri="{FF2B5EF4-FFF2-40B4-BE49-F238E27FC236}">
                <a16:creationId xmlns:a16="http://schemas.microsoft.com/office/drawing/2014/main" id="{AD1F79CB-1AC8-26E1-1E62-478DE88EC662}"/>
              </a:ext>
            </a:extLst>
          </p:cNvPr>
          <p:cNvSpPr txBox="1"/>
          <p:nvPr/>
        </p:nvSpPr>
        <p:spPr>
          <a:xfrm>
            <a:off x="10304633" y="4963015"/>
            <a:ext cx="971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classification</a:t>
            </a:r>
            <a:endParaRPr lang="zh-CN" altLang="en-US" sz="900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A32A4B92-5D00-D734-632C-D817D94FBB75}"/>
              </a:ext>
            </a:extLst>
          </p:cNvPr>
          <p:cNvSpPr txBox="1"/>
          <p:nvPr/>
        </p:nvSpPr>
        <p:spPr>
          <a:xfrm>
            <a:off x="4470833" y="2081101"/>
            <a:ext cx="1233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CT / PET </a:t>
            </a:r>
            <a:r>
              <a:rPr lang="zh-CN" altLang="en-US" sz="1400" dirty="0">
                <a:solidFill>
                  <a:srgbClr val="FF0000"/>
                </a:solidFill>
              </a:rPr>
              <a:t>医学影像</a:t>
            </a:r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540ED46A-825E-069E-8485-3E1E2D6EDBEA}"/>
              </a:ext>
            </a:extLst>
          </p:cNvPr>
          <p:cNvCxnSpPr/>
          <p:nvPr/>
        </p:nvCxnSpPr>
        <p:spPr>
          <a:xfrm flipV="1">
            <a:off x="4807128" y="2175748"/>
            <a:ext cx="2170587" cy="5216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>
            <a:extLst>
              <a:ext uri="{FF2B5EF4-FFF2-40B4-BE49-F238E27FC236}">
                <a16:creationId xmlns:a16="http://schemas.microsoft.com/office/drawing/2014/main" id="{D18CF161-97CA-B9DB-39C1-E81E3A187C5E}"/>
              </a:ext>
            </a:extLst>
          </p:cNvPr>
          <p:cNvSpPr txBox="1"/>
          <p:nvPr/>
        </p:nvSpPr>
        <p:spPr>
          <a:xfrm>
            <a:off x="3789955" y="6114042"/>
            <a:ext cx="1628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临床报告（</a:t>
            </a:r>
            <a:r>
              <a:rPr lang="en-US" altLang="zh-CN" sz="1400" dirty="0">
                <a:solidFill>
                  <a:srgbClr val="FF0000"/>
                </a:solidFill>
              </a:rPr>
              <a:t>EHR</a:t>
            </a:r>
            <a:r>
              <a:rPr lang="zh-CN" altLang="en-US" sz="1400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BCCF4CA1-7FCB-EB28-8A59-03885418248B}"/>
              </a:ext>
            </a:extLst>
          </p:cNvPr>
          <p:cNvSpPr/>
          <p:nvPr/>
        </p:nvSpPr>
        <p:spPr>
          <a:xfrm>
            <a:off x="9885566" y="3978416"/>
            <a:ext cx="1411390" cy="1301891"/>
          </a:xfrm>
          <a:prstGeom prst="round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5A6FA4A5-4C77-1FC5-5D06-8780EAFBDC25}"/>
              </a:ext>
            </a:extLst>
          </p:cNvPr>
          <p:cNvSpPr/>
          <p:nvPr/>
        </p:nvSpPr>
        <p:spPr>
          <a:xfrm>
            <a:off x="6555670" y="3978417"/>
            <a:ext cx="1411390" cy="1301891"/>
          </a:xfrm>
          <a:prstGeom prst="round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4E0091F5-150E-0ED1-2F90-A66C2093D676}"/>
              </a:ext>
            </a:extLst>
          </p:cNvPr>
          <p:cNvCxnSpPr/>
          <p:nvPr/>
        </p:nvCxnSpPr>
        <p:spPr>
          <a:xfrm>
            <a:off x="6279955" y="3201365"/>
            <a:ext cx="6610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1" name="图片 110">
            <a:extLst>
              <a:ext uri="{FF2B5EF4-FFF2-40B4-BE49-F238E27FC236}">
                <a16:creationId xmlns:a16="http://schemas.microsoft.com/office/drawing/2014/main" id="{7F7CD509-5F66-D291-6816-07B64E4228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782" y="3030420"/>
            <a:ext cx="333121" cy="387296"/>
          </a:xfrm>
          <a:prstGeom prst="rect">
            <a:avLst/>
          </a:prstGeom>
        </p:spPr>
      </p:pic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AC3C4B82-61F2-1C1F-74DD-012EE56D050B}"/>
              </a:ext>
            </a:extLst>
          </p:cNvPr>
          <p:cNvSpPr/>
          <p:nvPr/>
        </p:nvSpPr>
        <p:spPr>
          <a:xfrm>
            <a:off x="5727494" y="3030420"/>
            <a:ext cx="528431" cy="408750"/>
          </a:xfrm>
          <a:prstGeom prst="roundRect">
            <a:avLst/>
          </a:prstGeom>
          <a:solidFill>
            <a:srgbClr val="C3DFAF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039D00AF-6C33-DF07-4BC2-3E083B99C534}"/>
              </a:ext>
            </a:extLst>
          </p:cNvPr>
          <p:cNvSpPr txBox="1"/>
          <p:nvPr/>
        </p:nvSpPr>
        <p:spPr>
          <a:xfrm>
            <a:off x="5682366" y="3087759"/>
            <a:ext cx="670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LoRA</a:t>
            </a:r>
            <a:endParaRPr lang="zh-CN" altLang="en-US" sz="1400" dirty="0"/>
          </a:p>
        </p:txBody>
      </p:sp>
      <p:cxnSp>
        <p:nvCxnSpPr>
          <p:cNvPr id="119" name="连接符: 肘形 118">
            <a:extLst>
              <a:ext uri="{FF2B5EF4-FFF2-40B4-BE49-F238E27FC236}">
                <a16:creationId xmlns:a16="http://schemas.microsoft.com/office/drawing/2014/main" id="{C0125790-D278-BC52-153C-C26BF2193170}"/>
              </a:ext>
            </a:extLst>
          </p:cNvPr>
          <p:cNvCxnSpPr>
            <a:stCxn id="17" idx="2"/>
          </p:cNvCxnSpPr>
          <p:nvPr/>
        </p:nvCxnSpPr>
        <p:spPr>
          <a:xfrm rot="5400000" flipH="1" flipV="1">
            <a:off x="5257887" y="457417"/>
            <a:ext cx="3642186" cy="7043438"/>
          </a:xfrm>
          <a:prstGeom prst="bentConnector4">
            <a:avLst>
              <a:gd name="adj1" fmla="val -6276"/>
              <a:gd name="adj2" fmla="val 11204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8CCD9742-D6C9-252B-F131-C453C33C05C6}"/>
              </a:ext>
            </a:extLst>
          </p:cNvPr>
          <p:cNvCxnSpPr/>
          <p:nvPr/>
        </p:nvCxnSpPr>
        <p:spPr>
          <a:xfrm flipH="1">
            <a:off x="10455942" y="3139526"/>
            <a:ext cx="551612" cy="327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7" name="图片 126">
            <a:extLst>
              <a:ext uri="{FF2B5EF4-FFF2-40B4-BE49-F238E27FC236}">
                <a16:creationId xmlns:a16="http://schemas.microsoft.com/office/drawing/2014/main" id="{0A13B185-7395-0B93-BCBA-9BDC4506E7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7332" y="2969697"/>
            <a:ext cx="333121" cy="387296"/>
          </a:xfrm>
          <a:prstGeom prst="rect">
            <a:avLst/>
          </a:prstGeom>
        </p:spPr>
      </p:pic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822ADA44-8951-18A9-BFB9-39A42D7A0AE8}"/>
              </a:ext>
            </a:extLst>
          </p:cNvPr>
          <p:cNvSpPr/>
          <p:nvPr/>
        </p:nvSpPr>
        <p:spPr>
          <a:xfrm>
            <a:off x="11028652" y="2951510"/>
            <a:ext cx="528431" cy="408750"/>
          </a:xfrm>
          <a:prstGeom prst="roundRect">
            <a:avLst/>
          </a:prstGeom>
          <a:solidFill>
            <a:srgbClr val="C3DFAF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B23B3637-C382-75C8-4EEF-8F6D7F47CF92}"/>
              </a:ext>
            </a:extLst>
          </p:cNvPr>
          <p:cNvSpPr txBox="1"/>
          <p:nvPr/>
        </p:nvSpPr>
        <p:spPr>
          <a:xfrm>
            <a:off x="11000232" y="3030420"/>
            <a:ext cx="654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LoRA</a:t>
            </a:r>
            <a:endParaRPr lang="zh-CN" altLang="en-US" sz="14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C4FBFF7-E3DD-120F-9AC9-9A63F0663B9E}"/>
              </a:ext>
            </a:extLst>
          </p:cNvPr>
          <p:cNvSpPr txBox="1"/>
          <p:nvPr/>
        </p:nvSpPr>
        <p:spPr>
          <a:xfrm>
            <a:off x="2516524" y="851837"/>
            <a:ext cx="2922627" cy="415498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rgbClr val="595959"/>
                </a:solidFill>
                <a:latin typeface="+mj-ea"/>
                <a:ea typeface="+mj-ea"/>
              </a:rPr>
              <a:t>波束赋形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45FA5BD-54B7-029B-7D91-B9B3C1657CA8}"/>
              </a:ext>
            </a:extLst>
          </p:cNvPr>
          <p:cNvSpPr txBox="1"/>
          <p:nvPr/>
        </p:nvSpPr>
        <p:spPr>
          <a:xfrm>
            <a:off x="5439151" y="851837"/>
            <a:ext cx="2912897" cy="415498"/>
          </a:xfrm>
          <a:prstGeom prst="rect">
            <a:avLst/>
          </a:prstGeom>
          <a:solidFill>
            <a:srgbClr val="0F6FC6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b="1" spc="100" dirty="0">
                <a:solidFill>
                  <a:schemeClr val="bg1"/>
                </a:solidFill>
                <a:latin typeface="+mj-ea"/>
                <a:ea typeface="+mj-ea"/>
              </a:rPr>
              <a:t>MUSIC</a:t>
            </a:r>
            <a:endParaRPr lang="zh-CN" altLang="en-US" sz="2100" b="1" spc="1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C8F615-F91B-E8E8-B7DA-67AB94C609D3}"/>
              </a:ext>
            </a:extLst>
          </p:cNvPr>
          <p:cNvSpPr txBox="1"/>
          <p:nvPr/>
        </p:nvSpPr>
        <p:spPr>
          <a:xfrm>
            <a:off x="8361778" y="851837"/>
            <a:ext cx="2912897" cy="415498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b="1" spc="100" dirty="0">
                <a:solidFill>
                  <a:srgbClr val="595959"/>
                </a:solidFill>
                <a:latin typeface="+mj-ea"/>
                <a:ea typeface="+mj-ea"/>
              </a:rPr>
              <a:t>ESPRIT</a:t>
            </a:r>
            <a:endParaRPr lang="zh-CN" altLang="en-US" sz="2100" b="1" spc="100" dirty="0">
              <a:solidFill>
                <a:srgbClr val="595959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51101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11C14-A3FF-36FB-14AC-B3BD8583B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9E6D87A-375A-57FC-FFF2-4178D27A225A}"/>
              </a:ext>
            </a:extLst>
          </p:cNvPr>
          <p:cNvSpPr txBox="1"/>
          <p:nvPr/>
        </p:nvSpPr>
        <p:spPr>
          <a:xfrm>
            <a:off x="2307393" y="166826"/>
            <a:ext cx="1891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2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DOA复习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B4A77C0-DF70-8BEB-3783-8555606BAEF9}"/>
              </a:ext>
            </a:extLst>
          </p:cNvPr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4860729B-CC44-5484-AC45-E70FE9254DE7}"/>
                </a:ext>
              </a:extLst>
            </p:cNvPr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653CB113-6374-020A-A4B2-CC27EC3954F2}"/>
                </a:ext>
              </a:extLst>
            </p:cNvPr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BAEBF60F-3F0D-1BE9-9B85-03AC92838325}"/>
              </a:ext>
            </a:extLst>
          </p:cNvPr>
          <p:cNvSpPr txBox="1"/>
          <p:nvPr/>
        </p:nvSpPr>
        <p:spPr>
          <a:xfrm>
            <a:off x="165464" y="2449166"/>
            <a:ext cx="13004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综述阅读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3C20DF1-9B5A-D36A-352B-03808496AC00}"/>
              </a:ext>
            </a:extLst>
          </p:cNvPr>
          <p:cNvSpPr txBox="1"/>
          <p:nvPr/>
        </p:nvSpPr>
        <p:spPr>
          <a:xfrm>
            <a:off x="-50436" y="3888094"/>
            <a:ext cx="17322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Sionna学习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83A6AD9-77A6-7D11-1019-9AA23BC196A3}"/>
              </a:ext>
            </a:extLst>
          </p:cNvPr>
          <p:cNvSpPr/>
          <p:nvPr/>
        </p:nvSpPr>
        <p:spPr>
          <a:xfrm>
            <a:off x="0" y="3118696"/>
            <a:ext cx="1631406" cy="530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095C3C0-0BFB-D1CB-2B7E-7640F10333B8}"/>
              </a:ext>
            </a:extLst>
          </p:cNvPr>
          <p:cNvSpPr txBox="1"/>
          <p:nvPr/>
        </p:nvSpPr>
        <p:spPr>
          <a:xfrm>
            <a:off x="113076" y="3168630"/>
            <a:ext cx="1405255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bg1"/>
                </a:solidFill>
                <a:latin typeface="+mj-ea"/>
                <a:ea typeface="+mj-ea"/>
              </a:rPr>
              <a:t>DOA复习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C7BC7AF-48B8-18B2-EFDA-D08E24A1438E}"/>
              </a:ext>
            </a:extLst>
          </p:cNvPr>
          <p:cNvSpPr txBox="1"/>
          <p:nvPr/>
        </p:nvSpPr>
        <p:spPr>
          <a:xfrm>
            <a:off x="2328642" y="1570309"/>
            <a:ext cx="3307597" cy="421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数据集说明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hecktor2022_training/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├── imagesTr/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│   ├── CHUM-001__CT.nii.gz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│   ├── CHUM-001__PT.nii.gz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│   └── ...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├── labelsTr/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│   ├── CHUM-001.nii.gz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│   └── ...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├── hecktor2022_clinical_info_training.csv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└── hecktor2022_endpoint_training.csv</a:t>
            </a:r>
          </a:p>
          <a:p>
            <a:pPr>
              <a:lnSpc>
                <a:spcPct val="150000"/>
              </a:lnSpc>
            </a:pPr>
            <a:endParaRPr lang="zh-CN" altLang="en-US" sz="1200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docs/TNM_hector_prompts.csv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C4C85CB-8656-5A90-63B5-9634EC702254}"/>
              </a:ext>
            </a:extLst>
          </p:cNvPr>
          <p:cNvCxnSpPr/>
          <p:nvPr/>
        </p:nvCxnSpPr>
        <p:spPr>
          <a:xfrm>
            <a:off x="5605195" y="1727407"/>
            <a:ext cx="0" cy="4219257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8D5B56B8-02B5-46B7-5BFD-9AD0F7DA7E9B}"/>
              </a:ext>
            </a:extLst>
          </p:cNvPr>
          <p:cNvSpPr/>
          <p:nvPr/>
        </p:nvSpPr>
        <p:spPr>
          <a:xfrm>
            <a:off x="2279650" y="2725783"/>
            <a:ext cx="2527481" cy="108857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8BAAE9-6D42-58FC-DF1B-EADDB2C04666}"/>
              </a:ext>
            </a:extLst>
          </p:cNvPr>
          <p:cNvSpPr/>
          <p:nvPr/>
        </p:nvSpPr>
        <p:spPr>
          <a:xfrm>
            <a:off x="2307393" y="5430498"/>
            <a:ext cx="2499735" cy="36973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5B5A4F-4A27-98A3-5894-5CA3AFB2E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616" y="1985603"/>
            <a:ext cx="382991" cy="38618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DA53EAB-08E7-6301-10DF-131860F20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350" y="1927213"/>
            <a:ext cx="330791" cy="415498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7F696BE-A73E-33FA-862D-9914221C4B17}"/>
              </a:ext>
            </a:extLst>
          </p:cNvPr>
          <p:cNvSpPr/>
          <p:nvPr/>
        </p:nvSpPr>
        <p:spPr>
          <a:xfrm>
            <a:off x="6342278" y="2590658"/>
            <a:ext cx="4665276" cy="1097736"/>
          </a:xfrm>
          <a:prstGeom prst="roundRect">
            <a:avLst/>
          </a:prstGeom>
          <a:solidFill>
            <a:srgbClr val="D7D7D7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9B881DC-35E0-F3A0-C330-A0681C990977}"/>
              </a:ext>
            </a:extLst>
          </p:cNvPr>
          <p:cNvSpPr txBox="1"/>
          <p:nvPr/>
        </p:nvSpPr>
        <p:spPr>
          <a:xfrm>
            <a:off x="7850059" y="2948497"/>
            <a:ext cx="18024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   CT-CLIP Backbone</a:t>
            </a:r>
            <a:r>
              <a:rPr lang="zh-CN" altLang="en-US" sz="1100" b="1" dirty="0"/>
              <a:t>（</a:t>
            </a:r>
            <a:r>
              <a:rPr lang="en-US" altLang="zh-CN" sz="1100" b="1" dirty="0"/>
              <a:t>foundation model</a:t>
            </a:r>
            <a:r>
              <a:rPr lang="zh-CN" altLang="en-US" sz="1100" b="1" dirty="0"/>
              <a:t>）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4CECE0F-537B-A14E-8B99-B26740F4CED5}"/>
              </a:ext>
            </a:extLst>
          </p:cNvPr>
          <p:cNvSpPr/>
          <p:nvPr/>
        </p:nvSpPr>
        <p:spPr>
          <a:xfrm>
            <a:off x="6941029" y="2821490"/>
            <a:ext cx="696686" cy="773192"/>
          </a:xfrm>
          <a:prstGeom prst="roundRect">
            <a:avLst/>
          </a:prstGeom>
          <a:solidFill>
            <a:srgbClr val="C3C3C3"/>
          </a:solidFill>
          <a:ln>
            <a:solidFill>
              <a:srgbClr val="C1C3C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DEE25ED-C0DB-695F-6BE2-37C4C03378F9}"/>
              </a:ext>
            </a:extLst>
          </p:cNvPr>
          <p:cNvSpPr/>
          <p:nvPr/>
        </p:nvSpPr>
        <p:spPr>
          <a:xfrm>
            <a:off x="9782605" y="2786256"/>
            <a:ext cx="696686" cy="773192"/>
          </a:xfrm>
          <a:prstGeom prst="roundRect">
            <a:avLst/>
          </a:prstGeom>
          <a:solidFill>
            <a:srgbClr val="C1C1C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F3BF083-DE69-A076-296B-CE0AD9D2136A}"/>
              </a:ext>
            </a:extLst>
          </p:cNvPr>
          <p:cNvSpPr txBox="1"/>
          <p:nvPr/>
        </p:nvSpPr>
        <p:spPr>
          <a:xfrm>
            <a:off x="6977715" y="3023420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  Vison Encoder</a:t>
            </a:r>
            <a:endParaRPr lang="zh-CN" altLang="en-US" sz="9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5DBC5E-82C6-892E-E17F-A7209DFBD2DB}"/>
              </a:ext>
            </a:extLst>
          </p:cNvPr>
          <p:cNvSpPr txBox="1"/>
          <p:nvPr/>
        </p:nvSpPr>
        <p:spPr>
          <a:xfrm>
            <a:off x="9808731" y="3008966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Text Encoder</a:t>
            </a:r>
            <a:endParaRPr lang="zh-CN" altLang="en-US" sz="900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D7378C2-2740-863B-364F-9E723846953D}"/>
              </a:ext>
            </a:extLst>
          </p:cNvPr>
          <p:cNvCxnSpPr/>
          <p:nvPr/>
        </p:nvCxnSpPr>
        <p:spPr>
          <a:xfrm>
            <a:off x="7263178" y="2416185"/>
            <a:ext cx="4508" cy="361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524F6D2-1C2A-F2EE-2C92-4585D6BE113F}"/>
              </a:ext>
            </a:extLst>
          </p:cNvPr>
          <p:cNvCxnSpPr/>
          <p:nvPr/>
        </p:nvCxnSpPr>
        <p:spPr>
          <a:xfrm>
            <a:off x="10144011" y="2380951"/>
            <a:ext cx="0" cy="361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265B022-1E56-23F1-D50A-46AAA12CB65C}"/>
              </a:ext>
            </a:extLst>
          </p:cNvPr>
          <p:cNvSpPr/>
          <p:nvPr/>
        </p:nvSpPr>
        <p:spPr>
          <a:xfrm>
            <a:off x="6684102" y="4059629"/>
            <a:ext cx="1158151" cy="431626"/>
          </a:xfrm>
          <a:prstGeom prst="roundRect">
            <a:avLst/>
          </a:prstGeom>
          <a:solidFill>
            <a:srgbClr val="F5D2AB"/>
          </a:solidFill>
          <a:ln w="19050">
            <a:solidFill>
              <a:srgbClr val="C378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7BDB5E8-EDC2-40DA-40F0-2224049F1885}"/>
              </a:ext>
            </a:extLst>
          </p:cNvPr>
          <p:cNvSpPr txBox="1"/>
          <p:nvPr/>
        </p:nvSpPr>
        <p:spPr>
          <a:xfrm>
            <a:off x="6641344" y="4097777"/>
            <a:ext cx="1243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PMA</a:t>
            </a:r>
          </a:p>
          <a:p>
            <a:pPr algn="ctr"/>
            <a:r>
              <a:rPr lang="en-US" altLang="zh-CN" sz="900" dirty="0"/>
              <a:t>(UNETR Decoder)</a:t>
            </a:r>
            <a:endParaRPr lang="zh-CN" altLang="en-US" sz="900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471DE02-CECE-415F-A504-9224BB3A5B1B}"/>
              </a:ext>
            </a:extLst>
          </p:cNvPr>
          <p:cNvSpPr/>
          <p:nvPr/>
        </p:nvSpPr>
        <p:spPr>
          <a:xfrm>
            <a:off x="8058315" y="4052597"/>
            <a:ext cx="1775638" cy="438658"/>
          </a:xfrm>
          <a:prstGeom prst="roundRect">
            <a:avLst/>
          </a:prstGeom>
          <a:solidFill>
            <a:srgbClr val="F5D2AB"/>
          </a:solidFill>
          <a:ln w="19050">
            <a:solidFill>
              <a:srgbClr val="C378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1B7067B-C940-475C-6E72-4303165462CD}"/>
              </a:ext>
            </a:extLst>
          </p:cNvPr>
          <p:cNvSpPr txBox="1"/>
          <p:nvPr/>
        </p:nvSpPr>
        <p:spPr>
          <a:xfrm>
            <a:off x="7929211" y="4148348"/>
            <a:ext cx="20491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/>
              <a:t>PMA(MLP + survival model)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2DE32FA-4A1D-0499-6A9D-209E6819F984}"/>
              </a:ext>
            </a:extLst>
          </p:cNvPr>
          <p:cNvCxnSpPr/>
          <p:nvPr/>
        </p:nvCxnSpPr>
        <p:spPr>
          <a:xfrm>
            <a:off x="7263178" y="3635222"/>
            <a:ext cx="0" cy="4384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A314F8A2-79C8-1F73-4673-E5DFD21F3176}"/>
              </a:ext>
            </a:extLst>
          </p:cNvPr>
          <p:cNvCxnSpPr>
            <a:endCxn id="31" idx="0"/>
          </p:cNvCxnSpPr>
          <p:nvPr/>
        </p:nvCxnSpPr>
        <p:spPr>
          <a:xfrm>
            <a:off x="7263178" y="3833735"/>
            <a:ext cx="1682956" cy="21886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6111A5C0-48F7-451A-23B5-E6036E76389E}"/>
              </a:ext>
            </a:extLst>
          </p:cNvPr>
          <p:cNvCxnSpPr/>
          <p:nvPr/>
        </p:nvCxnSpPr>
        <p:spPr>
          <a:xfrm>
            <a:off x="10144012" y="3580334"/>
            <a:ext cx="0" cy="4370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7" name="图片 46">
            <a:extLst>
              <a:ext uri="{FF2B5EF4-FFF2-40B4-BE49-F238E27FC236}">
                <a16:creationId xmlns:a16="http://schemas.microsoft.com/office/drawing/2014/main" id="{12AE3205-389E-8E72-3B38-7AC02E3B0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499" y="2837703"/>
            <a:ext cx="204636" cy="221588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DB52CB9A-7089-3E9A-5D02-718B12B62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8630" y="2808832"/>
            <a:ext cx="204636" cy="221588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93F4CE5F-62D6-09DD-1AE5-2D12C933B612}"/>
              </a:ext>
            </a:extLst>
          </p:cNvPr>
          <p:cNvSpPr txBox="1"/>
          <p:nvPr/>
        </p:nvSpPr>
        <p:spPr>
          <a:xfrm>
            <a:off x="7000785" y="1746665"/>
            <a:ext cx="6545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CT/PET</a:t>
            </a:r>
            <a:endParaRPr lang="zh-CN" altLang="en-US" sz="9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AA31D57-D22D-4267-E761-04B176CA3922}"/>
              </a:ext>
            </a:extLst>
          </p:cNvPr>
          <p:cNvSpPr txBox="1"/>
          <p:nvPr/>
        </p:nvSpPr>
        <p:spPr>
          <a:xfrm>
            <a:off x="9843903" y="1702361"/>
            <a:ext cx="6545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Reports</a:t>
            </a:r>
            <a:endParaRPr lang="zh-CN" altLang="en-US" sz="900" dirty="0"/>
          </a:p>
        </p:txBody>
      </p: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A242FE33-EA1D-2CA1-EF77-D833182E922B}"/>
              </a:ext>
            </a:extLst>
          </p:cNvPr>
          <p:cNvCxnSpPr>
            <a:endCxn id="31" idx="0"/>
          </p:cNvCxnSpPr>
          <p:nvPr/>
        </p:nvCxnSpPr>
        <p:spPr>
          <a:xfrm rot="10800000" flipV="1">
            <a:off x="8946135" y="3827543"/>
            <a:ext cx="1225035" cy="2250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D140D617-7557-D934-A03E-D37413BA0791}"/>
              </a:ext>
            </a:extLst>
          </p:cNvPr>
          <p:cNvSpPr/>
          <p:nvPr/>
        </p:nvSpPr>
        <p:spPr>
          <a:xfrm>
            <a:off x="10006972" y="4052597"/>
            <a:ext cx="766514" cy="431626"/>
          </a:xfrm>
          <a:prstGeom prst="roundRect">
            <a:avLst/>
          </a:prstGeom>
          <a:solidFill>
            <a:srgbClr val="F5D2AB"/>
          </a:solidFill>
          <a:ln w="19050">
            <a:solidFill>
              <a:srgbClr val="C378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3427E0D-892F-51F5-F0E9-2887F648E1BF}"/>
              </a:ext>
            </a:extLst>
          </p:cNvPr>
          <p:cNvSpPr txBox="1"/>
          <p:nvPr/>
        </p:nvSpPr>
        <p:spPr>
          <a:xfrm>
            <a:off x="9768396" y="4090776"/>
            <a:ext cx="1243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Original</a:t>
            </a:r>
          </a:p>
          <a:p>
            <a:pPr algn="ctr"/>
            <a:r>
              <a:rPr lang="en-US" altLang="zh-CN" sz="900" dirty="0"/>
              <a:t> task head</a:t>
            </a:r>
            <a:endParaRPr lang="zh-CN" altLang="en-US" sz="900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5E3381D4-B70C-8F07-3CD0-96AD38F02FA3}"/>
              </a:ext>
            </a:extLst>
          </p:cNvPr>
          <p:cNvCxnSpPr/>
          <p:nvPr/>
        </p:nvCxnSpPr>
        <p:spPr>
          <a:xfrm>
            <a:off x="7258669" y="4514543"/>
            <a:ext cx="4508" cy="361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97AC573E-7B3F-5FD3-C59F-C2911A42C2BD}"/>
              </a:ext>
            </a:extLst>
          </p:cNvPr>
          <p:cNvCxnSpPr/>
          <p:nvPr/>
        </p:nvCxnSpPr>
        <p:spPr>
          <a:xfrm>
            <a:off x="8953780" y="4514543"/>
            <a:ext cx="4508" cy="361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B6DB6215-689A-102D-D11B-D3C871205104}"/>
              </a:ext>
            </a:extLst>
          </p:cNvPr>
          <p:cNvCxnSpPr/>
          <p:nvPr/>
        </p:nvCxnSpPr>
        <p:spPr>
          <a:xfrm>
            <a:off x="10304633" y="4486477"/>
            <a:ext cx="4508" cy="3619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2" name="图片 71">
            <a:extLst>
              <a:ext uri="{FF2B5EF4-FFF2-40B4-BE49-F238E27FC236}">
                <a16:creationId xmlns:a16="http://schemas.microsoft.com/office/drawing/2014/main" id="{E088630C-5581-24B6-F121-2F6A822DF8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941" y="4900638"/>
            <a:ext cx="372175" cy="343268"/>
          </a:xfrm>
          <a:prstGeom prst="rect">
            <a:avLst/>
          </a:prstGeom>
        </p:spPr>
      </p:pic>
      <p:sp>
        <p:nvSpPr>
          <p:cNvPr id="75" name="文本框 74">
            <a:extLst>
              <a:ext uri="{FF2B5EF4-FFF2-40B4-BE49-F238E27FC236}">
                <a16:creationId xmlns:a16="http://schemas.microsoft.com/office/drawing/2014/main" id="{0CAA2A44-AAA0-FC90-F9DC-055337C8EAE1}"/>
              </a:ext>
            </a:extLst>
          </p:cNvPr>
          <p:cNvSpPr txBox="1"/>
          <p:nvPr/>
        </p:nvSpPr>
        <p:spPr>
          <a:xfrm>
            <a:off x="7086481" y="4956856"/>
            <a:ext cx="971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segmentation</a:t>
            </a:r>
            <a:endParaRPr lang="zh-CN" altLang="en-US" sz="900" dirty="0"/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58A933A4-A0B3-E997-5ED4-3B65811F25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6775" y="4897345"/>
            <a:ext cx="372176" cy="348319"/>
          </a:xfrm>
          <a:prstGeom prst="rect">
            <a:avLst/>
          </a:prstGeom>
        </p:spPr>
      </p:pic>
      <p:sp>
        <p:nvSpPr>
          <p:cNvPr id="82" name="文本框 81">
            <a:extLst>
              <a:ext uri="{FF2B5EF4-FFF2-40B4-BE49-F238E27FC236}">
                <a16:creationId xmlns:a16="http://schemas.microsoft.com/office/drawing/2014/main" id="{557165A6-CF5A-795B-994F-76D8F6D336B8}"/>
              </a:ext>
            </a:extLst>
          </p:cNvPr>
          <p:cNvSpPr txBox="1"/>
          <p:nvPr/>
        </p:nvSpPr>
        <p:spPr>
          <a:xfrm>
            <a:off x="8872069" y="5013074"/>
            <a:ext cx="971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prognosis</a:t>
            </a:r>
            <a:endParaRPr lang="zh-CN" altLang="en-US" sz="900" dirty="0"/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B600C1AE-31F6-2934-AAC1-FA80ED34C2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4940" y="4897345"/>
            <a:ext cx="372175" cy="382963"/>
          </a:xfrm>
          <a:prstGeom prst="rect">
            <a:avLst/>
          </a:prstGeom>
        </p:spPr>
      </p:pic>
      <p:sp>
        <p:nvSpPr>
          <p:cNvPr id="89" name="文本框 88">
            <a:extLst>
              <a:ext uri="{FF2B5EF4-FFF2-40B4-BE49-F238E27FC236}">
                <a16:creationId xmlns:a16="http://schemas.microsoft.com/office/drawing/2014/main" id="{C394445D-C9DB-A9EE-C0E2-757F8AFB5184}"/>
              </a:ext>
            </a:extLst>
          </p:cNvPr>
          <p:cNvSpPr txBox="1"/>
          <p:nvPr/>
        </p:nvSpPr>
        <p:spPr>
          <a:xfrm>
            <a:off x="10304633" y="4963015"/>
            <a:ext cx="971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classification</a:t>
            </a:r>
            <a:endParaRPr lang="zh-CN" altLang="en-US" sz="900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00C65309-3D2C-ED69-C58B-9CAACF247B91}"/>
              </a:ext>
            </a:extLst>
          </p:cNvPr>
          <p:cNvSpPr txBox="1"/>
          <p:nvPr/>
        </p:nvSpPr>
        <p:spPr>
          <a:xfrm>
            <a:off x="4470833" y="2081101"/>
            <a:ext cx="1233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CT / PET </a:t>
            </a:r>
            <a:r>
              <a:rPr lang="zh-CN" altLang="en-US" sz="1400" dirty="0">
                <a:solidFill>
                  <a:srgbClr val="FF0000"/>
                </a:solidFill>
              </a:rPr>
              <a:t>医学影像</a:t>
            </a:r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A325D1EF-B3D1-4AF4-DEA7-D675D246A17D}"/>
              </a:ext>
            </a:extLst>
          </p:cNvPr>
          <p:cNvCxnSpPr/>
          <p:nvPr/>
        </p:nvCxnSpPr>
        <p:spPr>
          <a:xfrm flipV="1">
            <a:off x="4807128" y="2175748"/>
            <a:ext cx="2170587" cy="5216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>
            <a:extLst>
              <a:ext uri="{FF2B5EF4-FFF2-40B4-BE49-F238E27FC236}">
                <a16:creationId xmlns:a16="http://schemas.microsoft.com/office/drawing/2014/main" id="{EAF5F36C-0E96-F433-A98A-248BF5608D7C}"/>
              </a:ext>
            </a:extLst>
          </p:cNvPr>
          <p:cNvSpPr txBox="1"/>
          <p:nvPr/>
        </p:nvSpPr>
        <p:spPr>
          <a:xfrm>
            <a:off x="3789955" y="6114042"/>
            <a:ext cx="1628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临床报告（</a:t>
            </a:r>
            <a:r>
              <a:rPr lang="en-US" altLang="zh-CN" sz="1400" dirty="0">
                <a:solidFill>
                  <a:srgbClr val="FF0000"/>
                </a:solidFill>
              </a:rPr>
              <a:t>EHR</a:t>
            </a:r>
            <a:r>
              <a:rPr lang="zh-CN" altLang="en-US" sz="1400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AF00FEEC-EE46-8BB8-F9ED-9F46935FE02E}"/>
              </a:ext>
            </a:extLst>
          </p:cNvPr>
          <p:cNvSpPr/>
          <p:nvPr/>
        </p:nvSpPr>
        <p:spPr>
          <a:xfrm>
            <a:off x="9885566" y="3978416"/>
            <a:ext cx="1411390" cy="1301891"/>
          </a:xfrm>
          <a:prstGeom prst="round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EA394C73-2A89-2380-B87E-8CF6567D560D}"/>
              </a:ext>
            </a:extLst>
          </p:cNvPr>
          <p:cNvSpPr/>
          <p:nvPr/>
        </p:nvSpPr>
        <p:spPr>
          <a:xfrm>
            <a:off x="6555670" y="3978417"/>
            <a:ext cx="1411390" cy="1301891"/>
          </a:xfrm>
          <a:prstGeom prst="round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E669CF74-0B5F-2244-B73F-BE5FC30CCD5E}"/>
              </a:ext>
            </a:extLst>
          </p:cNvPr>
          <p:cNvCxnSpPr/>
          <p:nvPr/>
        </p:nvCxnSpPr>
        <p:spPr>
          <a:xfrm>
            <a:off x="6279955" y="3201365"/>
            <a:ext cx="6610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1" name="图片 110">
            <a:extLst>
              <a:ext uri="{FF2B5EF4-FFF2-40B4-BE49-F238E27FC236}">
                <a16:creationId xmlns:a16="http://schemas.microsoft.com/office/drawing/2014/main" id="{47D6161C-2C19-D682-5A6A-17AACF0DB2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782" y="3030420"/>
            <a:ext cx="333121" cy="387296"/>
          </a:xfrm>
          <a:prstGeom prst="rect">
            <a:avLst/>
          </a:prstGeom>
        </p:spPr>
      </p:pic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67024E1B-DCC2-062F-C183-479401430917}"/>
              </a:ext>
            </a:extLst>
          </p:cNvPr>
          <p:cNvSpPr/>
          <p:nvPr/>
        </p:nvSpPr>
        <p:spPr>
          <a:xfrm>
            <a:off x="5727494" y="3030420"/>
            <a:ext cx="528431" cy="408750"/>
          </a:xfrm>
          <a:prstGeom prst="roundRect">
            <a:avLst/>
          </a:prstGeom>
          <a:solidFill>
            <a:srgbClr val="C3DFAF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694EFCAC-532F-BCEB-9BC6-21D32CAA35D0}"/>
              </a:ext>
            </a:extLst>
          </p:cNvPr>
          <p:cNvSpPr txBox="1"/>
          <p:nvPr/>
        </p:nvSpPr>
        <p:spPr>
          <a:xfrm>
            <a:off x="5682366" y="3087759"/>
            <a:ext cx="670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LoRA</a:t>
            </a:r>
            <a:endParaRPr lang="zh-CN" altLang="en-US" sz="1400" dirty="0"/>
          </a:p>
        </p:txBody>
      </p:sp>
      <p:cxnSp>
        <p:nvCxnSpPr>
          <p:cNvPr id="119" name="连接符: 肘形 118">
            <a:extLst>
              <a:ext uri="{FF2B5EF4-FFF2-40B4-BE49-F238E27FC236}">
                <a16:creationId xmlns:a16="http://schemas.microsoft.com/office/drawing/2014/main" id="{4C2F8366-3CD7-8991-A3F1-C62E968741BB}"/>
              </a:ext>
            </a:extLst>
          </p:cNvPr>
          <p:cNvCxnSpPr>
            <a:stCxn id="17" idx="2"/>
          </p:cNvCxnSpPr>
          <p:nvPr/>
        </p:nvCxnSpPr>
        <p:spPr>
          <a:xfrm rot="5400000" flipH="1" flipV="1">
            <a:off x="5257887" y="457417"/>
            <a:ext cx="3642186" cy="7043438"/>
          </a:xfrm>
          <a:prstGeom prst="bentConnector4">
            <a:avLst>
              <a:gd name="adj1" fmla="val -6276"/>
              <a:gd name="adj2" fmla="val 11204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AA0627D9-48EE-94B2-F2F5-DF2A1F87BAC5}"/>
              </a:ext>
            </a:extLst>
          </p:cNvPr>
          <p:cNvCxnSpPr/>
          <p:nvPr/>
        </p:nvCxnSpPr>
        <p:spPr>
          <a:xfrm flipH="1">
            <a:off x="10455942" y="3139526"/>
            <a:ext cx="551612" cy="327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7" name="图片 126">
            <a:extLst>
              <a:ext uri="{FF2B5EF4-FFF2-40B4-BE49-F238E27FC236}">
                <a16:creationId xmlns:a16="http://schemas.microsoft.com/office/drawing/2014/main" id="{497F7B56-2BD3-B600-019D-5BB5112D73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7332" y="2969697"/>
            <a:ext cx="333121" cy="387296"/>
          </a:xfrm>
          <a:prstGeom prst="rect">
            <a:avLst/>
          </a:prstGeom>
        </p:spPr>
      </p:pic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5C80D59A-129C-DC26-7C25-55F36EA995EC}"/>
              </a:ext>
            </a:extLst>
          </p:cNvPr>
          <p:cNvSpPr/>
          <p:nvPr/>
        </p:nvSpPr>
        <p:spPr>
          <a:xfrm>
            <a:off x="11028652" y="2951510"/>
            <a:ext cx="528431" cy="408750"/>
          </a:xfrm>
          <a:prstGeom prst="roundRect">
            <a:avLst/>
          </a:prstGeom>
          <a:solidFill>
            <a:srgbClr val="C3DFAF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CAFD4848-EFF4-7B38-07CE-D8290EA4E722}"/>
              </a:ext>
            </a:extLst>
          </p:cNvPr>
          <p:cNvSpPr txBox="1"/>
          <p:nvPr/>
        </p:nvSpPr>
        <p:spPr>
          <a:xfrm>
            <a:off x="11000232" y="3030420"/>
            <a:ext cx="654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LoRA</a:t>
            </a:r>
            <a:endParaRPr lang="zh-CN" altLang="en-US" sz="14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D48BA43-99A4-642B-6663-78790A5A3B47}"/>
              </a:ext>
            </a:extLst>
          </p:cNvPr>
          <p:cNvSpPr txBox="1"/>
          <p:nvPr/>
        </p:nvSpPr>
        <p:spPr>
          <a:xfrm>
            <a:off x="2516524" y="851837"/>
            <a:ext cx="2922627" cy="415498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rgbClr val="595959"/>
                </a:solidFill>
                <a:latin typeface="+mj-ea"/>
                <a:ea typeface="+mj-ea"/>
              </a:rPr>
              <a:t>波束赋形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83B4F3A-5F16-4472-D27B-9E5F13B7A80D}"/>
              </a:ext>
            </a:extLst>
          </p:cNvPr>
          <p:cNvSpPr txBox="1"/>
          <p:nvPr/>
        </p:nvSpPr>
        <p:spPr>
          <a:xfrm>
            <a:off x="5439151" y="851837"/>
            <a:ext cx="2912897" cy="415498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b="1" spc="100" dirty="0">
                <a:solidFill>
                  <a:srgbClr val="595959"/>
                </a:solidFill>
                <a:latin typeface="+mj-ea"/>
                <a:ea typeface="+mj-ea"/>
              </a:rPr>
              <a:t>MUSIC</a:t>
            </a:r>
            <a:endParaRPr lang="zh-CN" altLang="en-US" sz="2100" b="1" spc="100" dirty="0">
              <a:solidFill>
                <a:srgbClr val="595959"/>
              </a:solidFill>
              <a:latin typeface="+mj-ea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FE357E-991C-7765-4224-57081B103118}"/>
              </a:ext>
            </a:extLst>
          </p:cNvPr>
          <p:cNvSpPr txBox="1"/>
          <p:nvPr/>
        </p:nvSpPr>
        <p:spPr>
          <a:xfrm>
            <a:off x="8361778" y="851837"/>
            <a:ext cx="2912897" cy="415498"/>
          </a:xfrm>
          <a:prstGeom prst="rect">
            <a:avLst/>
          </a:prstGeom>
          <a:solidFill>
            <a:srgbClr val="0F6FC6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b="1" spc="100" dirty="0">
                <a:solidFill>
                  <a:schemeClr val="bg1"/>
                </a:solidFill>
                <a:latin typeface="+mj-ea"/>
                <a:ea typeface="+mj-ea"/>
              </a:rPr>
              <a:t>ESPRIT</a:t>
            </a:r>
            <a:endParaRPr lang="zh-CN" altLang="en-US" sz="2100" b="1" spc="1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47711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307393" y="166826"/>
            <a:ext cx="2263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3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Sionna学习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/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165463" y="2449166"/>
            <a:ext cx="13004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综述阅读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13076" y="3168630"/>
            <a:ext cx="1405255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DOA复习</a:t>
            </a:r>
          </a:p>
        </p:txBody>
      </p:sp>
      <p:sp>
        <p:nvSpPr>
          <p:cNvPr id="34" name="矩形 33"/>
          <p:cNvSpPr/>
          <p:nvPr/>
        </p:nvSpPr>
        <p:spPr>
          <a:xfrm>
            <a:off x="0" y="3838160"/>
            <a:ext cx="1631406" cy="530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-50437" y="3888094"/>
            <a:ext cx="17322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bg1"/>
                </a:solidFill>
                <a:latin typeface="+mj-ea"/>
                <a:ea typeface="+mj-ea"/>
              </a:rPr>
              <a:t>Sionna学习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2400542" y="958020"/>
            <a:ext cx="1837715" cy="347651"/>
            <a:chOff x="2324976" y="3384883"/>
            <a:chExt cx="1387981" cy="347651"/>
          </a:xfrm>
        </p:grpSpPr>
        <p:sp>
          <p:nvSpPr>
            <p:cNvPr id="19" name="矩形: 圆角 18"/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537597" y="3384883"/>
              <a:ext cx="9627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常见的思路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2400542" y="3225418"/>
            <a:ext cx="1837715" cy="347651"/>
            <a:chOff x="2324976" y="3384883"/>
            <a:chExt cx="1387981" cy="347651"/>
          </a:xfrm>
        </p:grpSpPr>
        <p:sp>
          <p:nvSpPr>
            <p:cNvPr id="28" name="矩形: 圆角 27"/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2537592" y="3384883"/>
              <a:ext cx="9627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看到的缺口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2484781" y="1376634"/>
            <a:ext cx="5045814" cy="167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通过</a:t>
            </a:r>
            <a:r>
              <a:rPr lang="zh-CN" altLang="en-US" sz="1400" b="1" dirty="0"/>
              <a:t>参数约束</a:t>
            </a:r>
            <a:r>
              <a:rPr lang="zh-CN" altLang="en-US" sz="1400" dirty="0"/>
              <a:t>、</a:t>
            </a:r>
            <a:r>
              <a:rPr lang="zh-CN" altLang="en-US" sz="1400" b="1" dirty="0"/>
              <a:t>结构隔离</a:t>
            </a:r>
            <a:r>
              <a:rPr lang="zh-CN" altLang="en-US" sz="1400" dirty="0"/>
              <a:t>、</a:t>
            </a:r>
            <a:r>
              <a:rPr lang="zh-CN" altLang="en-US" sz="1400" b="1" dirty="0"/>
              <a:t>路由机制</a:t>
            </a:r>
            <a:r>
              <a:rPr lang="zh-CN" altLang="en-US" sz="1400" dirty="0"/>
              <a:t>减轻遗忘：</a:t>
            </a:r>
            <a:br>
              <a:rPr lang="en-US" altLang="zh-CN" sz="1400" dirty="0"/>
            </a:br>
            <a:r>
              <a:rPr lang="zh-CN" altLang="en-US" sz="1400" dirty="0"/>
              <a:t>参数约束：</a:t>
            </a:r>
            <a:r>
              <a:rPr lang="en-US" altLang="zh-CN" sz="1400" dirty="0"/>
              <a:t>Parameter Importance-Driven CL</a:t>
            </a:r>
            <a:r>
              <a:rPr lang="zh-CN" altLang="en-US" sz="1400" dirty="0"/>
              <a:t>、</a:t>
            </a:r>
            <a:r>
              <a:rPr lang="en-US" altLang="zh-CN" sz="1400" dirty="0"/>
              <a:t>PLAN</a:t>
            </a:r>
            <a:br>
              <a:rPr lang="en-US" altLang="zh-CN" sz="1400" dirty="0"/>
            </a:br>
            <a:r>
              <a:rPr lang="zh-CN" altLang="en-US" sz="1400" dirty="0"/>
              <a:t>结构隔离：</a:t>
            </a:r>
            <a:r>
              <a:rPr lang="en-US" altLang="zh-CN" sz="1400" dirty="0"/>
              <a:t>MAFM³</a:t>
            </a:r>
            <a:r>
              <a:rPr lang="zh-CN" altLang="en-US" sz="1400" dirty="0"/>
              <a:t>、</a:t>
            </a:r>
            <a:r>
              <a:rPr lang="en-US" altLang="zh-CN" sz="1400" dirty="0"/>
              <a:t>Adapter-based CL</a:t>
            </a:r>
            <a:br>
              <a:rPr lang="en-US" altLang="zh-CN" sz="1400" dirty="0"/>
            </a:br>
            <a:r>
              <a:rPr lang="zh-CN" altLang="en-US" sz="1400" dirty="0"/>
              <a:t>路由机制：</a:t>
            </a:r>
            <a:r>
              <a:rPr lang="en-US" altLang="zh-CN" sz="1400" dirty="0"/>
              <a:t>CL-</a:t>
            </a:r>
            <a:r>
              <a:rPr lang="en-US" altLang="zh-CN" sz="1400" dirty="0" err="1"/>
              <a:t>MoE</a:t>
            </a:r>
            <a:r>
              <a:rPr lang="zh-CN" altLang="en-US" sz="1400" dirty="0"/>
              <a:t>、</a:t>
            </a:r>
            <a:r>
              <a:rPr lang="en-US" altLang="zh-CN" sz="1400" dirty="0"/>
              <a:t>Low-Rank </a:t>
            </a:r>
            <a:r>
              <a:rPr lang="en-US" altLang="zh-CN" sz="1400" dirty="0" err="1"/>
              <a:t>MoE</a:t>
            </a:r>
            <a:r>
              <a:rPr lang="zh-CN" altLang="en-US" sz="1400" dirty="0"/>
              <a:t>、</a:t>
            </a:r>
            <a:r>
              <a:rPr lang="en-US" altLang="zh-CN" sz="1400" dirty="0" err="1"/>
              <a:t>MokA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重点在</a:t>
            </a:r>
            <a:r>
              <a:rPr lang="zh-CN" altLang="en-US" sz="1400" b="1" dirty="0"/>
              <a:t>怎么缓解冲突</a:t>
            </a:r>
            <a:endParaRPr lang="en-US" altLang="zh-CN" sz="14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2464041" y="3646669"/>
            <a:ext cx="5066554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很少直接回答：任务之间到底是什么关系（促进、冲突？）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这种关系能否提前预测</a:t>
            </a:r>
            <a:r>
              <a:rPr lang="en-US" altLang="zh-CN" sz="1400" dirty="0"/>
              <a:t>continual learning</a:t>
            </a:r>
            <a:r>
              <a:rPr lang="zh-CN" altLang="en-US" sz="1400" dirty="0"/>
              <a:t>中的</a:t>
            </a:r>
            <a:r>
              <a:rPr lang="en-US" altLang="zh-CN" sz="1400" dirty="0"/>
              <a:t>transfer/forgetting</a:t>
            </a:r>
          </a:p>
        </p:txBody>
      </p:sp>
      <p:sp>
        <p:nvSpPr>
          <p:cNvPr id="12" name="右大括号 11"/>
          <p:cNvSpPr/>
          <p:nvPr/>
        </p:nvSpPr>
        <p:spPr>
          <a:xfrm>
            <a:off x="7515322" y="1448728"/>
            <a:ext cx="214364" cy="4633089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箭头: 右 14"/>
          <p:cNvSpPr/>
          <p:nvPr/>
        </p:nvSpPr>
        <p:spPr>
          <a:xfrm>
            <a:off x="7829098" y="3673054"/>
            <a:ext cx="377687" cy="18443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8570351" y="2699056"/>
            <a:ext cx="1837715" cy="347651"/>
            <a:chOff x="2324976" y="3384883"/>
            <a:chExt cx="1387981" cy="347651"/>
          </a:xfrm>
        </p:grpSpPr>
        <p:sp>
          <p:nvSpPr>
            <p:cNvPr id="17" name="矩形: 圆角 16"/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619924" y="3384883"/>
              <a:ext cx="7981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问题重构</a:t>
              </a: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8352179" y="3117670"/>
            <a:ext cx="3379751" cy="167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不着急设计新方法，先在 </a:t>
            </a:r>
            <a:r>
              <a:rPr lang="en-US" altLang="zh-CN" sz="1400" dirty="0"/>
              <a:t>medical foundation model </a:t>
            </a:r>
            <a:r>
              <a:rPr lang="zh-CN" altLang="en-US" sz="1400" dirty="0"/>
              <a:t>上分析任务关系结构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再看这种关系能否指导任务顺序、结构组织与模型选择</a:t>
            </a:r>
            <a:endParaRPr lang="en-US" altLang="zh-CN" sz="1400" dirty="0"/>
          </a:p>
        </p:txBody>
      </p:sp>
      <p:grpSp>
        <p:nvGrpSpPr>
          <p:cNvPr id="24" name="组合 23"/>
          <p:cNvGrpSpPr/>
          <p:nvPr/>
        </p:nvGrpSpPr>
        <p:grpSpPr>
          <a:xfrm>
            <a:off x="2421282" y="4843806"/>
            <a:ext cx="1837715" cy="347651"/>
            <a:chOff x="2324976" y="3384883"/>
            <a:chExt cx="1387981" cy="347651"/>
          </a:xfrm>
        </p:grpSpPr>
        <p:sp>
          <p:nvSpPr>
            <p:cNvPr id="25" name="矩形: 圆角 24"/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537593" y="3384883"/>
              <a:ext cx="9627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已有的启发</a:t>
              </a: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2484781" y="5265057"/>
            <a:ext cx="5066554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 err="1"/>
              <a:t>Taskonomy</a:t>
            </a:r>
            <a:r>
              <a:rPr lang="zh-CN" altLang="en-US" sz="1400" dirty="0"/>
              <a:t>：任务间存在结构化</a:t>
            </a:r>
            <a:r>
              <a:rPr lang="en-US" altLang="zh-CN" sz="1400" dirty="0"/>
              <a:t>transfer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/>
              <a:t>Task2Vec</a:t>
            </a:r>
            <a:r>
              <a:rPr lang="zh-CN" altLang="en-US" sz="1400" dirty="0"/>
              <a:t>：任务可表示为向量，反映其“特征使用方式”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 err="1"/>
              <a:t>Learnware</a:t>
            </a:r>
            <a:r>
              <a:rPr lang="zh-CN" altLang="en-US" sz="1400" dirty="0"/>
              <a:t>：任务</a:t>
            </a:r>
            <a:r>
              <a:rPr lang="en-US" altLang="zh-CN" sz="1400" dirty="0"/>
              <a:t>/</a:t>
            </a:r>
            <a:r>
              <a:rPr lang="zh-CN" altLang="en-US" sz="1400" dirty="0"/>
              <a:t>模型表示可支持检索与复用</a:t>
            </a:r>
            <a:endParaRPr lang="en-US" altLang="zh-CN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307393" y="166826"/>
            <a:ext cx="36296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3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Sionna学习</a:t>
            </a:r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|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路线区分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/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165463" y="2449166"/>
            <a:ext cx="13004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综述阅读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13076" y="3168630"/>
            <a:ext cx="1405255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DOA复习</a:t>
            </a:r>
          </a:p>
        </p:txBody>
      </p:sp>
      <p:sp>
        <p:nvSpPr>
          <p:cNvPr id="34" name="矩形 33"/>
          <p:cNvSpPr/>
          <p:nvPr/>
        </p:nvSpPr>
        <p:spPr>
          <a:xfrm>
            <a:off x="0" y="3838160"/>
            <a:ext cx="1631406" cy="530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-50437" y="3888094"/>
            <a:ext cx="17322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bg1"/>
                </a:solidFill>
                <a:latin typeface="+mj-ea"/>
                <a:ea typeface="+mj-ea"/>
              </a:rPr>
              <a:t>Sionna学习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493592" y="1300082"/>
            <a:ext cx="3466927" cy="347651"/>
            <a:chOff x="2324976" y="3384883"/>
            <a:chExt cx="1387981" cy="347651"/>
          </a:xfrm>
        </p:grpSpPr>
        <p:sp>
          <p:nvSpPr>
            <p:cNvPr id="12" name="矩形: 圆角 11"/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457911" y="3384883"/>
              <a:ext cx="11221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与已有“任务关系方法”的区别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044503" y="1640867"/>
            <a:ext cx="5066554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已有工作（</a:t>
            </a:r>
            <a:r>
              <a:rPr lang="en-US" altLang="zh-CN" sz="1400" dirty="0"/>
              <a:t>Sequence Transferability / Task Embedding</a:t>
            </a:r>
            <a:r>
              <a:rPr lang="zh-CN" altLang="en-US" sz="1400" dirty="0"/>
              <a:t>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假设任务关系是可靠的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直接用于任务排序或模型选择</a:t>
            </a:r>
            <a:endParaRPr lang="en-US" altLang="zh-CN" sz="1400" dirty="0"/>
          </a:p>
        </p:txBody>
      </p:sp>
      <p:grpSp>
        <p:nvGrpSpPr>
          <p:cNvPr id="3" name="组合 2"/>
          <p:cNvGrpSpPr/>
          <p:nvPr/>
        </p:nvGrpSpPr>
        <p:grpSpPr>
          <a:xfrm>
            <a:off x="5186760" y="3375640"/>
            <a:ext cx="1717640" cy="347651"/>
            <a:chOff x="2324976" y="3384883"/>
            <a:chExt cx="1387981" cy="347651"/>
          </a:xfrm>
        </p:grpSpPr>
        <p:sp>
          <p:nvSpPr>
            <p:cNvPr id="4" name="矩形: 圆角 3"/>
            <p:cNvSpPr/>
            <p:nvPr/>
          </p:nvSpPr>
          <p:spPr>
            <a:xfrm>
              <a:off x="2324976" y="3387090"/>
              <a:ext cx="1387981" cy="34544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720171" y="3384883"/>
              <a:ext cx="5976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b="1" spc="100" dirty="0">
                  <a:solidFill>
                    <a:schemeClr val="bg1"/>
                  </a:solidFill>
                  <a:latin typeface="+mj-ea"/>
                  <a:ea typeface="+mj-ea"/>
                </a:rPr>
                <a:t>我们的关注点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4044503" y="3782965"/>
            <a:ext cx="5900355" cy="13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不直接做排序或方法设计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任务关系是否稳定（不同 </a:t>
            </a:r>
            <a:r>
              <a:rPr lang="en-US" altLang="zh-CN" sz="1400" dirty="0"/>
              <a:t>seed / </a:t>
            </a:r>
            <a:r>
              <a:rPr lang="zh-CN" altLang="en-US" sz="1400" dirty="0"/>
              <a:t>训练预算）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是否能预测 </a:t>
            </a:r>
            <a:r>
              <a:rPr lang="en-US" altLang="zh-CN" sz="1400" dirty="0"/>
              <a:t>continual learning </a:t>
            </a:r>
            <a:r>
              <a:rPr lang="zh-CN" altLang="en-US" sz="1400" dirty="0"/>
              <a:t>中的 </a:t>
            </a:r>
            <a:r>
              <a:rPr lang="en-US" altLang="zh-CN" sz="1400" dirty="0"/>
              <a:t>transfer / forgetting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静态关系（</a:t>
            </a:r>
            <a:r>
              <a:rPr lang="en-US" altLang="zh-CN" sz="1400" dirty="0"/>
              <a:t>embedding</a:t>
            </a:r>
            <a:r>
              <a:rPr lang="zh-CN" altLang="en-US" sz="1400" dirty="0"/>
              <a:t>）与动态行为是否一致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307393" y="166826"/>
            <a:ext cx="90589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3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Sionna学习</a:t>
            </a:r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|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初步实验设计：在同一 </a:t>
            </a:r>
            <a:r>
              <a:rPr lang="en-US" altLang="zh-CN" sz="2400" b="1" spc="100" dirty="0">
                <a:solidFill>
                  <a:schemeClr val="accent1"/>
                </a:solidFill>
                <a:latin typeface="+mj-ea"/>
              </a:rPr>
              <a:t>cohort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</a:rPr>
              <a:t>中构建任务关系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957299" y="229525"/>
            <a:ext cx="355042" cy="353395"/>
            <a:chOff x="1957299" y="229525"/>
            <a:chExt cx="355042" cy="353395"/>
          </a:xfrm>
        </p:grpSpPr>
        <p:sp>
          <p:nvSpPr>
            <p:cNvPr id="9" name="矩形: 圆角 8"/>
            <p:cNvSpPr/>
            <p:nvPr/>
          </p:nvSpPr>
          <p:spPr>
            <a:xfrm>
              <a:off x="1959416" y="229995"/>
              <a:ext cx="352925" cy="352925"/>
            </a:xfrm>
            <a:prstGeom prst="round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/>
            <p:cNvSpPr/>
            <p:nvPr/>
          </p:nvSpPr>
          <p:spPr>
            <a:xfrm>
              <a:off x="1957299" y="229525"/>
              <a:ext cx="322351" cy="3223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165463" y="2449166"/>
            <a:ext cx="13004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综述阅读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13076" y="3168630"/>
            <a:ext cx="1405255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DOA复习</a:t>
            </a:r>
          </a:p>
        </p:txBody>
      </p:sp>
      <p:sp>
        <p:nvSpPr>
          <p:cNvPr id="34" name="矩形 33"/>
          <p:cNvSpPr/>
          <p:nvPr/>
        </p:nvSpPr>
        <p:spPr>
          <a:xfrm>
            <a:off x="0" y="3838160"/>
            <a:ext cx="1631406" cy="530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-50437" y="3888094"/>
            <a:ext cx="1732280" cy="41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100" b="1" spc="100" dirty="0">
                <a:solidFill>
                  <a:schemeClr val="bg1"/>
                </a:solidFill>
                <a:latin typeface="+mj-ea"/>
                <a:ea typeface="+mj-ea"/>
              </a:rPr>
              <a:t>Sionna学习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759971" y="4035947"/>
            <a:ext cx="3546422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/>
              <a:t>T1</a:t>
            </a:r>
            <a:r>
              <a:rPr lang="zh-CN" altLang="en-US" sz="1400" dirty="0"/>
              <a:t>：肿瘤分割（局部结构）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/>
              <a:t>T2</a:t>
            </a:r>
            <a:r>
              <a:rPr lang="zh-CN" altLang="en-US" sz="1400" dirty="0"/>
              <a:t>：肿瘤负荷（中间表征）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/>
              <a:t>T3</a:t>
            </a:r>
            <a:r>
              <a:rPr lang="zh-CN" altLang="en-US" sz="1400" dirty="0"/>
              <a:t>：</a:t>
            </a:r>
            <a:r>
              <a:rPr lang="en-US" altLang="zh-CN" sz="1400" dirty="0"/>
              <a:t>RFS / relapse</a:t>
            </a:r>
            <a:r>
              <a:rPr lang="zh-CN" altLang="en-US" sz="1400" dirty="0"/>
              <a:t>（高层结局）</a:t>
            </a:r>
            <a:endParaRPr lang="en-US" altLang="zh-CN" sz="1400" dirty="0"/>
          </a:p>
        </p:txBody>
      </p:sp>
      <p:sp>
        <p:nvSpPr>
          <p:cNvPr id="25" name="文本框 24"/>
          <p:cNvSpPr txBox="1"/>
          <p:nvPr/>
        </p:nvSpPr>
        <p:spPr>
          <a:xfrm>
            <a:off x="7007953" y="1973645"/>
            <a:ext cx="3546422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单任务 </a:t>
            </a:r>
            <a:r>
              <a:rPr lang="en-US" altLang="zh-CN" sz="1400" dirty="0"/>
              <a:t>baseline</a:t>
            </a:r>
            <a:r>
              <a:rPr lang="zh-CN" altLang="en-US" sz="1400" dirty="0"/>
              <a:t>（</a:t>
            </a:r>
            <a:r>
              <a:rPr lang="en-US" altLang="zh-CN" sz="1400" dirty="0"/>
              <a:t>ST</a:t>
            </a:r>
            <a:r>
              <a:rPr lang="zh-CN" altLang="en-US" sz="1400" dirty="0"/>
              <a:t>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两两任务（</a:t>
            </a:r>
            <a:r>
              <a:rPr lang="en-US" altLang="zh-CN" sz="1400" dirty="0"/>
              <a:t>6 </a:t>
            </a:r>
            <a:r>
              <a:rPr lang="zh-CN" altLang="en-US" sz="1400" dirty="0"/>
              <a:t>个 </a:t>
            </a:r>
            <a:r>
              <a:rPr lang="en-US" altLang="zh-CN" sz="1400" dirty="0"/>
              <a:t>pairwise</a:t>
            </a:r>
            <a:r>
              <a:rPr lang="zh-CN" altLang="en-US" sz="1400" dirty="0"/>
              <a:t>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顺序学习（</a:t>
            </a:r>
            <a:r>
              <a:rPr lang="en-US" altLang="zh-CN" sz="1400" dirty="0"/>
              <a:t>3 </a:t>
            </a:r>
            <a:r>
              <a:rPr lang="zh-CN" altLang="en-US" sz="1400" dirty="0"/>
              <a:t>种 </a:t>
            </a:r>
            <a:r>
              <a:rPr lang="en-US" altLang="zh-CN" sz="1400" dirty="0"/>
              <a:t>sequence</a:t>
            </a:r>
            <a:r>
              <a:rPr lang="zh-CN" altLang="en-US" sz="1400" dirty="0"/>
              <a:t>）</a:t>
            </a:r>
            <a:endParaRPr lang="en-US" altLang="zh-CN" sz="1400" dirty="0"/>
          </a:p>
        </p:txBody>
      </p:sp>
      <p:sp>
        <p:nvSpPr>
          <p:cNvPr id="29" name="文本框 28"/>
          <p:cNvSpPr txBox="1"/>
          <p:nvPr/>
        </p:nvSpPr>
        <p:spPr>
          <a:xfrm>
            <a:off x="7032221" y="4007366"/>
            <a:ext cx="3546422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/>
              <a:t>Forward transfer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/>
              <a:t>Forgetting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不同顺序下的整体表现</a:t>
            </a:r>
            <a:endParaRPr lang="en-US" altLang="zh-CN" sz="1400" dirty="0"/>
          </a:p>
        </p:txBody>
      </p:sp>
      <p:sp>
        <p:nvSpPr>
          <p:cNvPr id="30" name="矩形: 单圆角 29"/>
          <p:cNvSpPr/>
          <p:nvPr/>
        </p:nvSpPr>
        <p:spPr>
          <a:xfrm>
            <a:off x="2711746" y="1538029"/>
            <a:ext cx="3667533" cy="345444"/>
          </a:xfrm>
          <a:prstGeom prst="round1Rect">
            <a:avLst>
              <a:gd name="adj" fmla="val 4725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>
            <a:off x="2704184" y="1538029"/>
            <a:ext cx="7562" cy="166237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35"/>
          <p:cNvSpPr/>
          <p:nvPr/>
        </p:nvSpPr>
        <p:spPr>
          <a:xfrm>
            <a:off x="2679223" y="3195536"/>
            <a:ext cx="68810" cy="6375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3785158" y="1489086"/>
            <a:ext cx="1520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spc="100" dirty="0">
                <a:solidFill>
                  <a:schemeClr val="bg1"/>
                </a:solidFill>
                <a:latin typeface="+mj-ea"/>
              </a:rPr>
              <a:t>数据与设置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2759971" y="1973645"/>
            <a:ext cx="3692196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数据集：</a:t>
            </a:r>
            <a:r>
              <a:rPr lang="en-US" altLang="zh-CN" sz="1400" dirty="0"/>
              <a:t>HECKTOR2022</a:t>
            </a:r>
            <a:r>
              <a:rPr lang="zh-CN" altLang="en-US" sz="1400" dirty="0"/>
              <a:t>（同一 </a:t>
            </a:r>
            <a:r>
              <a:rPr lang="en-US" altLang="zh-CN" sz="1400" dirty="0"/>
              <a:t>cohort</a:t>
            </a:r>
            <a:r>
              <a:rPr lang="zh-CN" altLang="en-US" sz="1400" dirty="0"/>
              <a:t>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统一 </a:t>
            </a:r>
            <a:r>
              <a:rPr lang="en-US" altLang="zh-CN" sz="1400" dirty="0"/>
              <a:t>patient-level split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使用 </a:t>
            </a:r>
            <a:r>
              <a:rPr lang="en-US" altLang="zh-CN" sz="1400" dirty="0"/>
              <a:t>I3</a:t>
            </a:r>
            <a:r>
              <a:rPr lang="zh-CN" altLang="en-US" sz="1400" dirty="0"/>
              <a:t>（多任务交集）保证可比性</a:t>
            </a:r>
            <a:endParaRPr lang="en-US" altLang="zh-CN" sz="1400" dirty="0"/>
          </a:p>
        </p:txBody>
      </p:sp>
      <p:sp>
        <p:nvSpPr>
          <p:cNvPr id="2" name="矩形: 单圆角 1"/>
          <p:cNvSpPr/>
          <p:nvPr/>
        </p:nvSpPr>
        <p:spPr>
          <a:xfrm>
            <a:off x="2704184" y="3585590"/>
            <a:ext cx="3667533" cy="345444"/>
          </a:xfrm>
          <a:prstGeom prst="round1Rect">
            <a:avLst>
              <a:gd name="adj" fmla="val 4725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2696622" y="3585590"/>
            <a:ext cx="7562" cy="166237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2671661" y="5243097"/>
            <a:ext cx="68810" cy="6375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777596" y="3536647"/>
            <a:ext cx="1520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spc="100" dirty="0">
                <a:solidFill>
                  <a:schemeClr val="bg1"/>
                </a:solidFill>
                <a:latin typeface="+mj-ea"/>
              </a:rPr>
              <a:t>任务设计</a:t>
            </a:r>
          </a:p>
        </p:txBody>
      </p:sp>
      <p:sp>
        <p:nvSpPr>
          <p:cNvPr id="12" name="矩形: 单圆角 11"/>
          <p:cNvSpPr/>
          <p:nvPr/>
        </p:nvSpPr>
        <p:spPr>
          <a:xfrm>
            <a:off x="6971666" y="1538029"/>
            <a:ext cx="3667533" cy="345444"/>
          </a:xfrm>
          <a:prstGeom prst="round1Rect">
            <a:avLst>
              <a:gd name="adj" fmla="val 4725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6964104" y="1538029"/>
            <a:ext cx="7562" cy="166237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/>
          <p:cNvSpPr/>
          <p:nvPr/>
        </p:nvSpPr>
        <p:spPr>
          <a:xfrm>
            <a:off x="6939143" y="3195536"/>
            <a:ext cx="68810" cy="6375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8045078" y="1489086"/>
            <a:ext cx="1520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spc="100" dirty="0">
                <a:solidFill>
                  <a:schemeClr val="bg1"/>
                </a:solidFill>
                <a:latin typeface="+mj-ea"/>
              </a:rPr>
              <a:t>实验流程</a:t>
            </a:r>
          </a:p>
        </p:txBody>
      </p:sp>
      <p:sp>
        <p:nvSpPr>
          <p:cNvPr id="47" name="矩形: 单圆角 46"/>
          <p:cNvSpPr/>
          <p:nvPr/>
        </p:nvSpPr>
        <p:spPr>
          <a:xfrm>
            <a:off x="6971666" y="3585590"/>
            <a:ext cx="3667533" cy="345444"/>
          </a:xfrm>
          <a:prstGeom prst="round1Rect">
            <a:avLst>
              <a:gd name="adj" fmla="val 4725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连接符 47"/>
          <p:cNvCxnSpPr/>
          <p:nvPr/>
        </p:nvCxnSpPr>
        <p:spPr>
          <a:xfrm>
            <a:off x="6964104" y="3585590"/>
            <a:ext cx="7562" cy="166237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椭圆 48"/>
          <p:cNvSpPr/>
          <p:nvPr/>
        </p:nvSpPr>
        <p:spPr>
          <a:xfrm>
            <a:off x="6939143" y="5243097"/>
            <a:ext cx="68810" cy="6375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8045078" y="3536647"/>
            <a:ext cx="1520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spc="100" dirty="0">
                <a:solidFill>
                  <a:schemeClr val="bg1"/>
                </a:solidFill>
                <a:latin typeface="+mj-ea"/>
              </a:rPr>
              <a:t>评估目标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/>
          <p:cNvSpPr/>
          <p:nvPr/>
        </p:nvSpPr>
        <p:spPr>
          <a:xfrm>
            <a:off x="228600" y="220132"/>
            <a:ext cx="11734800" cy="6417735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/>
          <p:cNvSpPr/>
          <p:nvPr/>
        </p:nvSpPr>
        <p:spPr>
          <a:xfrm>
            <a:off x="0" y="2100283"/>
            <a:ext cx="12192000" cy="2766950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文本框 161"/>
          <p:cNvSpPr txBox="1"/>
          <p:nvPr/>
        </p:nvSpPr>
        <p:spPr>
          <a:xfrm>
            <a:off x="4721266" y="3068260"/>
            <a:ext cx="27494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spc="200" dirty="0">
                <a:solidFill>
                  <a:schemeClr val="bg1"/>
                </a:solidFill>
                <a:latin typeface="+mj-ea"/>
                <a:ea typeface="+mj-ea"/>
              </a:rPr>
              <a:t>汇报结束</a:t>
            </a:r>
          </a:p>
        </p:txBody>
      </p:sp>
      <p:sp>
        <p:nvSpPr>
          <p:cNvPr id="170" name="图形 103"/>
          <p:cNvSpPr/>
          <p:nvPr/>
        </p:nvSpPr>
        <p:spPr>
          <a:xfrm>
            <a:off x="5217941" y="5093828"/>
            <a:ext cx="187958" cy="220553"/>
          </a:xfrm>
          <a:custGeom>
            <a:avLst/>
            <a:gdLst>
              <a:gd name="connsiteX0" fmla="*/ 57047 w 187958"/>
              <a:gd name="connsiteY0" fmla="*/ 123640 h 220553"/>
              <a:gd name="connsiteX1" fmla="*/ 26647 w 187958"/>
              <a:gd name="connsiteY1" fmla="*/ 67332 h 220553"/>
              <a:gd name="connsiteX2" fmla="*/ 93979 w 187958"/>
              <a:gd name="connsiteY2" fmla="*/ 0 h 220553"/>
              <a:gd name="connsiteX3" fmla="*/ 161311 w 187958"/>
              <a:gd name="connsiteY3" fmla="*/ 67332 h 220553"/>
              <a:gd name="connsiteX4" fmla="*/ 130911 w 187958"/>
              <a:gd name="connsiteY4" fmla="*/ 123640 h 220553"/>
              <a:gd name="connsiteX5" fmla="*/ 187958 w 187958"/>
              <a:gd name="connsiteY5" fmla="*/ 210085 h 220553"/>
              <a:gd name="connsiteX6" fmla="*/ 177490 w 187958"/>
              <a:gd name="connsiteY6" fmla="*/ 220554 h 220553"/>
              <a:gd name="connsiteX7" fmla="*/ 167021 w 187958"/>
              <a:gd name="connsiteY7" fmla="*/ 210085 h 220553"/>
              <a:gd name="connsiteX8" fmla="*/ 93979 w 187958"/>
              <a:gd name="connsiteY8" fmla="*/ 137043 h 220553"/>
              <a:gd name="connsiteX9" fmla="*/ 20937 w 187958"/>
              <a:gd name="connsiteY9" fmla="*/ 210085 h 220553"/>
              <a:gd name="connsiteX10" fmla="*/ 10469 w 187958"/>
              <a:gd name="connsiteY10" fmla="*/ 220554 h 220553"/>
              <a:gd name="connsiteX11" fmla="*/ 0 w 187958"/>
              <a:gd name="connsiteY11" fmla="*/ 210085 h 220553"/>
              <a:gd name="connsiteX12" fmla="*/ 57047 w 187958"/>
              <a:gd name="connsiteY12" fmla="*/ 123640 h 220553"/>
              <a:gd name="connsiteX13" fmla="*/ 93979 w 187958"/>
              <a:gd name="connsiteY13" fmla="*/ 113727 h 220553"/>
              <a:gd name="connsiteX14" fmla="*/ 140374 w 187958"/>
              <a:gd name="connsiteY14" fmla="*/ 67332 h 220553"/>
              <a:gd name="connsiteX15" fmla="*/ 93979 w 187958"/>
              <a:gd name="connsiteY15" fmla="*/ 20937 h 220553"/>
              <a:gd name="connsiteX16" fmla="*/ 47584 w 187958"/>
              <a:gd name="connsiteY16" fmla="*/ 67332 h 220553"/>
              <a:gd name="connsiteX17" fmla="*/ 93979 w 187958"/>
              <a:gd name="connsiteY17" fmla="*/ 113727 h 220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7958" h="220553">
                <a:moveTo>
                  <a:pt x="57047" y="123640"/>
                </a:moveTo>
                <a:cubicBezTo>
                  <a:pt x="38737" y="111606"/>
                  <a:pt x="26647" y="90881"/>
                  <a:pt x="26647" y="67332"/>
                </a:cubicBezTo>
                <a:cubicBezTo>
                  <a:pt x="26647" y="30145"/>
                  <a:pt x="56793" y="0"/>
                  <a:pt x="93979" y="0"/>
                </a:cubicBezTo>
                <a:cubicBezTo>
                  <a:pt x="131166" y="0"/>
                  <a:pt x="161311" y="30145"/>
                  <a:pt x="161311" y="67332"/>
                </a:cubicBezTo>
                <a:cubicBezTo>
                  <a:pt x="161311" y="90881"/>
                  <a:pt x="149222" y="111606"/>
                  <a:pt x="130911" y="123640"/>
                </a:cubicBezTo>
                <a:cubicBezTo>
                  <a:pt x="164455" y="137990"/>
                  <a:pt x="187958" y="171293"/>
                  <a:pt x="187958" y="210085"/>
                </a:cubicBezTo>
                <a:cubicBezTo>
                  <a:pt x="187958" y="215867"/>
                  <a:pt x="183271" y="220554"/>
                  <a:pt x="177490" y="220554"/>
                </a:cubicBezTo>
                <a:cubicBezTo>
                  <a:pt x="171708" y="220554"/>
                  <a:pt x="167021" y="215867"/>
                  <a:pt x="167021" y="210085"/>
                </a:cubicBezTo>
                <a:cubicBezTo>
                  <a:pt x="167021" y="169745"/>
                  <a:pt x="134319" y="137043"/>
                  <a:pt x="93979" y="137043"/>
                </a:cubicBezTo>
                <a:cubicBezTo>
                  <a:pt x="53639" y="137043"/>
                  <a:pt x="20937" y="169745"/>
                  <a:pt x="20937" y="210085"/>
                </a:cubicBezTo>
                <a:cubicBezTo>
                  <a:pt x="20937" y="215867"/>
                  <a:pt x="16250" y="220554"/>
                  <a:pt x="10469" y="220554"/>
                </a:cubicBezTo>
                <a:cubicBezTo>
                  <a:pt x="4687" y="220554"/>
                  <a:pt x="0" y="215867"/>
                  <a:pt x="0" y="210085"/>
                </a:cubicBezTo>
                <a:cubicBezTo>
                  <a:pt x="0" y="171293"/>
                  <a:pt x="23504" y="137990"/>
                  <a:pt x="57047" y="123640"/>
                </a:cubicBezTo>
                <a:close/>
                <a:moveTo>
                  <a:pt x="93979" y="113727"/>
                </a:moveTo>
                <a:cubicBezTo>
                  <a:pt x="119602" y="113727"/>
                  <a:pt x="140374" y="92955"/>
                  <a:pt x="140374" y="67332"/>
                </a:cubicBezTo>
                <a:cubicBezTo>
                  <a:pt x="140374" y="41709"/>
                  <a:pt x="119602" y="20937"/>
                  <a:pt x="93979" y="20937"/>
                </a:cubicBezTo>
                <a:cubicBezTo>
                  <a:pt x="68356" y="20937"/>
                  <a:pt x="47584" y="41709"/>
                  <a:pt x="47584" y="67332"/>
                </a:cubicBezTo>
                <a:cubicBezTo>
                  <a:pt x="47584" y="92955"/>
                  <a:pt x="68356" y="113727"/>
                  <a:pt x="93979" y="113727"/>
                </a:cubicBezTo>
                <a:close/>
              </a:path>
            </a:pathLst>
          </a:custGeom>
          <a:solidFill>
            <a:schemeClr val="accent1"/>
          </a:solidFill>
          <a:ln w="23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1" name="文本框 170"/>
          <p:cNvSpPr txBox="1"/>
          <p:nvPr/>
        </p:nvSpPr>
        <p:spPr>
          <a:xfrm>
            <a:off x="5426685" y="5035571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汇报人：董泰伦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0358267716535,&quot;left&quot;:505.3692125984252,&quot;top&quot;:111.98212598425195,&quot;width&quot;:253.02598425196848}"/>
</p:tagLst>
</file>

<file path=ppt/theme/theme1.xml><?xml version="1.0" encoding="utf-8"?>
<a:theme xmlns:a="http://schemas.openxmlformats.org/drawingml/2006/main" name="Office 主题​​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967</Words>
  <Application>Microsoft Office PowerPoint</Application>
  <PresentationFormat>宽屏</PresentationFormat>
  <Paragraphs>188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微软雅黑</vt:lpstr>
      <vt:lpstr>微软雅黑 Light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香 草</dc:creator>
  <cp:lastModifiedBy>KRT yok</cp:lastModifiedBy>
  <cp:revision>942</cp:revision>
  <dcterms:created xsi:type="dcterms:W3CDTF">2025-01-21T09:40:00Z</dcterms:created>
  <dcterms:modified xsi:type="dcterms:W3CDTF">2026-04-29T09:55:52Z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C6FC8586441F472A82B45EE507A4A37E_13</vt:lpwstr>
  </property>
  <property fmtid="{D5CDD505-2E9C-101B-9397-08002B2CF9AE}" pid="3" name="KSOProductBuildVer">
    <vt:lpwstr>2052-12.8.2.18913</vt:lpwstr>
  </property>
</Properties>
</file>